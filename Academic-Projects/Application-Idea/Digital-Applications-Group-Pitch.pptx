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8288000" cy="10287000"/>
  <p:notesSz cx="6858000" cy="9144000"/>
  <p:embeddedFontLst>
    <p:embeddedFont>
      <p:font typeface="Agrandir Grand Bold" panose="020B0604020202020204" charset="0"/>
      <p:regular r:id="rId34"/>
    </p:embeddedFont>
    <p:embeddedFont>
      <p:font typeface="Arimo" panose="020B0604020202020204" charset="0"/>
      <p:regular r:id="rId35"/>
    </p:embeddedFont>
    <p:embeddedFont>
      <p:font typeface="Arimo Bold" panose="020B0604020202020204" charset="0"/>
      <p:regular r:id="rId36"/>
    </p:embeddedFont>
    <p:embeddedFont>
      <p:font typeface="Bungee" panose="020B0604020202020204" charset="0"/>
      <p:regular r:id="rId37"/>
    </p:embeddedFont>
    <p:embeddedFont>
      <p:font typeface="DM Sans Bold" panose="020B0604020202020204" charset="0"/>
      <p:regular r:id="rId38"/>
    </p:embeddedFont>
    <p:embeddedFont>
      <p:font typeface="Futura Bold" panose="020B0604020202020204" charset="0"/>
      <p:regular r:id="rId39"/>
    </p:embeddedFont>
    <p:embeddedFont>
      <p:font typeface="Futura Ultra-Bold" panose="020B0604020202020204" charset="0"/>
      <p:regular r:id="rId40"/>
    </p:embeddedFont>
    <p:embeddedFont>
      <p:font typeface="Garet" panose="020B0604020202020204" charset="0"/>
      <p:regular r:id="rId41"/>
    </p:embeddedFont>
    <p:embeddedFont>
      <p:font typeface="Genty" panose="020B0604020202020204" charset="0"/>
      <p:regular r:id="rId42"/>
    </p:embeddedFont>
    <p:embeddedFont>
      <p:font typeface="Genty Sans" panose="020B0604020202020204" charset="0"/>
      <p:regular r:id="rId43"/>
    </p:embeddedFont>
    <p:embeddedFont>
      <p:font typeface="Montserrat" panose="020F0502020204030204" pitchFamily="2" charset="0"/>
      <p:regular r:id="rId44"/>
    </p:embeddedFont>
    <p:embeddedFont>
      <p:font typeface="Montserrat Bold" panose="020B0604020202020204" charset="0"/>
      <p:regular r:id="rId45"/>
    </p:embeddedFont>
    <p:embeddedFont>
      <p:font typeface="Montserrat Medium" panose="020F0502020204030204" pitchFamily="2" charset="0"/>
      <p:regular r:id="rId46"/>
    </p:embeddedFont>
    <p:embeddedFont>
      <p:font typeface="Noto Sans" panose="020B0502040204020203" pitchFamily="34" charset="0"/>
      <p:regular r:id="rId47"/>
    </p:embeddedFont>
    <p:embeddedFont>
      <p:font typeface="Noto Sans Bold" panose="020B0604020202020204" charset="0"/>
      <p:regular r:id="rId48"/>
    </p:embeddedFont>
    <p:embeddedFont>
      <p:font typeface="Open Sans 1 Light" panose="020B0604020202020204" charset="0"/>
      <p:regular r:id="rId49"/>
    </p:embeddedFont>
    <p:embeddedFont>
      <p:font typeface="Open Sans 2 Ultra-Bold" panose="020B0604020202020204" charset="0"/>
      <p:regular r:id="rId50"/>
    </p:embeddedFont>
    <p:embeddedFont>
      <p:font typeface="Open Sauce" panose="020B0604020202020204" charset="0"/>
      <p:regular r:id="rId51"/>
    </p:embeddedFont>
    <p:embeddedFont>
      <p:font typeface="Open Sauce Bold" panose="020B0604020202020204" charset="0"/>
      <p:regular r:id="rId52"/>
    </p:embeddedFont>
    <p:embeddedFont>
      <p:font typeface="Open Sauce Heavy" panose="020B0604020202020204" charset="0"/>
      <p:regular r:id="rId53"/>
    </p:embeddedFont>
    <p:embeddedFont>
      <p:font typeface="Roboto" panose="020F0502020204030204" pitchFamily="2" charset="0"/>
      <p:regular r:id="rId54"/>
    </p:embeddedFont>
    <p:embeddedFont>
      <p:font typeface="Roboto Bold" panose="020B0604020202020204" charset="0"/>
      <p:regular r:id="rId55"/>
    </p:embeddedFont>
    <p:embeddedFont>
      <p:font typeface="Saira ExtraCondensed Ultra-Bold" panose="020B0604020202020204" charset="0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8" Type="http://schemas.openxmlformats.org/officeDocument/2006/relationships/slide" Target="slides/slide4.xml"/><Relationship Id="rId51" Type="http://schemas.openxmlformats.org/officeDocument/2006/relationships/font" Target="fonts/font1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m Mwatama Banda 2025 (T0453311)" userId="9276ff38-4de6-4a9c-abdb-72c63318aa5c" providerId="ADAL" clId="{F1F7A000-242B-4A37-BDC9-D3218CB6E50D}"/>
    <pc:docChg chg="sldOrd">
      <pc:chgData name="Liam Mwatama Banda 2025 (T0453311)" userId="9276ff38-4de6-4a9c-abdb-72c63318aa5c" providerId="ADAL" clId="{F1F7A000-242B-4A37-BDC9-D3218CB6E50D}" dt="2026-10-14T12:12:31.301" v="0" actId="20578"/>
      <pc:docMkLst>
        <pc:docMk/>
      </pc:docMkLst>
      <pc:sldChg chg="ord">
        <pc:chgData name="Liam Mwatama Banda 2025 (T0453311)" userId="9276ff38-4de6-4a9c-abdb-72c63318aa5c" providerId="ADAL" clId="{F1F7A000-242B-4A37-BDC9-D3218CB6E50D}" dt="2026-10-14T12:12:31.301" v="0" actId="20578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LingoLedger helps international students handle daily challenges in one place.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International students often struggle with daily life in a new country.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number that has tripled since 2000.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Duolingo</a:t>
            </a:r>
          </a:p>
          <a:p>
            <a:endParaRPr lang="en-US"/>
          </a:p>
          <a:p>
            <a:r>
              <a:rPr lang="en-US"/>
              <a:t>• Popular language learning app</a:t>
            </a:r>
          </a:p>
          <a:p>
            <a:r>
              <a:rPr lang="en-US"/>
              <a:t>• Gamified lessons and daily practice</a:t>
            </a:r>
          </a:p>
          <a:p>
            <a:r>
              <a:rPr lang="en-US"/>
              <a:t>• Helps users learn new languages quickly</a:t>
            </a:r>
          </a:p>
          <a:p>
            <a:endParaRPr lang="en-US"/>
          </a:p>
          <a:p>
            <a:r>
              <a:rPr lang="en-US"/>
              <a:t>❌ Does not include budgeting tools</a:t>
            </a:r>
          </a:p>
          <a:p>
            <a:r>
              <a:rPr lang="en-US"/>
              <a:t>❌ No student deal discovery</a:t>
            </a:r>
          </a:p>
          <a:p>
            <a:endParaRPr lang="en-US"/>
          </a:p>
          <a:p>
            <a:r>
              <a:rPr lang="en-US"/>
              <a:t>• Expense tracking and cost sharing</a:t>
            </a:r>
          </a:p>
          <a:p>
            <a:r>
              <a:rPr lang="en-US"/>
              <a:t>• Helps users manage personal spending</a:t>
            </a:r>
          </a:p>
          <a:p>
            <a:r>
              <a:rPr lang="en-US"/>
              <a:t>• Useful for budgeting with friends</a:t>
            </a:r>
          </a:p>
          <a:p>
            <a:endParaRPr lang="en-US"/>
          </a:p>
          <a:p>
            <a:r>
              <a:rPr lang="en-US"/>
              <a:t>❌ No language learning support</a:t>
            </a:r>
          </a:p>
          <a:p>
            <a:r>
              <a:rPr lang="en-US"/>
              <a:t>❌ No student discount features</a:t>
            </a:r>
          </a:p>
          <a:p>
            <a:endParaRPr lang="en-US"/>
          </a:p>
          <a:p>
            <a:r>
              <a:rPr lang="en-US"/>
              <a:t>• Provides verified student discounts</a:t>
            </a:r>
          </a:p>
          <a:p>
            <a:r>
              <a:rPr lang="en-US"/>
              <a:t>• Access to deals from popular brands</a:t>
            </a:r>
          </a:p>
          <a:p>
            <a:r>
              <a:rPr lang="en-US"/>
              <a:t>• Helps students save money</a:t>
            </a:r>
          </a:p>
          <a:p>
            <a:endParaRPr lang="en-US"/>
          </a:p>
          <a:p>
            <a:r>
              <a:rPr lang="en-US"/>
              <a:t>❌ No budgeting tools</a:t>
            </a:r>
          </a:p>
          <a:p>
            <a:r>
              <a:rPr lang="en-US"/>
              <a:t>❌ No language learning support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“While competitors solve individual problems, LingoLedger brings these solutions together in one platform tailored for international students.”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12" Type="http://schemas.openxmlformats.org/officeDocument/2006/relationships/image" Target="../media/image59.svg"/><Relationship Id="rId2" Type="http://schemas.openxmlformats.org/officeDocument/2006/relationships/image" Target="../media/image49.svg"/><Relationship Id="rId16" Type="http://schemas.openxmlformats.org/officeDocument/2006/relationships/image" Target="../media/image6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svg"/><Relationship Id="rId14" Type="http://schemas.openxmlformats.org/officeDocument/2006/relationships/image" Target="../media/image6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8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svg"/><Relationship Id="rId4" Type="http://schemas.openxmlformats.org/officeDocument/2006/relationships/image" Target="../media/image85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13" Type="http://schemas.openxmlformats.org/officeDocument/2006/relationships/image" Target="../media/image101.svg"/><Relationship Id="rId3" Type="http://schemas.openxmlformats.org/officeDocument/2006/relationships/image" Target="../media/image91.jpeg"/><Relationship Id="rId7" Type="http://schemas.openxmlformats.org/officeDocument/2006/relationships/image" Target="../media/image95.svg"/><Relationship Id="rId12" Type="http://schemas.openxmlformats.org/officeDocument/2006/relationships/image" Target="../media/image100.svg"/><Relationship Id="rId2" Type="http://schemas.openxmlformats.org/officeDocument/2006/relationships/image" Target="../media/image90.svg"/><Relationship Id="rId16" Type="http://schemas.openxmlformats.org/officeDocument/2006/relationships/image" Target="../media/image10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svg"/><Relationship Id="rId11" Type="http://schemas.openxmlformats.org/officeDocument/2006/relationships/image" Target="../media/image99.svg"/><Relationship Id="rId5" Type="http://schemas.openxmlformats.org/officeDocument/2006/relationships/image" Target="../media/image93.jpeg"/><Relationship Id="rId15" Type="http://schemas.openxmlformats.org/officeDocument/2006/relationships/image" Target="../media/image103.svg"/><Relationship Id="rId10" Type="http://schemas.openxmlformats.org/officeDocument/2006/relationships/image" Target="../media/image98.jpeg"/><Relationship Id="rId4" Type="http://schemas.openxmlformats.org/officeDocument/2006/relationships/image" Target="../media/image92.jpeg"/><Relationship Id="rId9" Type="http://schemas.openxmlformats.org/officeDocument/2006/relationships/image" Target="../media/image97.svg"/><Relationship Id="rId14" Type="http://schemas.openxmlformats.org/officeDocument/2006/relationships/image" Target="../media/image10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8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7.svg"/><Relationship Id="rId5" Type="http://schemas.openxmlformats.org/officeDocument/2006/relationships/image" Target="../media/image106.svg"/><Relationship Id="rId10" Type="http://schemas.openxmlformats.org/officeDocument/2006/relationships/image" Target="../media/image111.jpeg"/><Relationship Id="rId4" Type="http://schemas.openxmlformats.org/officeDocument/2006/relationships/image" Target="../media/image105.svg"/><Relationship Id="rId9" Type="http://schemas.openxmlformats.org/officeDocument/2006/relationships/image" Target="../media/image1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112.jpeg"/><Relationship Id="rId7" Type="http://schemas.openxmlformats.org/officeDocument/2006/relationships/image" Target="../media/image95.svg"/><Relationship Id="rId12" Type="http://schemas.openxmlformats.org/officeDocument/2006/relationships/image" Target="../media/image104.svg"/><Relationship Id="rId2" Type="http://schemas.openxmlformats.org/officeDocument/2006/relationships/image" Target="../media/image9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svg"/><Relationship Id="rId11" Type="http://schemas.openxmlformats.org/officeDocument/2006/relationships/image" Target="../media/image99.svg"/><Relationship Id="rId5" Type="http://schemas.openxmlformats.org/officeDocument/2006/relationships/image" Target="../media/image114.jpeg"/><Relationship Id="rId10" Type="http://schemas.openxmlformats.org/officeDocument/2006/relationships/image" Target="../media/image115.jpeg"/><Relationship Id="rId4" Type="http://schemas.openxmlformats.org/officeDocument/2006/relationships/image" Target="../media/image113.jpeg"/><Relationship Id="rId9" Type="http://schemas.openxmlformats.org/officeDocument/2006/relationships/image" Target="../media/image9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svg"/><Relationship Id="rId2" Type="http://schemas.openxmlformats.org/officeDocument/2006/relationships/image" Target="../media/image11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9.png"/><Relationship Id="rId4" Type="http://schemas.openxmlformats.org/officeDocument/2006/relationships/image" Target="../media/image118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852920"/>
            <a:ext cx="401633" cy="401633"/>
          </a:xfrm>
          <a:custGeom>
            <a:avLst/>
            <a:gdLst/>
            <a:ahLst/>
            <a:cxnLst/>
            <a:rect l="l" t="t" r="r" b="b"/>
            <a:pathLst>
              <a:path w="401633" h="401633">
                <a:moveTo>
                  <a:pt x="0" y="0"/>
                </a:moveTo>
                <a:lnTo>
                  <a:pt x="401633" y="0"/>
                </a:lnTo>
                <a:lnTo>
                  <a:pt x="401633" y="401634"/>
                </a:lnTo>
                <a:lnTo>
                  <a:pt x="0" y="401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028700" y="8365111"/>
            <a:ext cx="401633" cy="401633"/>
          </a:xfrm>
          <a:custGeom>
            <a:avLst/>
            <a:gdLst/>
            <a:ahLst/>
            <a:cxnLst/>
            <a:rect l="l" t="t" r="r" b="b"/>
            <a:pathLst>
              <a:path w="401633" h="401633">
                <a:moveTo>
                  <a:pt x="0" y="0"/>
                </a:moveTo>
                <a:lnTo>
                  <a:pt x="401633" y="0"/>
                </a:lnTo>
                <a:lnTo>
                  <a:pt x="401633" y="401633"/>
                </a:lnTo>
                <a:lnTo>
                  <a:pt x="0" y="401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103002" y="6852920"/>
            <a:ext cx="327331" cy="401633"/>
          </a:xfrm>
          <a:custGeom>
            <a:avLst/>
            <a:gdLst/>
            <a:ahLst/>
            <a:cxnLst/>
            <a:rect l="l" t="t" r="r" b="b"/>
            <a:pathLst>
              <a:path w="327331" h="401633">
                <a:moveTo>
                  <a:pt x="0" y="0"/>
                </a:moveTo>
                <a:lnTo>
                  <a:pt x="327331" y="0"/>
                </a:lnTo>
                <a:lnTo>
                  <a:pt x="327331" y="401634"/>
                </a:lnTo>
                <a:lnTo>
                  <a:pt x="0" y="401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103002" y="8365111"/>
            <a:ext cx="327331" cy="401633"/>
          </a:xfrm>
          <a:custGeom>
            <a:avLst/>
            <a:gdLst/>
            <a:ahLst/>
            <a:cxnLst/>
            <a:rect l="l" t="t" r="r" b="b"/>
            <a:pathLst>
              <a:path w="327331" h="401633">
                <a:moveTo>
                  <a:pt x="0" y="0"/>
                </a:moveTo>
                <a:lnTo>
                  <a:pt x="327331" y="0"/>
                </a:lnTo>
                <a:lnTo>
                  <a:pt x="327331" y="401633"/>
                </a:lnTo>
                <a:lnTo>
                  <a:pt x="0" y="401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87302" y="875059"/>
          <a:ext cx="10383349" cy="5625593"/>
        </p:xfrm>
        <a:graphic>
          <a:graphicData uri="http://schemas.openxmlformats.org/drawingml/2006/table">
            <a:tbl>
              <a:tblPr/>
              <a:tblGrid>
                <a:gridCol w="405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3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49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Module 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FC315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242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987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Module Title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Intermediate Digital Applications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987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Assessment Type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Smartphone App Pitch &amp; Product Development Journal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7507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Student ID Number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T0502402, T0491906, T0501429,T0453311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0371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Date of Submission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 April, 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689324" y="6795770"/>
            <a:ext cx="16230600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We confirm that this assignment is our own work. Where we have referred to academic sources we have provided in text citations. 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Where we have used AI, we have cited and referenced appropriately.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49440">
            <a:off x="7824888" y="-7482950"/>
            <a:ext cx="15501025" cy="13059614"/>
          </a:xfrm>
          <a:custGeom>
            <a:avLst/>
            <a:gdLst/>
            <a:ahLst/>
            <a:cxnLst/>
            <a:rect l="l" t="t" r="r" b="b"/>
            <a:pathLst>
              <a:path w="15501025" h="13059614">
                <a:moveTo>
                  <a:pt x="0" y="0"/>
                </a:moveTo>
                <a:lnTo>
                  <a:pt x="15501025" y="0"/>
                </a:lnTo>
                <a:lnTo>
                  <a:pt x="15501025" y="13059613"/>
                </a:lnTo>
                <a:lnTo>
                  <a:pt x="0" y="13059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01433" y="3663731"/>
            <a:ext cx="15073967" cy="9873449"/>
          </a:xfrm>
          <a:custGeom>
            <a:avLst/>
            <a:gdLst/>
            <a:ahLst/>
            <a:cxnLst/>
            <a:rect l="l" t="t" r="r" b="b"/>
            <a:pathLst>
              <a:path w="15073967" h="9873449">
                <a:moveTo>
                  <a:pt x="0" y="0"/>
                </a:moveTo>
                <a:lnTo>
                  <a:pt x="15073967" y="0"/>
                </a:lnTo>
                <a:lnTo>
                  <a:pt x="15073967" y="9873448"/>
                </a:lnTo>
                <a:lnTo>
                  <a:pt x="0" y="9873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9221" y="0"/>
            <a:ext cx="8597287" cy="10287000"/>
          </a:xfrm>
          <a:custGeom>
            <a:avLst/>
            <a:gdLst/>
            <a:ahLst/>
            <a:cxnLst/>
            <a:rect l="l" t="t" r="r" b="b"/>
            <a:pathLst>
              <a:path w="8597287" h="10287000">
                <a:moveTo>
                  <a:pt x="0" y="0"/>
                </a:moveTo>
                <a:lnTo>
                  <a:pt x="8597287" y="0"/>
                </a:lnTo>
                <a:lnTo>
                  <a:pt x="85972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091" b="-865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28700" y="751439"/>
            <a:ext cx="554522" cy="554522"/>
          </a:xfrm>
          <a:custGeom>
            <a:avLst/>
            <a:gdLst/>
            <a:ahLst/>
            <a:cxnLst/>
            <a:rect l="l" t="t" r="r" b="b"/>
            <a:pathLst>
              <a:path w="554522" h="554522">
                <a:moveTo>
                  <a:pt x="0" y="0"/>
                </a:moveTo>
                <a:lnTo>
                  <a:pt x="554522" y="0"/>
                </a:lnTo>
                <a:lnTo>
                  <a:pt x="554522" y="554522"/>
                </a:lnTo>
                <a:lnTo>
                  <a:pt x="0" y="554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0800592" y="1881546"/>
            <a:ext cx="6079109" cy="607910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2400" y="1143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802502" y="1623838"/>
            <a:ext cx="9891784" cy="6594523"/>
          </a:xfrm>
          <a:custGeom>
            <a:avLst/>
            <a:gdLst/>
            <a:ahLst/>
            <a:cxnLst/>
            <a:rect l="l" t="t" r="r" b="b"/>
            <a:pathLst>
              <a:path w="9891784" h="6594523">
                <a:moveTo>
                  <a:pt x="0" y="0"/>
                </a:moveTo>
                <a:lnTo>
                  <a:pt x="9891783" y="0"/>
                </a:lnTo>
                <a:lnTo>
                  <a:pt x="9891783" y="6594523"/>
                </a:lnTo>
                <a:lnTo>
                  <a:pt x="0" y="6594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028700" y="4993005"/>
            <a:ext cx="7009717" cy="124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 spc="-539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Introducing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4196" y="6196981"/>
            <a:ext cx="7587808" cy="240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 spc="-539">
                <a:gradFill>
                  <a:gsLst>
                    <a:gs pos="0">
                      <a:srgbClr val="20B66F">
                        <a:alpha val="100000"/>
                      </a:srgbClr>
                    </a:gs>
                    <a:gs pos="100000">
                      <a:srgbClr val="181818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LingoLedger App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4202" y="811530"/>
            <a:ext cx="243454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1818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LingoLedger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730604"/>
            <a:ext cx="1909015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1818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991601"/>
            <a:ext cx="1909015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Chau, Liam, Melvin, Andy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308831">
            <a:off x="-6356952" y="-7138887"/>
            <a:ext cx="16380533" cy="10729249"/>
          </a:xfrm>
          <a:custGeom>
            <a:avLst/>
            <a:gdLst/>
            <a:ahLst/>
            <a:cxnLst/>
            <a:rect l="l" t="t" r="r" b="b"/>
            <a:pathLst>
              <a:path w="16380533" h="10729249">
                <a:moveTo>
                  <a:pt x="0" y="0"/>
                </a:moveTo>
                <a:lnTo>
                  <a:pt x="16380532" y="0"/>
                </a:lnTo>
                <a:lnTo>
                  <a:pt x="16380532" y="10729248"/>
                </a:lnTo>
                <a:lnTo>
                  <a:pt x="0" y="10729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535430" y="1028700"/>
            <a:ext cx="8442244" cy="8229600"/>
            <a:chOff x="0" y="0"/>
            <a:chExt cx="1643922" cy="16025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3922" cy="1602515"/>
            </a:xfrm>
            <a:custGeom>
              <a:avLst/>
              <a:gdLst/>
              <a:ahLst/>
              <a:cxnLst/>
              <a:rect l="l" t="t" r="r" b="b"/>
              <a:pathLst>
                <a:path w="1643922" h="1602515">
                  <a:moveTo>
                    <a:pt x="45852" y="0"/>
                  </a:moveTo>
                  <a:lnTo>
                    <a:pt x="1598070" y="0"/>
                  </a:lnTo>
                  <a:cubicBezTo>
                    <a:pt x="1623393" y="0"/>
                    <a:pt x="1643922" y="20529"/>
                    <a:pt x="1643922" y="45852"/>
                  </a:cubicBezTo>
                  <a:lnTo>
                    <a:pt x="1643922" y="1556662"/>
                  </a:lnTo>
                  <a:cubicBezTo>
                    <a:pt x="1643922" y="1568823"/>
                    <a:pt x="1639091" y="1580486"/>
                    <a:pt x="1630492" y="1589085"/>
                  </a:cubicBezTo>
                  <a:cubicBezTo>
                    <a:pt x="1621893" y="1597684"/>
                    <a:pt x="1610230" y="1602515"/>
                    <a:pt x="1598070" y="1602515"/>
                  </a:cubicBezTo>
                  <a:lnTo>
                    <a:pt x="45852" y="1602515"/>
                  </a:lnTo>
                  <a:cubicBezTo>
                    <a:pt x="20529" y="1602515"/>
                    <a:pt x="0" y="1581986"/>
                    <a:pt x="0" y="1556662"/>
                  </a:cubicBezTo>
                  <a:lnTo>
                    <a:pt x="0" y="45852"/>
                  </a:lnTo>
                  <a:cubicBezTo>
                    <a:pt x="0" y="20529"/>
                    <a:pt x="20529" y="0"/>
                    <a:pt x="45852" y="0"/>
                  </a:cubicBezTo>
                  <a:close/>
                </a:path>
              </a:pathLst>
            </a:custGeom>
            <a:blipFill>
              <a:blip r:embed="rId3"/>
              <a:stretch>
                <a:fillRect l="-23156" r="-23156"/>
              </a:stretch>
            </a:blipFill>
            <a:ln w="19050" cap="rnd">
              <a:gradFill>
                <a:gsLst>
                  <a:gs pos="0">
                    <a:srgbClr val="1F4C37">
                      <a:alpha val="100000"/>
                    </a:srgbClr>
                  </a:gs>
                  <a:gs pos="100000">
                    <a:srgbClr val="20B66F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515367" y="2782934"/>
            <a:ext cx="5237203" cy="124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 spc="-5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15367" y="4104277"/>
            <a:ext cx="5237203" cy="124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 spc="-539">
                <a:solidFill>
                  <a:srgbClr val="7AD08F"/>
                </a:solidFill>
                <a:latin typeface="Montserrat"/>
                <a:ea typeface="Montserrat"/>
                <a:cs typeface="Montserrat"/>
                <a:sym typeface="Montserrat"/>
              </a:rPr>
              <a:t>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15367" y="5361653"/>
            <a:ext cx="5743933" cy="275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International students often struggle to manage daily life in a new country.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They face language barriers in real-life situations, have difficulty controlling their spending, and often do not know where to find reliable student discounts.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 existing apps solve these problems separately - one app for language learning, another for budgeting, and another for student deals.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515367" y="7981027"/>
            <a:ext cx="5237203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result? Confusion, wasted time, missed savings, and unnecessary stress.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0B66F">
                <a:alpha val="100000"/>
              </a:srgbClr>
            </a:gs>
            <a:gs pos="100000">
              <a:srgbClr val="1F4C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7660" y="6812301"/>
            <a:ext cx="1935606" cy="193560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00" r="-2500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43409" y="471676"/>
            <a:ext cx="3126851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 spc="-35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LINGOLEDGER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6609" y="2157948"/>
            <a:ext cx="17180792" cy="3772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42"/>
              </a:lnSpc>
            </a:pPr>
            <a:r>
              <a:rPr lang="en-US" sz="12123" b="1" spc="-606">
                <a:solidFill>
                  <a:srgbClr val="E3FFF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“ YOUR LIFE ABROAD, SIMPLIFIED 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70260" y="7418042"/>
            <a:ext cx="4363593" cy="65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1"/>
              </a:lnSpc>
            </a:pPr>
            <a:r>
              <a:rPr lang="en-US" sz="3900" b="1" spc="-78">
                <a:solidFill>
                  <a:srgbClr val="FFDE5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SLOGAN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46890" y="7437092"/>
            <a:ext cx="6412410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r>
              <a:rPr lang="en-US" sz="2599" b="1" spc="-57">
                <a:solidFill>
                  <a:srgbClr val="FFDE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SIMPLE DIGITAL</a:t>
            </a:r>
            <a:r>
              <a:rPr lang="en-US" sz="2599" b="1" u="none" strike="noStrike" spc="-57">
                <a:solidFill>
                  <a:srgbClr val="FFDE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SOLUTION FOR INTERNATIONAL STUDENTS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543528" y="1028700"/>
            <a:ext cx="6529811" cy="12920353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31670" t="-14578" r="-144993" b="-120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5383137" y="-5112466"/>
            <a:ext cx="9261691" cy="8578641"/>
          </a:xfrm>
          <a:custGeom>
            <a:avLst/>
            <a:gdLst/>
            <a:ahLst/>
            <a:cxnLst/>
            <a:rect l="l" t="t" r="r" b="b"/>
            <a:pathLst>
              <a:path w="9261691" h="8578641">
                <a:moveTo>
                  <a:pt x="0" y="0"/>
                </a:moveTo>
                <a:lnTo>
                  <a:pt x="9261691" y="0"/>
                </a:lnTo>
                <a:lnTo>
                  <a:pt x="9261691" y="8578641"/>
                </a:lnTo>
                <a:lnTo>
                  <a:pt x="0" y="8578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579320" y="3951299"/>
            <a:ext cx="660664" cy="669875"/>
          </a:xfrm>
          <a:custGeom>
            <a:avLst/>
            <a:gdLst/>
            <a:ahLst/>
            <a:cxnLst/>
            <a:rect l="l" t="t" r="r" b="b"/>
            <a:pathLst>
              <a:path w="660664" h="669875">
                <a:moveTo>
                  <a:pt x="0" y="0"/>
                </a:moveTo>
                <a:lnTo>
                  <a:pt x="660664" y="0"/>
                </a:lnTo>
                <a:lnTo>
                  <a:pt x="660664" y="669874"/>
                </a:lnTo>
                <a:lnTo>
                  <a:pt x="0" y="669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0" y="9893254"/>
            <a:ext cx="18288000" cy="2468880"/>
          </a:xfrm>
          <a:custGeom>
            <a:avLst/>
            <a:gdLst/>
            <a:ahLst/>
            <a:cxnLst/>
            <a:rect l="l" t="t" r="r" b="b"/>
            <a:pathLst>
              <a:path w="18288000" h="2468880">
                <a:moveTo>
                  <a:pt x="0" y="0"/>
                </a:moveTo>
                <a:lnTo>
                  <a:pt x="18288000" y="0"/>
                </a:lnTo>
                <a:lnTo>
                  <a:pt x="18288000" y="2468880"/>
                </a:lnTo>
                <a:lnTo>
                  <a:pt x="0" y="2468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1427720" y="7357847"/>
            <a:ext cx="151600" cy="153361"/>
          </a:xfrm>
          <a:custGeom>
            <a:avLst/>
            <a:gdLst/>
            <a:ahLst/>
            <a:cxnLst/>
            <a:rect l="l" t="t" r="r" b="b"/>
            <a:pathLst>
              <a:path w="151600" h="153361">
                <a:moveTo>
                  <a:pt x="0" y="0"/>
                </a:moveTo>
                <a:lnTo>
                  <a:pt x="151600" y="0"/>
                </a:lnTo>
                <a:lnTo>
                  <a:pt x="151600" y="153361"/>
                </a:lnTo>
                <a:lnTo>
                  <a:pt x="0" y="153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347122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16"/>
          <p:cNvSpPr/>
          <p:nvPr/>
        </p:nvSpPr>
        <p:spPr>
          <a:xfrm>
            <a:off x="14484763" y="7357847"/>
            <a:ext cx="2048124" cy="2049773"/>
          </a:xfrm>
          <a:custGeom>
            <a:avLst/>
            <a:gdLst/>
            <a:ahLst/>
            <a:cxnLst/>
            <a:rect l="l" t="t" r="r" b="b"/>
            <a:pathLst>
              <a:path w="2048124" h="2049773">
                <a:moveTo>
                  <a:pt x="0" y="0"/>
                </a:moveTo>
                <a:lnTo>
                  <a:pt x="2048124" y="0"/>
                </a:lnTo>
                <a:lnTo>
                  <a:pt x="2048124" y="2049773"/>
                </a:lnTo>
                <a:lnTo>
                  <a:pt x="0" y="204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80151" b="-47830"/>
            </a:stretch>
          </a:blipFill>
          <a:ln w="19050" cap="sq">
            <a:gradFill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>
            <a:off x="7292705" y="3367753"/>
            <a:ext cx="2048124" cy="2049773"/>
          </a:xfrm>
          <a:custGeom>
            <a:avLst/>
            <a:gdLst/>
            <a:ahLst/>
            <a:cxnLst/>
            <a:rect l="l" t="t" r="r" b="b"/>
            <a:pathLst>
              <a:path w="2048124" h="2049773">
                <a:moveTo>
                  <a:pt x="0" y="0"/>
                </a:moveTo>
                <a:lnTo>
                  <a:pt x="2048124" y="0"/>
                </a:lnTo>
                <a:lnTo>
                  <a:pt x="2048124" y="2049773"/>
                </a:lnTo>
                <a:lnTo>
                  <a:pt x="0" y="204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80151" b="-47830"/>
            </a:stretch>
          </a:blipFill>
          <a:ln w="19050" cap="sq">
            <a:gradFill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14049277" y="624573"/>
            <a:ext cx="2048124" cy="2049773"/>
          </a:xfrm>
          <a:custGeom>
            <a:avLst/>
            <a:gdLst/>
            <a:ahLst/>
            <a:cxnLst/>
            <a:rect l="l" t="t" r="r" b="b"/>
            <a:pathLst>
              <a:path w="2048124" h="2049773">
                <a:moveTo>
                  <a:pt x="0" y="0"/>
                </a:moveTo>
                <a:lnTo>
                  <a:pt x="2048124" y="0"/>
                </a:lnTo>
                <a:lnTo>
                  <a:pt x="2048124" y="2049773"/>
                </a:lnTo>
                <a:lnTo>
                  <a:pt x="0" y="204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80151" b="-47830"/>
            </a:stretch>
          </a:blipFill>
          <a:ln w="19050" cap="sq">
            <a:gradFill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" name="Freeform 19"/>
          <p:cNvSpPr/>
          <p:nvPr/>
        </p:nvSpPr>
        <p:spPr>
          <a:xfrm>
            <a:off x="7886361" y="4052081"/>
            <a:ext cx="860812" cy="681118"/>
          </a:xfrm>
          <a:custGeom>
            <a:avLst/>
            <a:gdLst/>
            <a:ahLst/>
            <a:cxnLst/>
            <a:rect l="l" t="t" r="r" b="b"/>
            <a:pathLst>
              <a:path w="860812" h="681118">
                <a:moveTo>
                  <a:pt x="0" y="0"/>
                </a:moveTo>
                <a:lnTo>
                  <a:pt x="860812" y="0"/>
                </a:lnTo>
                <a:lnTo>
                  <a:pt x="860812" y="681117"/>
                </a:lnTo>
                <a:lnTo>
                  <a:pt x="0" y="681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14637853" y="1210129"/>
            <a:ext cx="870972" cy="878661"/>
          </a:xfrm>
          <a:custGeom>
            <a:avLst/>
            <a:gdLst/>
            <a:ahLst/>
            <a:cxnLst/>
            <a:rect l="l" t="t" r="r" b="b"/>
            <a:pathLst>
              <a:path w="870972" h="878661">
                <a:moveTo>
                  <a:pt x="0" y="0"/>
                </a:moveTo>
                <a:lnTo>
                  <a:pt x="870972" y="0"/>
                </a:lnTo>
                <a:lnTo>
                  <a:pt x="870972" y="878660"/>
                </a:lnTo>
                <a:lnTo>
                  <a:pt x="0" y="878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15075488" y="7704659"/>
            <a:ext cx="866673" cy="1161371"/>
          </a:xfrm>
          <a:custGeom>
            <a:avLst/>
            <a:gdLst/>
            <a:ahLst/>
            <a:cxnLst/>
            <a:rect l="l" t="t" r="r" b="b"/>
            <a:pathLst>
              <a:path w="866673" h="1161371">
                <a:moveTo>
                  <a:pt x="0" y="0"/>
                </a:moveTo>
                <a:lnTo>
                  <a:pt x="866673" y="0"/>
                </a:lnTo>
                <a:lnTo>
                  <a:pt x="866673" y="1161371"/>
                </a:lnTo>
                <a:lnTo>
                  <a:pt x="0" y="1161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TextBox 22"/>
          <p:cNvSpPr txBox="1"/>
          <p:nvPr/>
        </p:nvSpPr>
        <p:spPr>
          <a:xfrm>
            <a:off x="1427720" y="2517821"/>
            <a:ext cx="4522985" cy="124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 spc="-5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12804" y="3937648"/>
            <a:ext cx="4707082" cy="152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6"/>
              </a:lnSpc>
            </a:pPr>
            <a:r>
              <a:rPr lang="en-US" sz="6300" spc="-340">
                <a:solidFill>
                  <a:srgbClr val="165FD3"/>
                </a:solidFill>
                <a:latin typeface="Montserrat"/>
                <a:ea typeface="Montserrat"/>
                <a:cs typeface="Montserrat"/>
                <a:sym typeface="Montserrat"/>
              </a:rPr>
              <a:t>LingoLedger?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7720" y="5582239"/>
            <a:ext cx="5754171" cy="141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LingoLedger is a smart mobile app designed for international students living abroad.</a:t>
            </a:r>
          </a:p>
          <a:p>
            <a:pPr marL="0" lvl="0" indent="0" algn="l">
              <a:lnSpc>
                <a:spcPts val="2246"/>
              </a:lnSpc>
              <a:spcBef>
                <a:spcPct val="0"/>
              </a:spcBef>
            </a:pPr>
            <a:r>
              <a:rPr lang="en-US" sz="16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It helps users manage their budget, learn practical local language, and discover student deals - all in one place.</a:t>
            </a:r>
          </a:p>
          <a:p>
            <a:pPr marL="0" lvl="0" indent="0" algn="l">
              <a:lnSpc>
                <a:spcPts val="2246"/>
              </a:lnSpc>
              <a:spcBef>
                <a:spcPct val="0"/>
              </a:spcBef>
            </a:pPr>
            <a:endParaRPr lang="en-US" sz="1604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814146" y="7230064"/>
            <a:ext cx="4993663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designed for anyone who wants to work smarter, not harder.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34793" y="4524825"/>
            <a:ext cx="3805427" cy="5094870"/>
          </a:xfrm>
          <a:custGeom>
            <a:avLst/>
            <a:gdLst/>
            <a:ahLst/>
            <a:cxnLst/>
            <a:rect l="l" t="t" r="r" b="b"/>
            <a:pathLst>
              <a:path w="3805427" h="5094870">
                <a:moveTo>
                  <a:pt x="0" y="0"/>
                </a:moveTo>
                <a:lnTo>
                  <a:pt x="3805427" y="0"/>
                </a:lnTo>
                <a:lnTo>
                  <a:pt x="3805427" y="5094869"/>
                </a:lnTo>
                <a:lnTo>
                  <a:pt x="0" y="50948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43293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7238865" y="4524825"/>
            <a:ext cx="3795367" cy="5094870"/>
          </a:xfrm>
          <a:custGeom>
            <a:avLst/>
            <a:gdLst/>
            <a:ahLst/>
            <a:cxnLst/>
            <a:rect l="l" t="t" r="r" b="b"/>
            <a:pathLst>
              <a:path w="3795367" h="5094870">
                <a:moveTo>
                  <a:pt x="0" y="0"/>
                </a:moveTo>
                <a:lnTo>
                  <a:pt x="3795366" y="0"/>
                </a:lnTo>
                <a:lnTo>
                  <a:pt x="3795366" y="5094869"/>
                </a:lnTo>
                <a:lnTo>
                  <a:pt x="0" y="50948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254426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rot="488381">
            <a:off x="-2330035" y="-4285067"/>
            <a:ext cx="6695417" cy="8570133"/>
          </a:xfrm>
          <a:custGeom>
            <a:avLst/>
            <a:gdLst/>
            <a:ahLst/>
            <a:cxnLst/>
            <a:rect l="l" t="t" r="r" b="b"/>
            <a:pathLst>
              <a:path w="6695417" h="8570133">
                <a:moveTo>
                  <a:pt x="0" y="0"/>
                </a:moveTo>
                <a:lnTo>
                  <a:pt x="6695416" y="0"/>
                </a:lnTo>
                <a:lnTo>
                  <a:pt x="6695416" y="8570134"/>
                </a:lnTo>
                <a:lnTo>
                  <a:pt x="0" y="8570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8228432">
            <a:off x="13933293" y="-2214885"/>
            <a:ext cx="8189726" cy="8189726"/>
          </a:xfrm>
          <a:custGeom>
            <a:avLst/>
            <a:gdLst/>
            <a:ahLst/>
            <a:cxnLst/>
            <a:rect l="l" t="t" r="r" b="b"/>
            <a:pathLst>
              <a:path w="8189726" h="8189726">
                <a:moveTo>
                  <a:pt x="0" y="0"/>
                </a:moveTo>
                <a:lnTo>
                  <a:pt x="8189726" y="0"/>
                </a:lnTo>
                <a:lnTo>
                  <a:pt x="8189726" y="8189725"/>
                </a:lnTo>
                <a:lnTo>
                  <a:pt x="0" y="8189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1446061" y="4524825"/>
            <a:ext cx="3807146" cy="5251236"/>
          </a:xfrm>
          <a:custGeom>
            <a:avLst/>
            <a:gdLst/>
            <a:ahLst/>
            <a:cxnLst/>
            <a:rect l="l" t="t" r="r" b="b"/>
            <a:pathLst>
              <a:path w="3807146" h="5251236">
                <a:moveTo>
                  <a:pt x="0" y="0"/>
                </a:moveTo>
                <a:lnTo>
                  <a:pt x="3807146" y="0"/>
                </a:lnTo>
                <a:lnTo>
                  <a:pt x="3807146" y="5251236"/>
                </a:lnTo>
                <a:lnTo>
                  <a:pt x="0" y="5251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3034793" y="5143500"/>
            <a:ext cx="3807146" cy="4632561"/>
            <a:chOff x="0" y="0"/>
            <a:chExt cx="1002705" cy="12200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2705" cy="1220098"/>
            </a:xfrm>
            <a:custGeom>
              <a:avLst/>
              <a:gdLst/>
              <a:ahLst/>
              <a:cxnLst/>
              <a:rect l="l" t="t" r="r" b="b"/>
              <a:pathLst>
                <a:path w="1002705" h="1220098">
                  <a:moveTo>
                    <a:pt x="0" y="0"/>
                  </a:moveTo>
                  <a:lnTo>
                    <a:pt x="1002705" y="0"/>
                  </a:lnTo>
                  <a:lnTo>
                    <a:pt x="1002705" y="1220098"/>
                  </a:lnTo>
                  <a:lnTo>
                    <a:pt x="0" y="1220098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02705" cy="12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7238865" y="5143500"/>
            <a:ext cx="3807146" cy="4632561"/>
            <a:chOff x="0" y="0"/>
            <a:chExt cx="1002705" cy="1220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2705" cy="1220098"/>
            </a:xfrm>
            <a:custGeom>
              <a:avLst/>
              <a:gdLst/>
              <a:ahLst/>
              <a:cxnLst/>
              <a:rect l="l" t="t" r="r" b="b"/>
              <a:pathLst>
                <a:path w="1002705" h="1220098">
                  <a:moveTo>
                    <a:pt x="0" y="0"/>
                  </a:moveTo>
                  <a:lnTo>
                    <a:pt x="1002705" y="0"/>
                  </a:lnTo>
                  <a:lnTo>
                    <a:pt x="1002705" y="1220098"/>
                  </a:lnTo>
                  <a:lnTo>
                    <a:pt x="0" y="1220098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02705" cy="12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11446061" y="5143500"/>
            <a:ext cx="3807146" cy="4632561"/>
            <a:chOff x="0" y="0"/>
            <a:chExt cx="1002705" cy="12200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2705" cy="1220098"/>
            </a:xfrm>
            <a:custGeom>
              <a:avLst/>
              <a:gdLst/>
              <a:ahLst/>
              <a:cxnLst/>
              <a:rect l="l" t="t" r="r" b="b"/>
              <a:pathLst>
                <a:path w="1002705" h="1220098">
                  <a:moveTo>
                    <a:pt x="0" y="0"/>
                  </a:moveTo>
                  <a:lnTo>
                    <a:pt x="1002705" y="0"/>
                  </a:lnTo>
                  <a:lnTo>
                    <a:pt x="1002705" y="1220098"/>
                  </a:lnTo>
                  <a:lnTo>
                    <a:pt x="0" y="1220098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02705" cy="12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846425" y="4013614"/>
            <a:ext cx="1006419" cy="1022422"/>
          </a:xfrm>
          <a:custGeom>
            <a:avLst/>
            <a:gdLst/>
            <a:ahLst/>
            <a:cxnLst/>
            <a:rect l="l" t="t" r="r" b="b"/>
            <a:pathLst>
              <a:path w="1006419" h="1022422">
                <a:moveTo>
                  <a:pt x="0" y="0"/>
                </a:moveTo>
                <a:lnTo>
                  <a:pt x="1006418" y="0"/>
                </a:lnTo>
                <a:lnTo>
                  <a:pt x="1006418" y="1022422"/>
                </a:lnTo>
                <a:lnTo>
                  <a:pt x="0" y="102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62869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7" name="AutoShape 17"/>
          <p:cNvSpPr/>
          <p:nvPr/>
        </p:nvSpPr>
        <p:spPr>
          <a:xfrm>
            <a:off x="4938366" y="184560"/>
            <a:ext cx="0" cy="3991979"/>
          </a:xfrm>
          <a:prstGeom prst="line">
            <a:avLst/>
          </a:prstGeom>
          <a:ln w="38100" cap="flat">
            <a:gradFill>
              <a:gsLst>
                <a:gs pos="0">
                  <a:srgbClr val="181818">
                    <a:alpha val="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>
            <a:off x="9142438" y="184560"/>
            <a:ext cx="0" cy="3991979"/>
          </a:xfrm>
          <a:prstGeom prst="line">
            <a:avLst/>
          </a:prstGeom>
          <a:ln w="38100" cap="flat">
            <a:gradFill>
              <a:gsLst>
                <a:gs pos="0">
                  <a:srgbClr val="181818">
                    <a:alpha val="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>
            <a:off x="13344473" y="184560"/>
            <a:ext cx="0" cy="3991979"/>
          </a:xfrm>
          <a:prstGeom prst="line">
            <a:avLst/>
          </a:prstGeom>
          <a:ln w="38100" cap="flat">
            <a:gradFill>
              <a:gsLst>
                <a:gs pos="0">
                  <a:srgbClr val="181818">
                    <a:alpha val="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4434958" y="4013614"/>
            <a:ext cx="1005096" cy="1022422"/>
          </a:xfrm>
          <a:custGeom>
            <a:avLst/>
            <a:gdLst/>
            <a:ahLst/>
            <a:cxnLst/>
            <a:rect l="l" t="t" r="r" b="b"/>
            <a:pathLst>
              <a:path w="1005096" h="1022422">
                <a:moveTo>
                  <a:pt x="0" y="0"/>
                </a:moveTo>
                <a:lnTo>
                  <a:pt x="1005096" y="0"/>
                </a:lnTo>
                <a:lnTo>
                  <a:pt x="1005096" y="1022422"/>
                </a:lnTo>
                <a:lnTo>
                  <a:pt x="0" y="102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880470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8630162" y="4013614"/>
            <a:ext cx="1012772" cy="1022422"/>
          </a:xfrm>
          <a:custGeom>
            <a:avLst/>
            <a:gdLst/>
            <a:ahLst/>
            <a:cxnLst/>
            <a:rect l="l" t="t" r="r" b="b"/>
            <a:pathLst>
              <a:path w="1012772" h="1022422">
                <a:moveTo>
                  <a:pt x="0" y="0"/>
                </a:moveTo>
                <a:lnTo>
                  <a:pt x="1012772" y="0"/>
                </a:lnTo>
                <a:lnTo>
                  <a:pt x="1012772" y="1022422"/>
                </a:lnTo>
                <a:lnTo>
                  <a:pt x="0" y="102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97462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4759356" y="4243719"/>
            <a:ext cx="356301" cy="562211"/>
          </a:xfrm>
          <a:custGeom>
            <a:avLst/>
            <a:gdLst/>
            <a:ahLst/>
            <a:cxnLst/>
            <a:rect l="l" t="t" r="r" b="b"/>
            <a:pathLst>
              <a:path w="356301" h="562211">
                <a:moveTo>
                  <a:pt x="0" y="0"/>
                </a:moveTo>
                <a:lnTo>
                  <a:pt x="356301" y="0"/>
                </a:lnTo>
                <a:lnTo>
                  <a:pt x="356301" y="562211"/>
                </a:lnTo>
                <a:lnTo>
                  <a:pt x="0" y="562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" name="Freeform 23"/>
          <p:cNvSpPr/>
          <p:nvPr/>
        </p:nvSpPr>
        <p:spPr>
          <a:xfrm>
            <a:off x="13097102" y="4392452"/>
            <a:ext cx="494743" cy="323438"/>
          </a:xfrm>
          <a:custGeom>
            <a:avLst/>
            <a:gdLst/>
            <a:ahLst/>
            <a:cxnLst/>
            <a:rect l="l" t="t" r="r" b="b"/>
            <a:pathLst>
              <a:path w="494743" h="323438">
                <a:moveTo>
                  <a:pt x="0" y="0"/>
                </a:moveTo>
                <a:lnTo>
                  <a:pt x="494743" y="0"/>
                </a:lnTo>
                <a:lnTo>
                  <a:pt x="494743" y="323438"/>
                </a:lnTo>
                <a:lnTo>
                  <a:pt x="0" y="323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" name="Freeform 24"/>
          <p:cNvSpPr/>
          <p:nvPr/>
        </p:nvSpPr>
        <p:spPr>
          <a:xfrm>
            <a:off x="8827847" y="4243719"/>
            <a:ext cx="632307" cy="449859"/>
          </a:xfrm>
          <a:custGeom>
            <a:avLst/>
            <a:gdLst/>
            <a:ahLst/>
            <a:cxnLst/>
            <a:rect l="l" t="t" r="r" b="b"/>
            <a:pathLst>
              <a:path w="632307" h="449859">
                <a:moveTo>
                  <a:pt x="0" y="0"/>
                </a:moveTo>
                <a:lnTo>
                  <a:pt x="632306" y="0"/>
                </a:lnTo>
                <a:lnTo>
                  <a:pt x="632306" y="449859"/>
                </a:lnTo>
                <a:lnTo>
                  <a:pt x="0" y="44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Box 25"/>
          <p:cNvSpPr txBox="1"/>
          <p:nvPr/>
        </p:nvSpPr>
        <p:spPr>
          <a:xfrm>
            <a:off x="3640670" y="5430217"/>
            <a:ext cx="259539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Budget: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44840" y="5430217"/>
            <a:ext cx="2595392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Language learning: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51938" y="5430217"/>
            <a:ext cx="259539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deals: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40670" y="5956905"/>
            <a:ext cx="2595392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Monitor spending and manage monthly budget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44840" y="6338016"/>
            <a:ext cx="2595392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Practical phrases for real-life situations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51938" y="5956905"/>
            <a:ext cx="2595392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Discover local discounts and promotions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35345" y="1832385"/>
            <a:ext cx="10017311" cy="124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9999" spc="-5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Main Functions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63024">
            <a:off x="-3982681" y="-7226958"/>
            <a:ext cx="11134512" cy="11162418"/>
          </a:xfrm>
          <a:custGeom>
            <a:avLst/>
            <a:gdLst/>
            <a:ahLst/>
            <a:cxnLst/>
            <a:rect l="l" t="t" r="r" b="b"/>
            <a:pathLst>
              <a:path w="11134512" h="11162418">
                <a:moveTo>
                  <a:pt x="0" y="0"/>
                </a:moveTo>
                <a:lnTo>
                  <a:pt x="11134512" y="0"/>
                </a:lnTo>
                <a:lnTo>
                  <a:pt x="11134512" y="11162418"/>
                </a:lnTo>
                <a:lnTo>
                  <a:pt x="0" y="11162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5267848">
            <a:off x="-5751027" y="5480892"/>
            <a:ext cx="11147864" cy="10883102"/>
          </a:xfrm>
          <a:custGeom>
            <a:avLst/>
            <a:gdLst/>
            <a:ahLst/>
            <a:cxnLst/>
            <a:rect l="l" t="t" r="r" b="b"/>
            <a:pathLst>
              <a:path w="11147864" h="10883102">
                <a:moveTo>
                  <a:pt x="0" y="0"/>
                </a:moveTo>
                <a:lnTo>
                  <a:pt x="11147864" y="0"/>
                </a:lnTo>
                <a:lnTo>
                  <a:pt x="11147864" y="10883102"/>
                </a:lnTo>
                <a:lnTo>
                  <a:pt x="0" y="10883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rot="-5466285">
            <a:off x="2861979" y="7745521"/>
            <a:ext cx="1978040" cy="4495546"/>
          </a:xfrm>
          <a:custGeom>
            <a:avLst/>
            <a:gdLst/>
            <a:ahLst/>
            <a:cxnLst/>
            <a:rect l="l" t="t" r="r" b="b"/>
            <a:pathLst>
              <a:path w="1978040" h="4495546">
                <a:moveTo>
                  <a:pt x="0" y="0"/>
                </a:moveTo>
                <a:lnTo>
                  <a:pt x="1978040" y="0"/>
                </a:lnTo>
                <a:lnTo>
                  <a:pt x="1978040" y="4495547"/>
                </a:lnTo>
                <a:lnTo>
                  <a:pt x="0" y="44955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5002906">
            <a:off x="39680" y="-2163385"/>
            <a:ext cx="1978040" cy="4495546"/>
          </a:xfrm>
          <a:custGeom>
            <a:avLst/>
            <a:gdLst/>
            <a:ahLst/>
            <a:cxnLst/>
            <a:rect l="l" t="t" r="r" b="b"/>
            <a:pathLst>
              <a:path w="1978040" h="4495546">
                <a:moveTo>
                  <a:pt x="0" y="0"/>
                </a:moveTo>
                <a:lnTo>
                  <a:pt x="1978040" y="0"/>
                </a:lnTo>
                <a:lnTo>
                  <a:pt x="1978040" y="4495546"/>
                </a:lnTo>
                <a:lnTo>
                  <a:pt x="0" y="4495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4570389" y="-3386606"/>
            <a:ext cx="13717611" cy="18920843"/>
          </a:xfrm>
          <a:custGeom>
            <a:avLst/>
            <a:gdLst/>
            <a:ahLst/>
            <a:cxnLst/>
            <a:rect l="l" t="t" r="r" b="b"/>
            <a:pathLst>
              <a:path w="13717611" h="18920843">
                <a:moveTo>
                  <a:pt x="0" y="0"/>
                </a:moveTo>
                <a:lnTo>
                  <a:pt x="13717611" y="0"/>
                </a:lnTo>
                <a:lnTo>
                  <a:pt x="13717611" y="18920843"/>
                </a:lnTo>
                <a:lnTo>
                  <a:pt x="0" y="189208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9525" cap="sq">
            <a:solidFill>
              <a:srgbClr val="15231E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4570389" y="-2593683"/>
            <a:ext cx="13717611" cy="18920843"/>
          </a:xfrm>
          <a:custGeom>
            <a:avLst/>
            <a:gdLst/>
            <a:ahLst/>
            <a:cxnLst/>
            <a:rect l="l" t="t" r="r" b="b"/>
            <a:pathLst>
              <a:path w="13717611" h="18920843">
                <a:moveTo>
                  <a:pt x="0" y="0"/>
                </a:moveTo>
                <a:lnTo>
                  <a:pt x="13717611" y="0"/>
                </a:lnTo>
                <a:lnTo>
                  <a:pt x="13717611" y="18920842"/>
                </a:lnTo>
                <a:lnTo>
                  <a:pt x="0" y="189208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584575" y="4510284"/>
            <a:ext cx="1415007" cy="1266431"/>
          </a:xfrm>
          <a:custGeom>
            <a:avLst/>
            <a:gdLst/>
            <a:ahLst/>
            <a:cxnLst/>
            <a:rect l="l" t="t" r="r" b="b"/>
            <a:pathLst>
              <a:path w="1415007" h="1266431">
                <a:moveTo>
                  <a:pt x="0" y="0"/>
                </a:moveTo>
                <a:lnTo>
                  <a:pt x="1415007" y="0"/>
                </a:lnTo>
                <a:lnTo>
                  <a:pt x="1415007" y="1266432"/>
                </a:lnTo>
                <a:lnTo>
                  <a:pt x="0" y="1266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0050802" y="1045253"/>
            <a:ext cx="7208498" cy="3904426"/>
            <a:chOff x="0" y="0"/>
            <a:chExt cx="1403680" cy="7602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3680" cy="760292"/>
            </a:xfrm>
            <a:custGeom>
              <a:avLst/>
              <a:gdLst/>
              <a:ahLst/>
              <a:cxnLst/>
              <a:rect l="l" t="t" r="r" b="b"/>
              <a:pathLst>
                <a:path w="1403680" h="760292">
                  <a:moveTo>
                    <a:pt x="32220" y="0"/>
                  </a:moveTo>
                  <a:lnTo>
                    <a:pt x="1371460" y="0"/>
                  </a:lnTo>
                  <a:cubicBezTo>
                    <a:pt x="1380005" y="0"/>
                    <a:pt x="1388200" y="3395"/>
                    <a:pt x="1394243" y="9437"/>
                  </a:cubicBezTo>
                  <a:cubicBezTo>
                    <a:pt x="1400285" y="15479"/>
                    <a:pt x="1403680" y="23675"/>
                    <a:pt x="1403680" y="32220"/>
                  </a:cubicBezTo>
                  <a:lnTo>
                    <a:pt x="1403680" y="728072"/>
                  </a:lnTo>
                  <a:cubicBezTo>
                    <a:pt x="1403680" y="745867"/>
                    <a:pt x="1389254" y="760292"/>
                    <a:pt x="1371460" y="760292"/>
                  </a:cubicBezTo>
                  <a:lnTo>
                    <a:pt x="32220" y="760292"/>
                  </a:lnTo>
                  <a:cubicBezTo>
                    <a:pt x="23675" y="760292"/>
                    <a:pt x="15479" y="756897"/>
                    <a:pt x="9437" y="750855"/>
                  </a:cubicBezTo>
                  <a:cubicBezTo>
                    <a:pt x="3395" y="744813"/>
                    <a:pt x="0" y="736617"/>
                    <a:pt x="0" y="728072"/>
                  </a:cubicBezTo>
                  <a:lnTo>
                    <a:pt x="0" y="32220"/>
                  </a:lnTo>
                  <a:cubicBezTo>
                    <a:pt x="0" y="23675"/>
                    <a:pt x="3395" y="15479"/>
                    <a:pt x="9437" y="9437"/>
                  </a:cubicBezTo>
                  <a:cubicBezTo>
                    <a:pt x="15479" y="3395"/>
                    <a:pt x="23675" y="0"/>
                    <a:pt x="32220" y="0"/>
                  </a:cubicBezTo>
                  <a:close/>
                </a:path>
              </a:pathLst>
            </a:custGeom>
            <a:blipFill>
              <a:blip r:embed="rId8"/>
              <a:stretch>
                <a:fillRect t="-19233" b="-1923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50802" y="5353874"/>
            <a:ext cx="7208498" cy="3904426"/>
            <a:chOff x="0" y="0"/>
            <a:chExt cx="1403680" cy="7602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3680" cy="760292"/>
            </a:xfrm>
            <a:custGeom>
              <a:avLst/>
              <a:gdLst/>
              <a:ahLst/>
              <a:cxnLst/>
              <a:rect l="l" t="t" r="r" b="b"/>
              <a:pathLst>
                <a:path w="1403680" h="760292">
                  <a:moveTo>
                    <a:pt x="32220" y="0"/>
                  </a:moveTo>
                  <a:lnTo>
                    <a:pt x="1371460" y="0"/>
                  </a:lnTo>
                  <a:cubicBezTo>
                    <a:pt x="1380005" y="0"/>
                    <a:pt x="1388200" y="3395"/>
                    <a:pt x="1394243" y="9437"/>
                  </a:cubicBezTo>
                  <a:cubicBezTo>
                    <a:pt x="1400285" y="15479"/>
                    <a:pt x="1403680" y="23675"/>
                    <a:pt x="1403680" y="32220"/>
                  </a:cubicBezTo>
                  <a:lnTo>
                    <a:pt x="1403680" y="728072"/>
                  </a:lnTo>
                  <a:cubicBezTo>
                    <a:pt x="1403680" y="745867"/>
                    <a:pt x="1389254" y="760292"/>
                    <a:pt x="1371460" y="760292"/>
                  </a:cubicBezTo>
                  <a:lnTo>
                    <a:pt x="32220" y="760292"/>
                  </a:lnTo>
                  <a:cubicBezTo>
                    <a:pt x="23675" y="760292"/>
                    <a:pt x="15479" y="756897"/>
                    <a:pt x="9437" y="750855"/>
                  </a:cubicBezTo>
                  <a:cubicBezTo>
                    <a:pt x="3395" y="744813"/>
                    <a:pt x="0" y="736617"/>
                    <a:pt x="0" y="728072"/>
                  </a:cubicBezTo>
                  <a:lnTo>
                    <a:pt x="0" y="32220"/>
                  </a:lnTo>
                  <a:cubicBezTo>
                    <a:pt x="0" y="23675"/>
                    <a:pt x="3395" y="15479"/>
                    <a:pt x="9437" y="9437"/>
                  </a:cubicBezTo>
                  <a:cubicBezTo>
                    <a:pt x="15479" y="3395"/>
                    <a:pt x="23675" y="0"/>
                    <a:pt x="32220" y="0"/>
                  </a:cubicBezTo>
                  <a:close/>
                </a:path>
              </a:pathLst>
            </a:custGeom>
            <a:blipFill>
              <a:blip r:embed="rId9"/>
              <a:stretch>
                <a:fillRect t="-9544" b="-13438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103920" y="1506855"/>
            <a:ext cx="4576149" cy="243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6"/>
              </a:lnSpc>
            </a:pPr>
            <a:r>
              <a:rPr lang="en-US" sz="6800" spc="-367">
                <a:solidFill>
                  <a:srgbClr val="2D2D2D"/>
                </a:solidFill>
                <a:latin typeface="Montserrat"/>
                <a:ea typeface="Montserrat"/>
                <a:cs typeface="Montserrat"/>
                <a:sym typeface="Montserrat"/>
              </a:rPr>
              <a:t> How users use </a:t>
            </a:r>
            <a:r>
              <a:rPr lang="en-US" sz="6800" spc="-367">
                <a:solidFill>
                  <a:srgbClr val="165FD3"/>
                </a:solidFill>
                <a:latin typeface="Montserrat"/>
                <a:ea typeface="Montserrat"/>
                <a:cs typeface="Montserrat"/>
                <a:sym typeface="Montserrat"/>
              </a:rPr>
              <a:t>Lingo-Ledger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74653" y="5652547"/>
            <a:ext cx="4205416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D2D2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Managing life abroad shouldn’t be complicated.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2D2D2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2D2D2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474653" y="6838163"/>
            <a:ext cx="3834683" cy="247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2D2D2D"/>
                </a:solidFill>
                <a:latin typeface="Montserrat"/>
                <a:ea typeface="Montserrat"/>
                <a:cs typeface="Montserrat"/>
                <a:sym typeface="Montserrat"/>
              </a:rPr>
              <a:t>Example uses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2D2D2D"/>
                </a:solidFill>
                <a:latin typeface="Montserrat"/>
                <a:ea typeface="Montserrat"/>
                <a:cs typeface="Montserrat"/>
                <a:sym typeface="Montserrat"/>
              </a:rPr>
              <a:t>• Track daily spending and manage monthly budgets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2D2D2D"/>
                </a:solidFill>
                <a:latin typeface="Montserrat"/>
                <a:ea typeface="Montserrat"/>
                <a:cs typeface="Montserrat"/>
                <a:sym typeface="Montserrat"/>
              </a:rPr>
              <a:t> • Learn practical local phrases for shopping, transport, or daily situations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2D2D2D"/>
                </a:solidFill>
                <a:latin typeface="Montserrat"/>
                <a:ea typeface="Montserrat"/>
                <a:cs typeface="Montserrat"/>
                <a:sym typeface="Montserrat"/>
              </a:rPr>
              <a:t> • Discover student discounts and nearby deals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2D2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868480"/>
            <a:ext cx="4368639" cy="3231019"/>
            <a:chOff x="0" y="0"/>
            <a:chExt cx="1178141" cy="8713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141" cy="871346"/>
            </a:xfrm>
            <a:custGeom>
              <a:avLst/>
              <a:gdLst/>
              <a:ahLst/>
              <a:cxnLst/>
              <a:rect l="l" t="t" r="r" b="b"/>
              <a:pathLst>
                <a:path w="1178141" h="871346">
                  <a:moveTo>
                    <a:pt x="35443" y="0"/>
                  </a:moveTo>
                  <a:lnTo>
                    <a:pt x="1142698" y="0"/>
                  </a:lnTo>
                  <a:cubicBezTo>
                    <a:pt x="1162272" y="0"/>
                    <a:pt x="1178141" y="15868"/>
                    <a:pt x="1178141" y="35443"/>
                  </a:cubicBezTo>
                  <a:lnTo>
                    <a:pt x="1178141" y="835903"/>
                  </a:lnTo>
                  <a:cubicBezTo>
                    <a:pt x="1178141" y="845303"/>
                    <a:pt x="1174407" y="854318"/>
                    <a:pt x="1167760" y="860965"/>
                  </a:cubicBezTo>
                  <a:cubicBezTo>
                    <a:pt x="1161113" y="867612"/>
                    <a:pt x="1152098" y="871346"/>
                    <a:pt x="1142698" y="871346"/>
                  </a:cubicBezTo>
                  <a:lnTo>
                    <a:pt x="35443" y="871346"/>
                  </a:lnTo>
                  <a:cubicBezTo>
                    <a:pt x="15868" y="871346"/>
                    <a:pt x="0" y="855477"/>
                    <a:pt x="0" y="835903"/>
                  </a:cubicBezTo>
                  <a:lnTo>
                    <a:pt x="0" y="35443"/>
                  </a:lnTo>
                  <a:cubicBezTo>
                    <a:pt x="0" y="15868"/>
                    <a:pt x="15868" y="0"/>
                    <a:pt x="35443" y="0"/>
                  </a:cubicBezTo>
                  <a:close/>
                </a:path>
              </a:pathLst>
            </a:custGeom>
            <a:blipFill>
              <a:blip r:embed="rId3"/>
              <a:stretch>
                <a:fillRect l="-14593" r="-14593"/>
              </a:stretch>
            </a:blipFill>
            <a:ln w="19050" cap="sq">
              <a:gradFill>
                <a:gsLst>
                  <a:gs pos="0">
                    <a:srgbClr val="20B66F">
                      <a:alpha val="100000"/>
                    </a:srgbClr>
                  </a:gs>
                  <a:gs pos="100000">
                    <a:srgbClr val="1F4C3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 rot="8227434">
            <a:off x="12625858" y="-6214515"/>
            <a:ext cx="10367526" cy="8734641"/>
          </a:xfrm>
          <a:custGeom>
            <a:avLst/>
            <a:gdLst/>
            <a:ahLst/>
            <a:cxnLst/>
            <a:rect l="l" t="t" r="r" b="b"/>
            <a:pathLst>
              <a:path w="10367526" h="8734641">
                <a:moveTo>
                  <a:pt x="0" y="0"/>
                </a:moveTo>
                <a:lnTo>
                  <a:pt x="10367526" y="0"/>
                </a:lnTo>
                <a:lnTo>
                  <a:pt x="10367526" y="8734641"/>
                </a:lnTo>
                <a:lnTo>
                  <a:pt x="0" y="8734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872705">
            <a:off x="13899631" y="-294029"/>
            <a:ext cx="5188034" cy="2639412"/>
          </a:xfrm>
          <a:custGeom>
            <a:avLst/>
            <a:gdLst/>
            <a:ahLst/>
            <a:cxnLst/>
            <a:rect l="l" t="t" r="r" b="b"/>
            <a:pathLst>
              <a:path w="5188034" h="2639412">
                <a:moveTo>
                  <a:pt x="0" y="0"/>
                </a:moveTo>
                <a:lnTo>
                  <a:pt x="5188033" y="0"/>
                </a:lnTo>
                <a:lnTo>
                  <a:pt x="5188033" y="2639412"/>
                </a:lnTo>
                <a:lnTo>
                  <a:pt x="0" y="2639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5844540" y="3618146"/>
            <a:ext cx="5618319" cy="5011430"/>
            <a:chOff x="0" y="0"/>
            <a:chExt cx="1515156" cy="13514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15156" cy="1351490"/>
            </a:xfrm>
            <a:custGeom>
              <a:avLst/>
              <a:gdLst/>
              <a:ahLst/>
              <a:cxnLst/>
              <a:rect l="l" t="t" r="r" b="b"/>
              <a:pathLst>
                <a:path w="1515156" h="1351490">
                  <a:moveTo>
                    <a:pt x="27560" y="0"/>
                  </a:moveTo>
                  <a:lnTo>
                    <a:pt x="1487597" y="0"/>
                  </a:lnTo>
                  <a:cubicBezTo>
                    <a:pt x="1502817" y="0"/>
                    <a:pt x="1515156" y="12339"/>
                    <a:pt x="1515156" y="27560"/>
                  </a:cubicBezTo>
                  <a:lnTo>
                    <a:pt x="1515156" y="1323930"/>
                  </a:lnTo>
                  <a:cubicBezTo>
                    <a:pt x="1515156" y="1339151"/>
                    <a:pt x="1502817" y="1351490"/>
                    <a:pt x="1487597" y="1351490"/>
                  </a:cubicBezTo>
                  <a:lnTo>
                    <a:pt x="27560" y="1351490"/>
                  </a:lnTo>
                  <a:cubicBezTo>
                    <a:pt x="12339" y="1351490"/>
                    <a:pt x="0" y="1339151"/>
                    <a:pt x="0" y="1323930"/>
                  </a:cubicBezTo>
                  <a:lnTo>
                    <a:pt x="0" y="27560"/>
                  </a:lnTo>
                  <a:cubicBezTo>
                    <a:pt x="0" y="12339"/>
                    <a:pt x="12339" y="0"/>
                    <a:pt x="27560" y="0"/>
                  </a:cubicBezTo>
                  <a:close/>
                </a:path>
              </a:pathLst>
            </a:custGeom>
            <a:blipFill>
              <a:blip r:embed="rId6"/>
              <a:stretch>
                <a:fillRect l="-35356" r="-35356"/>
              </a:stretch>
            </a:blipFill>
            <a:ln w="19050" cap="sq">
              <a:gradFill>
                <a:gsLst>
                  <a:gs pos="0">
                    <a:srgbClr val="20B66F">
                      <a:alpha val="100000"/>
                    </a:srgbClr>
                  </a:gs>
                  <a:gs pos="100000">
                    <a:srgbClr val="1F4C3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10534" y="1028700"/>
            <a:ext cx="5348766" cy="3851706"/>
            <a:chOff x="0" y="0"/>
            <a:chExt cx="1442463" cy="10387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2463" cy="1038734"/>
            </a:xfrm>
            <a:custGeom>
              <a:avLst/>
              <a:gdLst/>
              <a:ahLst/>
              <a:cxnLst/>
              <a:rect l="l" t="t" r="r" b="b"/>
              <a:pathLst>
                <a:path w="1442463" h="1038734">
                  <a:moveTo>
                    <a:pt x="28948" y="0"/>
                  </a:moveTo>
                  <a:lnTo>
                    <a:pt x="1413514" y="0"/>
                  </a:lnTo>
                  <a:cubicBezTo>
                    <a:pt x="1429502" y="0"/>
                    <a:pt x="1442463" y="12961"/>
                    <a:pt x="1442463" y="28948"/>
                  </a:cubicBezTo>
                  <a:lnTo>
                    <a:pt x="1442463" y="1009785"/>
                  </a:lnTo>
                  <a:cubicBezTo>
                    <a:pt x="1442463" y="1025773"/>
                    <a:pt x="1429502" y="1038734"/>
                    <a:pt x="1413514" y="1038734"/>
                  </a:cubicBezTo>
                  <a:lnTo>
                    <a:pt x="28948" y="1038734"/>
                  </a:lnTo>
                  <a:cubicBezTo>
                    <a:pt x="12961" y="1038734"/>
                    <a:pt x="0" y="1025773"/>
                    <a:pt x="0" y="1009785"/>
                  </a:cubicBezTo>
                  <a:lnTo>
                    <a:pt x="0" y="28948"/>
                  </a:lnTo>
                  <a:cubicBezTo>
                    <a:pt x="0" y="12961"/>
                    <a:pt x="12961" y="0"/>
                    <a:pt x="28948" y="0"/>
                  </a:cubicBezTo>
                  <a:close/>
                </a:path>
              </a:pathLst>
            </a:custGeom>
            <a:blipFill>
              <a:blip r:embed="rId7"/>
              <a:stretch>
                <a:fillRect t="-16809" b="-16809"/>
              </a:stretch>
            </a:blipFill>
            <a:ln w="19050" cap="sq">
              <a:gradFill>
                <a:gsLst>
                  <a:gs pos="0">
                    <a:srgbClr val="20B66F">
                      <a:alpha val="100000"/>
                    </a:srgbClr>
                  </a:gs>
                  <a:gs pos="100000">
                    <a:srgbClr val="1F4C3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10534" y="5949820"/>
            <a:ext cx="3926255" cy="3645966"/>
            <a:chOff x="0" y="0"/>
            <a:chExt cx="1058838" cy="9832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8838" cy="983249"/>
            </a:xfrm>
            <a:custGeom>
              <a:avLst/>
              <a:gdLst/>
              <a:ahLst/>
              <a:cxnLst/>
              <a:rect l="l" t="t" r="r" b="b"/>
              <a:pathLst>
                <a:path w="1058838" h="983249">
                  <a:moveTo>
                    <a:pt x="39437" y="0"/>
                  </a:moveTo>
                  <a:lnTo>
                    <a:pt x="1019401" y="0"/>
                  </a:lnTo>
                  <a:cubicBezTo>
                    <a:pt x="1041182" y="0"/>
                    <a:pt x="1058838" y="17656"/>
                    <a:pt x="1058838" y="39437"/>
                  </a:cubicBezTo>
                  <a:lnTo>
                    <a:pt x="1058838" y="943813"/>
                  </a:lnTo>
                  <a:cubicBezTo>
                    <a:pt x="1058838" y="954272"/>
                    <a:pt x="1054683" y="964303"/>
                    <a:pt x="1047287" y="971699"/>
                  </a:cubicBezTo>
                  <a:cubicBezTo>
                    <a:pt x="1039892" y="979095"/>
                    <a:pt x="1029861" y="983249"/>
                    <a:pt x="1019401" y="983249"/>
                  </a:cubicBezTo>
                  <a:lnTo>
                    <a:pt x="39437" y="983249"/>
                  </a:lnTo>
                  <a:cubicBezTo>
                    <a:pt x="28977" y="983249"/>
                    <a:pt x="18947" y="979095"/>
                    <a:pt x="11551" y="971699"/>
                  </a:cubicBezTo>
                  <a:cubicBezTo>
                    <a:pt x="4155" y="964303"/>
                    <a:pt x="0" y="954272"/>
                    <a:pt x="0" y="943813"/>
                  </a:cubicBezTo>
                  <a:lnTo>
                    <a:pt x="0" y="39437"/>
                  </a:lnTo>
                  <a:cubicBezTo>
                    <a:pt x="0" y="28977"/>
                    <a:pt x="4155" y="18947"/>
                    <a:pt x="11551" y="11551"/>
                  </a:cubicBezTo>
                  <a:cubicBezTo>
                    <a:pt x="18947" y="4155"/>
                    <a:pt x="28977" y="0"/>
                    <a:pt x="39437" y="0"/>
                  </a:cubicBezTo>
                  <a:close/>
                </a:path>
              </a:pathLst>
            </a:custGeom>
            <a:blipFill>
              <a:blip r:embed="rId8"/>
              <a:stretch>
                <a:fillRect l="-32543" r="-32543"/>
              </a:stretch>
            </a:blipFill>
            <a:ln w="19050" cap="sq">
              <a:gradFill>
                <a:gsLst>
                  <a:gs pos="0">
                    <a:srgbClr val="20B66F">
                      <a:alpha val="100000"/>
                    </a:srgbClr>
                  </a:gs>
                  <a:gs pos="100000">
                    <a:srgbClr val="1F4C3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" name="Freeform 12"/>
          <p:cNvSpPr/>
          <p:nvPr/>
        </p:nvSpPr>
        <p:spPr>
          <a:xfrm rot="6765253">
            <a:off x="-6555955" y="4295180"/>
            <a:ext cx="10359363" cy="12710874"/>
          </a:xfrm>
          <a:custGeom>
            <a:avLst/>
            <a:gdLst/>
            <a:ahLst/>
            <a:cxnLst/>
            <a:rect l="l" t="t" r="r" b="b"/>
            <a:pathLst>
              <a:path w="10359363" h="12710874">
                <a:moveTo>
                  <a:pt x="0" y="0"/>
                </a:moveTo>
                <a:lnTo>
                  <a:pt x="10359363" y="0"/>
                </a:lnTo>
                <a:lnTo>
                  <a:pt x="10359363" y="12710874"/>
                </a:lnTo>
                <a:lnTo>
                  <a:pt x="0" y="12710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 rot="2700000">
            <a:off x="16184172" y="7342827"/>
            <a:ext cx="133748" cy="133748"/>
          </a:xfrm>
          <a:custGeom>
            <a:avLst/>
            <a:gdLst/>
            <a:ahLst/>
            <a:cxnLst/>
            <a:rect l="l" t="t" r="r" b="b"/>
            <a:pathLst>
              <a:path w="133748" h="133748">
                <a:moveTo>
                  <a:pt x="0" y="0"/>
                </a:moveTo>
                <a:lnTo>
                  <a:pt x="133748" y="0"/>
                </a:lnTo>
                <a:lnTo>
                  <a:pt x="133748" y="133747"/>
                </a:lnTo>
                <a:lnTo>
                  <a:pt x="0" y="133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 rot="2700000">
            <a:off x="11938118" y="5248229"/>
            <a:ext cx="133980" cy="133515"/>
          </a:xfrm>
          <a:custGeom>
            <a:avLst/>
            <a:gdLst/>
            <a:ahLst/>
            <a:cxnLst/>
            <a:rect l="l" t="t" r="r" b="b"/>
            <a:pathLst>
              <a:path w="133980" h="133515">
                <a:moveTo>
                  <a:pt x="0" y="0"/>
                </a:moveTo>
                <a:lnTo>
                  <a:pt x="133980" y="0"/>
                </a:lnTo>
                <a:lnTo>
                  <a:pt x="133980" y="133515"/>
                </a:lnTo>
                <a:lnTo>
                  <a:pt x="0" y="133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493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 rot="2700000">
            <a:off x="1056337" y="6464447"/>
            <a:ext cx="133874" cy="133621"/>
          </a:xfrm>
          <a:custGeom>
            <a:avLst/>
            <a:gdLst/>
            <a:ahLst/>
            <a:cxnLst/>
            <a:rect l="l" t="t" r="r" b="b"/>
            <a:pathLst>
              <a:path w="133874" h="133621">
                <a:moveTo>
                  <a:pt x="0" y="0"/>
                </a:moveTo>
                <a:lnTo>
                  <a:pt x="133874" y="0"/>
                </a:lnTo>
                <a:lnTo>
                  <a:pt x="133874" y="133621"/>
                </a:lnTo>
                <a:lnTo>
                  <a:pt x="0" y="133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63933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16"/>
          <p:cNvSpPr/>
          <p:nvPr/>
        </p:nvSpPr>
        <p:spPr>
          <a:xfrm rot="2700000">
            <a:off x="5872069" y="9001060"/>
            <a:ext cx="134089" cy="133406"/>
          </a:xfrm>
          <a:custGeom>
            <a:avLst/>
            <a:gdLst/>
            <a:ahLst/>
            <a:cxnLst/>
            <a:rect l="l" t="t" r="r" b="b"/>
            <a:pathLst>
              <a:path w="134089" h="133406">
                <a:moveTo>
                  <a:pt x="0" y="0"/>
                </a:moveTo>
                <a:lnTo>
                  <a:pt x="134090" y="0"/>
                </a:lnTo>
                <a:lnTo>
                  <a:pt x="134090" y="133406"/>
                </a:lnTo>
                <a:lnTo>
                  <a:pt x="0" y="133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16268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Box 17"/>
          <p:cNvSpPr txBox="1"/>
          <p:nvPr/>
        </p:nvSpPr>
        <p:spPr>
          <a:xfrm>
            <a:off x="1028700" y="1304925"/>
            <a:ext cx="7624999" cy="124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 spc="-5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Who?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9210" y="6385249"/>
            <a:ext cx="3113696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Language barriers in real-life situations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10580" y="8915326"/>
            <a:ext cx="4058576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Difficulty managing personal finances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92470" y="5162550"/>
            <a:ext cx="4058576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 knowing where to find reliable student discounts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93648" y="7277026"/>
            <a:ext cx="1444240" cy="266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 existing apps solve these problems separately, forcing students to switch between multiple tools.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900131"/>
            <a:ext cx="5186017" cy="3168893"/>
          </a:xfrm>
          <a:custGeom>
            <a:avLst/>
            <a:gdLst/>
            <a:ahLst/>
            <a:cxnLst/>
            <a:rect l="l" t="t" r="r" b="b"/>
            <a:pathLst>
              <a:path w="5186017" h="3168893">
                <a:moveTo>
                  <a:pt x="0" y="0"/>
                </a:moveTo>
                <a:lnTo>
                  <a:pt x="5186017" y="0"/>
                </a:lnTo>
                <a:lnTo>
                  <a:pt x="5186017" y="3168893"/>
                </a:lnTo>
                <a:lnTo>
                  <a:pt x="0" y="3168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1332"/>
            </a:stretch>
          </a:blipFill>
          <a:ln w="19050" cap="sq">
            <a:gradFill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9144000" y="6057600"/>
            <a:ext cx="0" cy="6564708"/>
          </a:xfrm>
          <a:prstGeom prst="line">
            <a:avLst/>
          </a:prstGeom>
          <a:ln w="76200" cap="flat">
            <a:gradFill>
              <a:gsLst>
                <a:gs pos="0">
                  <a:srgbClr val="20B66F">
                    <a:alpha val="100000"/>
                  </a:srgbClr>
                </a:gs>
                <a:gs pos="100000">
                  <a:srgbClr val="181818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6548621" y="2900131"/>
            <a:ext cx="5181099" cy="3168893"/>
          </a:xfrm>
          <a:custGeom>
            <a:avLst/>
            <a:gdLst/>
            <a:ahLst/>
            <a:cxnLst/>
            <a:rect l="l" t="t" r="r" b="b"/>
            <a:pathLst>
              <a:path w="5181099" h="3168893">
                <a:moveTo>
                  <a:pt x="0" y="0"/>
                </a:moveTo>
                <a:lnTo>
                  <a:pt x="5181099" y="0"/>
                </a:lnTo>
                <a:lnTo>
                  <a:pt x="5181099" y="3168893"/>
                </a:lnTo>
                <a:lnTo>
                  <a:pt x="0" y="3168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6827"/>
            </a:stretch>
          </a:blipFill>
          <a:ln w="19050" cap="sq">
            <a:gradFill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3640758" y="6057600"/>
            <a:ext cx="0" cy="4358718"/>
          </a:xfrm>
          <a:prstGeom prst="line">
            <a:avLst/>
          </a:prstGeom>
          <a:ln w="76200" cap="flat">
            <a:gradFill>
              <a:gsLst>
                <a:gs pos="0">
                  <a:srgbClr val="20B66F">
                    <a:alpha val="100000"/>
                  </a:srgbClr>
                </a:gs>
                <a:gs pos="100000">
                  <a:srgbClr val="181818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3485741" y="5891071"/>
            <a:ext cx="300439" cy="304625"/>
          </a:xfrm>
          <a:custGeom>
            <a:avLst/>
            <a:gdLst/>
            <a:ahLst/>
            <a:cxnLst/>
            <a:rect l="l" t="t" r="r" b="b"/>
            <a:pathLst>
              <a:path w="300439" h="304625">
                <a:moveTo>
                  <a:pt x="0" y="0"/>
                </a:moveTo>
                <a:lnTo>
                  <a:pt x="300439" y="0"/>
                </a:lnTo>
                <a:lnTo>
                  <a:pt x="300439" y="304624"/>
                </a:lnTo>
                <a:lnTo>
                  <a:pt x="0" y="304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6035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8988983" y="5891071"/>
            <a:ext cx="310035" cy="307566"/>
          </a:xfrm>
          <a:custGeom>
            <a:avLst/>
            <a:gdLst/>
            <a:ahLst/>
            <a:cxnLst/>
            <a:rect l="l" t="t" r="r" b="b"/>
            <a:pathLst>
              <a:path w="310035" h="307566">
                <a:moveTo>
                  <a:pt x="0" y="0"/>
                </a:moveTo>
                <a:lnTo>
                  <a:pt x="310034" y="0"/>
                </a:lnTo>
                <a:lnTo>
                  <a:pt x="310034" y="307566"/>
                </a:lnTo>
                <a:lnTo>
                  <a:pt x="0" y="307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2370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-3608787">
            <a:off x="10231782" y="-8471051"/>
            <a:ext cx="12032354" cy="12032354"/>
          </a:xfrm>
          <a:custGeom>
            <a:avLst/>
            <a:gdLst/>
            <a:ahLst/>
            <a:cxnLst/>
            <a:rect l="l" t="t" r="r" b="b"/>
            <a:pathLst>
              <a:path w="12032354" h="12032354">
                <a:moveTo>
                  <a:pt x="0" y="0"/>
                </a:moveTo>
                <a:lnTo>
                  <a:pt x="12032354" y="0"/>
                </a:lnTo>
                <a:lnTo>
                  <a:pt x="12032354" y="12032354"/>
                </a:lnTo>
                <a:lnTo>
                  <a:pt x="0" y="12032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2073283" y="2900131"/>
            <a:ext cx="5185914" cy="3171353"/>
          </a:xfrm>
          <a:custGeom>
            <a:avLst/>
            <a:gdLst/>
            <a:ahLst/>
            <a:cxnLst/>
            <a:rect l="l" t="t" r="r" b="b"/>
            <a:pathLst>
              <a:path w="5185914" h="3171353">
                <a:moveTo>
                  <a:pt x="0" y="0"/>
                </a:moveTo>
                <a:lnTo>
                  <a:pt x="5185914" y="0"/>
                </a:lnTo>
                <a:lnTo>
                  <a:pt x="5185914" y="3171353"/>
                </a:lnTo>
                <a:lnTo>
                  <a:pt x="0" y="3171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70290"/>
            </a:stretch>
          </a:blipFill>
          <a:ln w="19050" cap="sq">
            <a:gradFill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6548621" y="6338184"/>
            <a:ext cx="5181099" cy="3167626"/>
          </a:xfrm>
          <a:custGeom>
            <a:avLst/>
            <a:gdLst/>
            <a:ahLst/>
            <a:cxnLst/>
            <a:rect l="l" t="t" r="r" b="b"/>
            <a:pathLst>
              <a:path w="5181099" h="3167626">
                <a:moveTo>
                  <a:pt x="0" y="0"/>
                </a:moveTo>
                <a:lnTo>
                  <a:pt x="5181099" y="0"/>
                </a:lnTo>
                <a:lnTo>
                  <a:pt x="5181099" y="3167626"/>
                </a:lnTo>
                <a:lnTo>
                  <a:pt x="0" y="3167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34327"/>
            </a:stretch>
          </a:blipFill>
          <a:ln w="19050" cap="sq">
            <a:gradFill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4435127" y="621488"/>
            <a:ext cx="10157827" cy="214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88"/>
              </a:lnSpc>
            </a:pPr>
            <a:r>
              <a:rPr lang="en-US" sz="8900" b="1" spc="-48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AUDIENCE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4666292" y="6057600"/>
            <a:ext cx="0" cy="6564708"/>
          </a:xfrm>
          <a:prstGeom prst="line">
            <a:avLst/>
          </a:prstGeom>
          <a:ln w="76200" cap="flat">
            <a:gradFill>
              <a:gsLst>
                <a:gs pos="0">
                  <a:srgbClr val="20B66F">
                    <a:alpha val="100000"/>
                  </a:srgbClr>
                </a:gs>
                <a:gs pos="100000">
                  <a:srgbClr val="181818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2073283" y="6338184"/>
            <a:ext cx="5186017" cy="3171353"/>
          </a:xfrm>
          <a:custGeom>
            <a:avLst/>
            <a:gdLst/>
            <a:ahLst/>
            <a:cxnLst/>
            <a:rect l="l" t="t" r="r" b="b"/>
            <a:pathLst>
              <a:path w="5186017" h="3171353">
                <a:moveTo>
                  <a:pt x="0" y="0"/>
                </a:moveTo>
                <a:lnTo>
                  <a:pt x="5186017" y="0"/>
                </a:lnTo>
                <a:lnTo>
                  <a:pt x="5186017" y="3171354"/>
                </a:lnTo>
                <a:lnTo>
                  <a:pt x="0" y="3171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9612"/>
            </a:stretch>
          </a:blipFill>
          <a:ln w="19050" cap="sq">
            <a:gradFill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8988983" y="9354520"/>
            <a:ext cx="310035" cy="310035"/>
          </a:xfrm>
          <a:custGeom>
            <a:avLst/>
            <a:gdLst/>
            <a:ahLst/>
            <a:cxnLst/>
            <a:rect l="l" t="t" r="r" b="b"/>
            <a:pathLst>
              <a:path w="310035" h="310035">
                <a:moveTo>
                  <a:pt x="0" y="0"/>
                </a:moveTo>
                <a:lnTo>
                  <a:pt x="310034" y="0"/>
                </a:lnTo>
                <a:lnTo>
                  <a:pt x="310034" y="310035"/>
                </a:lnTo>
                <a:lnTo>
                  <a:pt x="0" y="310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14511274" y="9354520"/>
            <a:ext cx="310035" cy="310035"/>
          </a:xfrm>
          <a:custGeom>
            <a:avLst/>
            <a:gdLst/>
            <a:ahLst/>
            <a:cxnLst/>
            <a:rect l="l" t="t" r="r" b="b"/>
            <a:pathLst>
              <a:path w="310035" h="310035">
                <a:moveTo>
                  <a:pt x="0" y="0"/>
                </a:moveTo>
                <a:lnTo>
                  <a:pt x="310035" y="0"/>
                </a:lnTo>
                <a:lnTo>
                  <a:pt x="310035" y="310035"/>
                </a:lnTo>
                <a:lnTo>
                  <a:pt x="0" y="310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16"/>
          <p:cNvSpPr/>
          <p:nvPr/>
        </p:nvSpPr>
        <p:spPr>
          <a:xfrm>
            <a:off x="14511274" y="5891071"/>
            <a:ext cx="310035" cy="310035"/>
          </a:xfrm>
          <a:custGeom>
            <a:avLst/>
            <a:gdLst/>
            <a:ahLst/>
            <a:cxnLst/>
            <a:rect l="l" t="t" r="r" b="b"/>
            <a:pathLst>
              <a:path w="310035" h="310035">
                <a:moveTo>
                  <a:pt x="0" y="0"/>
                </a:moveTo>
                <a:lnTo>
                  <a:pt x="310035" y="0"/>
                </a:lnTo>
                <a:lnTo>
                  <a:pt x="310035" y="310034"/>
                </a:lnTo>
                <a:lnTo>
                  <a:pt x="0" y="3100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>
            <a:off x="4295429" y="1028700"/>
            <a:ext cx="371862" cy="469968"/>
          </a:xfrm>
          <a:custGeom>
            <a:avLst/>
            <a:gdLst/>
            <a:ahLst/>
            <a:cxnLst/>
            <a:rect l="l" t="t" r="r" b="b"/>
            <a:pathLst>
              <a:path w="371862" h="469968">
                <a:moveTo>
                  <a:pt x="0" y="0"/>
                </a:moveTo>
                <a:lnTo>
                  <a:pt x="371862" y="0"/>
                </a:lnTo>
                <a:lnTo>
                  <a:pt x="371862" y="469968"/>
                </a:lnTo>
                <a:lnTo>
                  <a:pt x="0" y="4699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12898693" y="2161365"/>
            <a:ext cx="371862" cy="469968"/>
          </a:xfrm>
          <a:custGeom>
            <a:avLst/>
            <a:gdLst/>
            <a:ahLst/>
            <a:cxnLst/>
            <a:rect l="l" t="t" r="r" b="b"/>
            <a:pathLst>
              <a:path w="371862" h="469968">
                <a:moveTo>
                  <a:pt x="0" y="0"/>
                </a:moveTo>
                <a:lnTo>
                  <a:pt x="371862" y="0"/>
                </a:lnTo>
                <a:lnTo>
                  <a:pt x="371862" y="469968"/>
                </a:lnTo>
                <a:lnTo>
                  <a:pt x="0" y="4699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" name="Freeform 19"/>
          <p:cNvSpPr/>
          <p:nvPr/>
        </p:nvSpPr>
        <p:spPr>
          <a:xfrm>
            <a:off x="3263142" y="3379000"/>
            <a:ext cx="717132" cy="717132"/>
          </a:xfrm>
          <a:custGeom>
            <a:avLst/>
            <a:gdLst/>
            <a:ahLst/>
            <a:cxnLst/>
            <a:rect l="l" t="t" r="r" b="b"/>
            <a:pathLst>
              <a:path w="717132" h="717132">
                <a:moveTo>
                  <a:pt x="0" y="0"/>
                </a:moveTo>
                <a:lnTo>
                  <a:pt x="717132" y="0"/>
                </a:lnTo>
                <a:lnTo>
                  <a:pt x="717132" y="717132"/>
                </a:lnTo>
                <a:lnTo>
                  <a:pt x="0" y="717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8804078" y="3468603"/>
            <a:ext cx="679844" cy="537926"/>
          </a:xfrm>
          <a:custGeom>
            <a:avLst/>
            <a:gdLst/>
            <a:ahLst/>
            <a:cxnLst/>
            <a:rect l="l" t="t" r="r" b="b"/>
            <a:pathLst>
              <a:path w="679844" h="537926">
                <a:moveTo>
                  <a:pt x="0" y="0"/>
                </a:moveTo>
                <a:lnTo>
                  <a:pt x="679844" y="0"/>
                </a:lnTo>
                <a:lnTo>
                  <a:pt x="679844" y="537926"/>
                </a:lnTo>
                <a:lnTo>
                  <a:pt x="0" y="537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8764300" y="6862332"/>
            <a:ext cx="749740" cy="657897"/>
          </a:xfrm>
          <a:custGeom>
            <a:avLst/>
            <a:gdLst/>
            <a:ahLst/>
            <a:cxnLst/>
            <a:rect l="l" t="t" r="r" b="b"/>
            <a:pathLst>
              <a:path w="749740" h="657897">
                <a:moveTo>
                  <a:pt x="0" y="0"/>
                </a:moveTo>
                <a:lnTo>
                  <a:pt x="749741" y="0"/>
                </a:lnTo>
                <a:lnTo>
                  <a:pt x="749741" y="657897"/>
                </a:lnTo>
                <a:lnTo>
                  <a:pt x="0" y="6578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14330000" y="3490326"/>
            <a:ext cx="672481" cy="672481"/>
          </a:xfrm>
          <a:custGeom>
            <a:avLst/>
            <a:gdLst/>
            <a:ahLst/>
            <a:cxnLst/>
            <a:rect l="l" t="t" r="r" b="b"/>
            <a:pathLst>
              <a:path w="672481" h="672481">
                <a:moveTo>
                  <a:pt x="0" y="0"/>
                </a:moveTo>
                <a:lnTo>
                  <a:pt x="672480" y="0"/>
                </a:lnTo>
                <a:lnTo>
                  <a:pt x="672480" y="672481"/>
                </a:lnTo>
                <a:lnTo>
                  <a:pt x="0" y="67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Freeform 23"/>
          <p:cNvSpPr/>
          <p:nvPr/>
        </p:nvSpPr>
        <p:spPr>
          <a:xfrm>
            <a:off x="14175034" y="6949204"/>
            <a:ext cx="1161343" cy="651804"/>
          </a:xfrm>
          <a:custGeom>
            <a:avLst/>
            <a:gdLst/>
            <a:ahLst/>
            <a:cxnLst/>
            <a:rect l="l" t="t" r="r" b="b"/>
            <a:pathLst>
              <a:path w="1161343" h="651804">
                <a:moveTo>
                  <a:pt x="0" y="0"/>
                </a:moveTo>
                <a:lnTo>
                  <a:pt x="1161343" y="0"/>
                </a:lnTo>
                <a:lnTo>
                  <a:pt x="1161343" y="651803"/>
                </a:lnTo>
                <a:lnTo>
                  <a:pt x="0" y="651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4" name="TextBox 24"/>
          <p:cNvSpPr txBox="1"/>
          <p:nvPr/>
        </p:nvSpPr>
        <p:spPr>
          <a:xfrm>
            <a:off x="2040041" y="4267582"/>
            <a:ext cx="316333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Primary Audience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62333" y="4218901"/>
            <a:ext cx="316333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18–25 years old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62333" y="7705635"/>
            <a:ext cx="316333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Daily Life Support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84624" y="4267582"/>
            <a:ext cx="316333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Living Abroad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72190" y="7740102"/>
            <a:ext cx="369823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Secondary Audience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10253" y="4769653"/>
            <a:ext cx="3619410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Students studying abroad who need support managing daily life, language communication, and personal finances.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62333" y="4788703"/>
            <a:ext cx="3163335" cy="1333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Foundation, undergraduate, or early postgraduate students who are living independently for the first time.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endParaRPr lang="en-US"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562333" y="8275437"/>
            <a:ext cx="3163335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Managing personal budgets, learning practical local language, and finding affordable student deals.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084624" y="4724997"/>
            <a:ext cx="3163335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Students adapting to a new country, culture, and language while managing their own expenses and responsibilities.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084624" y="8275437"/>
            <a:ext cx="3163335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Local students who also want help with budgeting, finding student discounts, or organising their daily spending.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40041" y="7237006"/>
            <a:ext cx="3359833" cy="1333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LingoLedger focuses on international students, while also supporting local students with similar budgeting and daily spending challenges.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0B66F">
                <a:alpha val="100000"/>
              </a:srgbClr>
            </a:gs>
            <a:gs pos="100000">
              <a:srgbClr val="1F4C3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416" y="567152"/>
            <a:ext cx="6619672" cy="9239172"/>
            <a:chOff x="0" y="0"/>
            <a:chExt cx="8826229" cy="1231889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3132" r="23132"/>
            <a:stretch>
              <a:fillRect/>
            </a:stretch>
          </p:blipFill>
          <p:spPr>
            <a:xfrm>
              <a:off x="0" y="0"/>
              <a:ext cx="8826229" cy="12318896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8378822" y="2083209"/>
            <a:ext cx="8880478" cy="346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97"/>
              </a:lnSpc>
            </a:pPr>
            <a:r>
              <a:rPr lang="en-US" sz="13223" b="1" spc="-661">
                <a:solidFill>
                  <a:srgbClr val="E3FFF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M</a:t>
            </a:r>
            <a:r>
              <a:rPr lang="en-US" sz="13223" b="1" u="none" strike="noStrike" spc="-661">
                <a:solidFill>
                  <a:srgbClr val="E3FFF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arket Landscape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78822" y="6854635"/>
            <a:ext cx="8880478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b="1" spc="-39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MARKET LANDSCAPE</a:t>
            </a:r>
            <a:r>
              <a:rPr lang="en-US" sz="1800" b="1" u="none" strike="noStrike" spc="-39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DESCRIBES THE INDUSTRY WHERE THE APP OPERATES AND THE OPPORTUNITIES WITHIN THAT MARKET.</a:t>
            </a:r>
          </a:p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endParaRPr lang="en-US" sz="1800" b="1" u="none" strike="noStrike" spc="-39">
              <a:solidFill>
                <a:srgbClr val="E3FFFD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 spc="-39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 HELPS EXPLAIN THE DEMAND FOR THE PRODUCT AND THE POTENTIAL USERS IT CAN SERVE.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78822" y="471676"/>
            <a:ext cx="3126851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37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LINGOLEDGER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09742" y="471676"/>
            <a:ext cx="375029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b="1" spc="-35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LANDSCAPE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836489" y="4913939"/>
            <a:ext cx="395659" cy="395659"/>
          </a:xfrm>
          <a:custGeom>
            <a:avLst/>
            <a:gdLst/>
            <a:ahLst/>
            <a:cxnLst/>
            <a:rect l="l" t="t" r="r" b="b"/>
            <a:pathLst>
              <a:path w="395659" h="395659">
                <a:moveTo>
                  <a:pt x="0" y="0"/>
                </a:moveTo>
                <a:lnTo>
                  <a:pt x="395659" y="0"/>
                </a:lnTo>
                <a:lnTo>
                  <a:pt x="395659" y="395660"/>
                </a:lnTo>
                <a:lnTo>
                  <a:pt x="0" y="395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222179" y="-197137"/>
            <a:ext cx="18788130" cy="4308758"/>
            <a:chOff x="0" y="0"/>
            <a:chExt cx="4948314" cy="1134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48314" cy="1134817"/>
            </a:xfrm>
            <a:custGeom>
              <a:avLst/>
              <a:gdLst/>
              <a:ahLst/>
              <a:cxnLst/>
              <a:rect l="l" t="t" r="r" b="b"/>
              <a:pathLst>
                <a:path w="4948314" h="1134817">
                  <a:moveTo>
                    <a:pt x="0" y="0"/>
                  </a:moveTo>
                  <a:lnTo>
                    <a:pt x="4948314" y="0"/>
                  </a:lnTo>
                  <a:lnTo>
                    <a:pt x="4948314" y="1134817"/>
                  </a:lnTo>
                  <a:lnTo>
                    <a:pt x="0" y="1134817"/>
                  </a:lnTo>
                  <a:close/>
                </a:path>
              </a:pathLst>
            </a:custGeom>
            <a:solidFill>
              <a:srgbClr val="20B66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948314" cy="1163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20989" y="7216029"/>
            <a:ext cx="3819525" cy="837415"/>
            <a:chOff x="0" y="0"/>
            <a:chExt cx="1005965" cy="22055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5965" cy="220554"/>
            </a:xfrm>
            <a:custGeom>
              <a:avLst/>
              <a:gdLst/>
              <a:ahLst/>
              <a:cxnLst/>
              <a:rect l="l" t="t" r="r" b="b"/>
              <a:pathLst>
                <a:path w="1005965" h="220554">
                  <a:moveTo>
                    <a:pt x="50673" y="0"/>
                  </a:moveTo>
                  <a:lnTo>
                    <a:pt x="955292" y="0"/>
                  </a:lnTo>
                  <a:cubicBezTo>
                    <a:pt x="983278" y="0"/>
                    <a:pt x="1005965" y="22687"/>
                    <a:pt x="1005965" y="50673"/>
                  </a:cubicBezTo>
                  <a:lnTo>
                    <a:pt x="1005965" y="169880"/>
                  </a:lnTo>
                  <a:cubicBezTo>
                    <a:pt x="1005965" y="197866"/>
                    <a:pt x="983278" y="220554"/>
                    <a:pt x="955292" y="220554"/>
                  </a:cubicBezTo>
                  <a:lnTo>
                    <a:pt x="50673" y="220554"/>
                  </a:lnTo>
                  <a:cubicBezTo>
                    <a:pt x="37234" y="220554"/>
                    <a:pt x="24345" y="215215"/>
                    <a:pt x="14842" y="205712"/>
                  </a:cubicBezTo>
                  <a:cubicBezTo>
                    <a:pt x="5339" y="196209"/>
                    <a:pt x="0" y="183320"/>
                    <a:pt x="0" y="169880"/>
                  </a:cubicBezTo>
                  <a:lnTo>
                    <a:pt x="0" y="50673"/>
                  </a:lnTo>
                  <a:cubicBezTo>
                    <a:pt x="0" y="22687"/>
                    <a:pt x="22687" y="0"/>
                    <a:pt x="5067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E3FFF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05965" cy="25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-39">
                  <a:solidFill>
                    <a:srgbClr val="E3FFF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INTERNATIONAL EDUCATION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20989" y="8301094"/>
            <a:ext cx="3819525" cy="837415"/>
            <a:chOff x="0" y="0"/>
            <a:chExt cx="1005965" cy="2205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05965" cy="220554"/>
            </a:xfrm>
            <a:custGeom>
              <a:avLst/>
              <a:gdLst/>
              <a:ahLst/>
              <a:cxnLst/>
              <a:rect l="l" t="t" r="r" b="b"/>
              <a:pathLst>
                <a:path w="1005965" h="220554">
                  <a:moveTo>
                    <a:pt x="50673" y="0"/>
                  </a:moveTo>
                  <a:lnTo>
                    <a:pt x="955292" y="0"/>
                  </a:lnTo>
                  <a:cubicBezTo>
                    <a:pt x="983278" y="0"/>
                    <a:pt x="1005965" y="22687"/>
                    <a:pt x="1005965" y="50673"/>
                  </a:cubicBezTo>
                  <a:lnTo>
                    <a:pt x="1005965" y="169880"/>
                  </a:lnTo>
                  <a:cubicBezTo>
                    <a:pt x="1005965" y="197866"/>
                    <a:pt x="983278" y="220554"/>
                    <a:pt x="955292" y="220554"/>
                  </a:cubicBezTo>
                  <a:lnTo>
                    <a:pt x="50673" y="220554"/>
                  </a:lnTo>
                  <a:cubicBezTo>
                    <a:pt x="37234" y="220554"/>
                    <a:pt x="24345" y="215215"/>
                    <a:pt x="14842" y="205712"/>
                  </a:cubicBezTo>
                  <a:cubicBezTo>
                    <a:pt x="5339" y="196209"/>
                    <a:pt x="0" y="183320"/>
                    <a:pt x="0" y="169880"/>
                  </a:cubicBezTo>
                  <a:lnTo>
                    <a:pt x="0" y="50673"/>
                  </a:lnTo>
                  <a:cubicBezTo>
                    <a:pt x="0" y="22687"/>
                    <a:pt x="22687" y="0"/>
                    <a:pt x="5067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E3FFF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05965" cy="25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-39">
                  <a:solidFill>
                    <a:srgbClr val="E3FFF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DIGITAL BUDGET MANAGEMENT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278639" y="7216029"/>
            <a:ext cx="3581400" cy="837415"/>
            <a:chOff x="0" y="0"/>
            <a:chExt cx="943249" cy="2205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3249" cy="220554"/>
            </a:xfrm>
            <a:custGeom>
              <a:avLst/>
              <a:gdLst/>
              <a:ahLst/>
              <a:cxnLst/>
              <a:rect l="l" t="t" r="r" b="b"/>
              <a:pathLst>
                <a:path w="943249" h="220554">
                  <a:moveTo>
                    <a:pt x="54043" y="0"/>
                  </a:moveTo>
                  <a:lnTo>
                    <a:pt x="889207" y="0"/>
                  </a:lnTo>
                  <a:cubicBezTo>
                    <a:pt x="903540" y="0"/>
                    <a:pt x="917286" y="5694"/>
                    <a:pt x="927421" y="15829"/>
                  </a:cubicBezTo>
                  <a:cubicBezTo>
                    <a:pt x="937556" y="25964"/>
                    <a:pt x="943249" y="39710"/>
                    <a:pt x="943249" y="54043"/>
                  </a:cubicBezTo>
                  <a:lnTo>
                    <a:pt x="943249" y="166511"/>
                  </a:lnTo>
                  <a:cubicBezTo>
                    <a:pt x="943249" y="196358"/>
                    <a:pt x="919054" y="220554"/>
                    <a:pt x="889207" y="220554"/>
                  </a:cubicBezTo>
                  <a:lnTo>
                    <a:pt x="54043" y="220554"/>
                  </a:lnTo>
                  <a:cubicBezTo>
                    <a:pt x="39710" y="220554"/>
                    <a:pt x="25964" y="214860"/>
                    <a:pt x="15829" y="204725"/>
                  </a:cubicBezTo>
                  <a:cubicBezTo>
                    <a:pt x="5694" y="194590"/>
                    <a:pt x="0" y="180844"/>
                    <a:pt x="0" y="166511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E3FFF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43249" cy="25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-39">
                  <a:solidFill>
                    <a:srgbClr val="E3FFF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STUDENT LIFESTYLE APPS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278639" y="8301094"/>
            <a:ext cx="3581400" cy="837415"/>
            <a:chOff x="0" y="0"/>
            <a:chExt cx="943249" cy="2205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3249" cy="220554"/>
            </a:xfrm>
            <a:custGeom>
              <a:avLst/>
              <a:gdLst/>
              <a:ahLst/>
              <a:cxnLst/>
              <a:rect l="l" t="t" r="r" b="b"/>
              <a:pathLst>
                <a:path w="943249" h="220554">
                  <a:moveTo>
                    <a:pt x="54043" y="0"/>
                  </a:moveTo>
                  <a:lnTo>
                    <a:pt x="889207" y="0"/>
                  </a:lnTo>
                  <a:cubicBezTo>
                    <a:pt x="903540" y="0"/>
                    <a:pt x="917286" y="5694"/>
                    <a:pt x="927421" y="15829"/>
                  </a:cubicBezTo>
                  <a:cubicBezTo>
                    <a:pt x="937556" y="25964"/>
                    <a:pt x="943249" y="39710"/>
                    <a:pt x="943249" y="54043"/>
                  </a:cubicBezTo>
                  <a:lnTo>
                    <a:pt x="943249" y="166511"/>
                  </a:lnTo>
                  <a:cubicBezTo>
                    <a:pt x="943249" y="196358"/>
                    <a:pt x="919054" y="220554"/>
                    <a:pt x="889207" y="220554"/>
                  </a:cubicBezTo>
                  <a:lnTo>
                    <a:pt x="54043" y="220554"/>
                  </a:lnTo>
                  <a:cubicBezTo>
                    <a:pt x="39710" y="220554"/>
                    <a:pt x="25964" y="214860"/>
                    <a:pt x="15829" y="204725"/>
                  </a:cubicBezTo>
                  <a:cubicBezTo>
                    <a:pt x="5694" y="194590"/>
                    <a:pt x="0" y="180844"/>
                    <a:pt x="0" y="166511"/>
                  </a:cubicBezTo>
                  <a:lnTo>
                    <a:pt x="0" y="54043"/>
                  </a:lnTo>
                  <a:cubicBezTo>
                    <a:pt x="0" y="24196"/>
                    <a:pt x="24196" y="0"/>
                    <a:pt x="5404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E3FFF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43249" cy="25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-39">
                  <a:solidFill>
                    <a:srgbClr val="E3FFF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LANGUAGE LEARNING TECHNOLOGY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05765" y="4866314"/>
            <a:ext cx="3682757" cy="44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62"/>
              </a:lnSpc>
            </a:pPr>
            <a:r>
              <a:rPr lang="en-US" sz="2687" spc="-59">
                <a:solidFill>
                  <a:srgbClr val="E3FFFD"/>
                </a:solidFill>
                <a:latin typeface="Open Sauce"/>
                <a:ea typeface="Open Sauce"/>
                <a:cs typeface="Open Sauce"/>
                <a:sym typeface="Open Sauce"/>
              </a:rPr>
              <a:t>AS JUNE 2025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3409" y="1450992"/>
            <a:ext cx="16275814" cy="2081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20"/>
              </a:lnSpc>
            </a:pPr>
            <a:r>
              <a:rPr lang="en-US" sz="14323" b="1" spc="-716">
                <a:solidFill>
                  <a:srgbClr val="E3FFF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M</a:t>
            </a:r>
            <a:r>
              <a:rPr lang="en-US" sz="14323" b="1" u="none" strike="noStrike" spc="-716">
                <a:solidFill>
                  <a:srgbClr val="E3FFF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arket Overview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3409" y="5601711"/>
            <a:ext cx="8314038" cy="365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367"/>
              </a:lnSpc>
            </a:pPr>
            <a:r>
              <a:rPr lang="en-US" sz="25126" b="1" spc="-1256">
                <a:solidFill>
                  <a:srgbClr val="E3FFF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6.9M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90217" y="4571039"/>
            <a:ext cx="7639050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spc="-39">
                <a:solidFill>
                  <a:srgbClr val="E3FFFD"/>
                </a:solidFill>
                <a:latin typeface="Montserrat"/>
                <a:ea typeface="Montserrat"/>
                <a:cs typeface="Montserrat"/>
                <a:sym typeface="Montserrat"/>
              </a:rPr>
              <a:t>EVERY</a:t>
            </a:r>
            <a:r>
              <a:rPr lang="en-US" sz="1800" u="none" strike="noStrike" spc="-39">
                <a:solidFill>
                  <a:srgbClr val="E3FFFD"/>
                </a:solidFill>
                <a:latin typeface="Montserrat"/>
                <a:ea typeface="Montserrat"/>
                <a:cs typeface="Montserrat"/>
                <a:sym typeface="Montserrat"/>
              </a:rPr>
              <a:t> YEAR, MILLIONS OF STUDENTS CHOOSE TO STUDY ABROAD AND MUST ADAPT TO NEW LANGUAGES, FINANCIAL RESPONSIBILITIES, AND EVERYDAY CHALLENGES.</a:t>
            </a: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spc="-39">
                <a:solidFill>
                  <a:srgbClr val="E3FFFD"/>
                </a:solidFill>
                <a:latin typeface="Montserrat"/>
                <a:ea typeface="Montserrat"/>
                <a:cs typeface="Montserrat"/>
                <a:sym typeface="Montserrat"/>
              </a:rPr>
              <a:t>THIS CREATES STRONG DEMAND FOR DIGITAL TOOLS THAT HELP STUDENTS MANAGE THEIR MONEY, LEARN PRACTICAL LANGUAGE SKILLS, AND DISCOVER AFFORDABLE STUDENT SERVICES.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20989" y="6658919"/>
            <a:ext cx="40576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 spc="-39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INDUSTRY TRENDS: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409" y="471676"/>
            <a:ext cx="3126851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37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LINGOLEDGER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09742" y="471676"/>
            <a:ext cx="3750296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80"/>
              </a:lnSpc>
            </a:pPr>
            <a:r>
              <a:rPr lang="en-US" sz="1700" b="1" spc="-37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OVERVIEW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3409" y="9210675"/>
            <a:ext cx="4500474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37">
                <a:solidFill>
                  <a:srgbClr val="E3FFFD"/>
                </a:solidFill>
                <a:latin typeface="Arimo Bold"/>
                <a:ea typeface="Arimo Bold"/>
                <a:cs typeface="Arimo Bold"/>
                <a:sym typeface="Arimo Bold"/>
              </a:rPr>
              <a:t>(GLOBAL QUALIFICATIONS RECOGNITION IN ACTION - VIELKY’S STORY, 2020)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4C37">
                <a:alpha val="100000"/>
              </a:srgbClr>
            </a:gs>
            <a:gs pos="100000">
              <a:srgbClr val="20B66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3409" y="4062958"/>
            <a:ext cx="5434800" cy="3925945"/>
            <a:chOff x="0" y="0"/>
            <a:chExt cx="7246400" cy="523459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l="11584" r="11584"/>
            <a:stretch>
              <a:fillRect/>
            </a:stretch>
          </p:blipFill>
          <p:spPr>
            <a:xfrm>
              <a:off x="0" y="0"/>
              <a:ext cx="7246400" cy="5234593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6427022" y="4062958"/>
            <a:ext cx="5434800" cy="3925945"/>
            <a:chOff x="0" y="0"/>
            <a:chExt cx="7246400" cy="5234593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1841" b="1841"/>
            <a:stretch>
              <a:fillRect/>
            </a:stretch>
          </p:blipFill>
          <p:spPr>
            <a:xfrm>
              <a:off x="0" y="0"/>
              <a:ext cx="7246400" cy="5234593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12309791" y="4062958"/>
            <a:ext cx="5434800" cy="3925945"/>
            <a:chOff x="0" y="0"/>
            <a:chExt cx="7246400" cy="5234593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/>
            <a:srcRect l="11293" r="11293"/>
            <a:stretch>
              <a:fillRect/>
            </a:stretch>
          </p:blipFill>
          <p:spPr>
            <a:xfrm>
              <a:off x="0" y="0"/>
              <a:ext cx="7246400" cy="5234593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543409" y="8175556"/>
            <a:ext cx="5434800" cy="837415"/>
            <a:chOff x="0" y="0"/>
            <a:chExt cx="1431388" cy="2205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1388" cy="220554"/>
            </a:xfrm>
            <a:custGeom>
              <a:avLst/>
              <a:gdLst/>
              <a:ahLst/>
              <a:cxnLst/>
              <a:rect l="l" t="t" r="r" b="b"/>
              <a:pathLst>
                <a:path w="1431388" h="220554">
                  <a:moveTo>
                    <a:pt x="35613" y="0"/>
                  </a:moveTo>
                  <a:lnTo>
                    <a:pt x="1395775" y="0"/>
                  </a:lnTo>
                  <a:cubicBezTo>
                    <a:pt x="1405220" y="0"/>
                    <a:pt x="1414278" y="3752"/>
                    <a:pt x="1420957" y="10431"/>
                  </a:cubicBezTo>
                  <a:cubicBezTo>
                    <a:pt x="1427636" y="17109"/>
                    <a:pt x="1431388" y="26168"/>
                    <a:pt x="1431388" y="35613"/>
                  </a:cubicBezTo>
                  <a:lnTo>
                    <a:pt x="1431388" y="184941"/>
                  </a:lnTo>
                  <a:cubicBezTo>
                    <a:pt x="1431388" y="204609"/>
                    <a:pt x="1415443" y="220554"/>
                    <a:pt x="1395775" y="220554"/>
                  </a:cubicBezTo>
                  <a:lnTo>
                    <a:pt x="35613" y="220554"/>
                  </a:lnTo>
                  <a:cubicBezTo>
                    <a:pt x="26168" y="220554"/>
                    <a:pt x="17109" y="216802"/>
                    <a:pt x="10431" y="210123"/>
                  </a:cubicBezTo>
                  <a:cubicBezTo>
                    <a:pt x="3752" y="203444"/>
                    <a:pt x="0" y="194386"/>
                    <a:pt x="0" y="184941"/>
                  </a:cubicBezTo>
                  <a:lnTo>
                    <a:pt x="0" y="35613"/>
                  </a:lnTo>
                  <a:cubicBezTo>
                    <a:pt x="0" y="26168"/>
                    <a:pt x="3752" y="17109"/>
                    <a:pt x="10431" y="10431"/>
                  </a:cubicBezTo>
                  <a:cubicBezTo>
                    <a:pt x="17109" y="3752"/>
                    <a:pt x="26168" y="0"/>
                    <a:pt x="3561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E3FFF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1388" cy="25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-39">
                  <a:solidFill>
                    <a:srgbClr val="E3FFF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“FREE LANGUAGE EDUCATION FOR THE WORLD”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27022" y="8175556"/>
            <a:ext cx="5434800" cy="837415"/>
            <a:chOff x="0" y="0"/>
            <a:chExt cx="1431388" cy="2205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1388" cy="220554"/>
            </a:xfrm>
            <a:custGeom>
              <a:avLst/>
              <a:gdLst/>
              <a:ahLst/>
              <a:cxnLst/>
              <a:rect l="l" t="t" r="r" b="b"/>
              <a:pathLst>
                <a:path w="1431388" h="220554">
                  <a:moveTo>
                    <a:pt x="35613" y="0"/>
                  </a:moveTo>
                  <a:lnTo>
                    <a:pt x="1395775" y="0"/>
                  </a:lnTo>
                  <a:cubicBezTo>
                    <a:pt x="1405220" y="0"/>
                    <a:pt x="1414278" y="3752"/>
                    <a:pt x="1420957" y="10431"/>
                  </a:cubicBezTo>
                  <a:cubicBezTo>
                    <a:pt x="1427636" y="17109"/>
                    <a:pt x="1431388" y="26168"/>
                    <a:pt x="1431388" y="35613"/>
                  </a:cubicBezTo>
                  <a:lnTo>
                    <a:pt x="1431388" y="184941"/>
                  </a:lnTo>
                  <a:cubicBezTo>
                    <a:pt x="1431388" y="204609"/>
                    <a:pt x="1415443" y="220554"/>
                    <a:pt x="1395775" y="220554"/>
                  </a:cubicBezTo>
                  <a:lnTo>
                    <a:pt x="35613" y="220554"/>
                  </a:lnTo>
                  <a:cubicBezTo>
                    <a:pt x="26168" y="220554"/>
                    <a:pt x="17109" y="216802"/>
                    <a:pt x="10431" y="210123"/>
                  </a:cubicBezTo>
                  <a:cubicBezTo>
                    <a:pt x="3752" y="203444"/>
                    <a:pt x="0" y="194386"/>
                    <a:pt x="0" y="184941"/>
                  </a:cubicBezTo>
                  <a:lnTo>
                    <a:pt x="0" y="35613"/>
                  </a:lnTo>
                  <a:cubicBezTo>
                    <a:pt x="0" y="26168"/>
                    <a:pt x="3752" y="17109"/>
                    <a:pt x="10431" y="10431"/>
                  </a:cubicBezTo>
                  <a:cubicBezTo>
                    <a:pt x="17109" y="3752"/>
                    <a:pt x="26168" y="0"/>
                    <a:pt x="3561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E3FFF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31388" cy="25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-39">
                  <a:solidFill>
                    <a:srgbClr val="E3FFF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"SPLIT BILLS, IOUS, AND OTHER EXPENSES WITH YOUR FRIENDS, STRESS-FREE"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09791" y="8175556"/>
            <a:ext cx="5434800" cy="837415"/>
            <a:chOff x="0" y="0"/>
            <a:chExt cx="1431388" cy="2205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31388" cy="220554"/>
            </a:xfrm>
            <a:custGeom>
              <a:avLst/>
              <a:gdLst/>
              <a:ahLst/>
              <a:cxnLst/>
              <a:rect l="l" t="t" r="r" b="b"/>
              <a:pathLst>
                <a:path w="1431388" h="220554">
                  <a:moveTo>
                    <a:pt x="35613" y="0"/>
                  </a:moveTo>
                  <a:lnTo>
                    <a:pt x="1395775" y="0"/>
                  </a:lnTo>
                  <a:cubicBezTo>
                    <a:pt x="1405220" y="0"/>
                    <a:pt x="1414278" y="3752"/>
                    <a:pt x="1420957" y="10431"/>
                  </a:cubicBezTo>
                  <a:cubicBezTo>
                    <a:pt x="1427636" y="17109"/>
                    <a:pt x="1431388" y="26168"/>
                    <a:pt x="1431388" y="35613"/>
                  </a:cubicBezTo>
                  <a:lnTo>
                    <a:pt x="1431388" y="184941"/>
                  </a:lnTo>
                  <a:cubicBezTo>
                    <a:pt x="1431388" y="204609"/>
                    <a:pt x="1415443" y="220554"/>
                    <a:pt x="1395775" y="220554"/>
                  </a:cubicBezTo>
                  <a:lnTo>
                    <a:pt x="35613" y="220554"/>
                  </a:lnTo>
                  <a:cubicBezTo>
                    <a:pt x="26168" y="220554"/>
                    <a:pt x="17109" y="216802"/>
                    <a:pt x="10431" y="210123"/>
                  </a:cubicBezTo>
                  <a:cubicBezTo>
                    <a:pt x="3752" y="203444"/>
                    <a:pt x="0" y="194386"/>
                    <a:pt x="0" y="184941"/>
                  </a:cubicBezTo>
                  <a:lnTo>
                    <a:pt x="0" y="35613"/>
                  </a:lnTo>
                  <a:cubicBezTo>
                    <a:pt x="0" y="26168"/>
                    <a:pt x="3752" y="17109"/>
                    <a:pt x="10431" y="10431"/>
                  </a:cubicBezTo>
                  <a:cubicBezTo>
                    <a:pt x="17109" y="3752"/>
                    <a:pt x="26168" y="0"/>
                    <a:pt x="35613" y="0"/>
                  </a:cubicBezTo>
                  <a:close/>
                </a:path>
              </a:pathLst>
            </a:custGeom>
            <a:solidFill>
              <a:srgbClr val="004AAD"/>
            </a:solidFill>
            <a:ln w="19050" cap="rnd">
              <a:solidFill>
                <a:srgbClr val="E3FFFD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31388" cy="25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spc="-39">
                  <a:solidFill>
                    <a:srgbClr val="E3FFF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"BIG SAVINGS WITH STUDENT DISCOUNTS"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43409" y="1491640"/>
            <a:ext cx="12480304" cy="191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297"/>
              </a:lnSpc>
            </a:pPr>
            <a:r>
              <a:rPr lang="en-US" sz="13223" b="1" spc="-661">
                <a:solidFill>
                  <a:srgbClr val="E3FFF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Comp</a:t>
            </a:r>
            <a:r>
              <a:rPr lang="en-US" sz="13223" b="1" u="none" strike="noStrike" spc="-661">
                <a:solidFill>
                  <a:srgbClr val="E3FFFD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etitors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09004" y="2066875"/>
            <a:ext cx="3401117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 spc="-39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SNAPSHOT OF THE CURRENT COMPETITIVE LANDSCAPE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3409" y="471676"/>
            <a:ext cx="3126851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 spc="-35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LINGOLEDGER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09742" y="471676"/>
            <a:ext cx="375029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b="1" spc="-35">
                <a:solidFill>
                  <a:srgbClr val="E3FFF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COMPETITORS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7ABAB">
                <a:alpha val="100000"/>
              </a:srgbClr>
            </a:gs>
            <a:gs pos="100000">
              <a:srgbClr val="72D3DD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02329"/>
            <a:ext cx="16230600" cy="5755971"/>
            <a:chOff x="0" y="0"/>
            <a:chExt cx="14701054" cy="5213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01055" cy="5213538"/>
            </a:xfrm>
            <a:custGeom>
              <a:avLst/>
              <a:gdLst/>
              <a:ahLst/>
              <a:cxnLst/>
              <a:rect l="l" t="t" r="r" b="b"/>
              <a:pathLst>
                <a:path w="14701055" h="5213538">
                  <a:moveTo>
                    <a:pt x="14576594" y="5213537"/>
                  </a:moveTo>
                  <a:lnTo>
                    <a:pt x="124460" y="5213537"/>
                  </a:lnTo>
                  <a:cubicBezTo>
                    <a:pt x="55880" y="5213537"/>
                    <a:pt x="0" y="5157657"/>
                    <a:pt x="0" y="50890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576594" y="0"/>
                  </a:lnTo>
                  <a:cubicBezTo>
                    <a:pt x="14645174" y="0"/>
                    <a:pt x="14701055" y="55880"/>
                    <a:pt x="14701055" y="124460"/>
                  </a:cubicBezTo>
                  <a:lnTo>
                    <a:pt x="14701055" y="5089077"/>
                  </a:lnTo>
                  <a:cubicBezTo>
                    <a:pt x="14701055" y="5157657"/>
                    <a:pt x="14645174" y="5213538"/>
                    <a:pt x="14576594" y="5213538"/>
                  </a:cubicBezTo>
                  <a:close/>
                </a:path>
              </a:pathLst>
            </a:custGeom>
            <a:solidFill>
              <a:srgbClr val="EDF0F2">
                <a:alpha val="60000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21164" y="3170239"/>
            <a:ext cx="6245673" cy="664180"/>
            <a:chOff x="0" y="0"/>
            <a:chExt cx="17792363" cy="18920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791098" cy="1892340"/>
            </a:xfrm>
            <a:custGeom>
              <a:avLst/>
              <a:gdLst/>
              <a:ahLst/>
              <a:cxnLst/>
              <a:rect l="l" t="t" r="r" b="b"/>
              <a:pathLst>
                <a:path w="17791098" h="1892340">
                  <a:moveTo>
                    <a:pt x="17170064" y="1420914"/>
                  </a:moveTo>
                  <a:cubicBezTo>
                    <a:pt x="17170064" y="1414564"/>
                    <a:pt x="17171333" y="1409484"/>
                    <a:pt x="17171333" y="1401864"/>
                  </a:cubicBezTo>
                  <a:lnTo>
                    <a:pt x="17171333" y="490220"/>
                  </a:lnTo>
                  <a:cubicBezTo>
                    <a:pt x="17171333" y="220980"/>
                    <a:pt x="16961783" y="0"/>
                    <a:pt x="16705244" y="0"/>
                  </a:cubicBezTo>
                  <a:lnTo>
                    <a:pt x="467360" y="0"/>
                  </a:lnTo>
                  <a:cubicBezTo>
                    <a:pt x="210820" y="0"/>
                    <a:pt x="0" y="220980"/>
                    <a:pt x="0" y="490220"/>
                  </a:cubicBezTo>
                  <a:lnTo>
                    <a:pt x="0" y="1401864"/>
                  </a:lnTo>
                  <a:cubicBezTo>
                    <a:pt x="0" y="1671104"/>
                    <a:pt x="209550" y="1892084"/>
                    <a:pt x="466090" y="1892084"/>
                  </a:cubicBezTo>
                  <a:lnTo>
                    <a:pt x="16703974" y="1892084"/>
                  </a:lnTo>
                  <a:cubicBezTo>
                    <a:pt x="16817003" y="1892084"/>
                    <a:pt x="16921144" y="1848904"/>
                    <a:pt x="17001153" y="1779054"/>
                  </a:cubicBezTo>
                  <a:cubicBezTo>
                    <a:pt x="17131964" y="1850174"/>
                    <a:pt x="17444383" y="1991144"/>
                    <a:pt x="17791094" y="1784134"/>
                  </a:cubicBezTo>
                  <a:cubicBezTo>
                    <a:pt x="17792364" y="1784134"/>
                    <a:pt x="17479944" y="1785404"/>
                    <a:pt x="17170064" y="1420914"/>
                  </a:cubicBezTo>
                  <a:close/>
                </a:path>
              </a:pathLst>
            </a:custGeom>
            <a:solidFill>
              <a:srgbClr val="35A1F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5857777" y="5143500"/>
            <a:ext cx="1803201" cy="3909378"/>
          </a:xfrm>
          <a:custGeom>
            <a:avLst/>
            <a:gdLst/>
            <a:ahLst/>
            <a:cxnLst/>
            <a:rect l="l" t="t" r="r" b="b"/>
            <a:pathLst>
              <a:path w="1803201" h="3909378">
                <a:moveTo>
                  <a:pt x="0" y="0"/>
                </a:moveTo>
                <a:lnTo>
                  <a:pt x="1803201" y="0"/>
                </a:lnTo>
                <a:lnTo>
                  <a:pt x="1803201" y="3909378"/>
                </a:lnTo>
                <a:lnTo>
                  <a:pt x="0" y="3909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4552997" y="4854862"/>
            <a:ext cx="2070466" cy="4031058"/>
          </a:xfrm>
          <a:custGeom>
            <a:avLst/>
            <a:gdLst/>
            <a:ahLst/>
            <a:cxnLst/>
            <a:rect l="l" t="t" r="r" b="b"/>
            <a:pathLst>
              <a:path w="2070466" h="4031058">
                <a:moveTo>
                  <a:pt x="0" y="0"/>
                </a:moveTo>
                <a:lnTo>
                  <a:pt x="2070467" y="0"/>
                </a:lnTo>
                <a:lnTo>
                  <a:pt x="2070467" y="4031059"/>
                </a:lnTo>
                <a:lnTo>
                  <a:pt x="0" y="4031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90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0331989" y="4129694"/>
            <a:ext cx="1951668" cy="3735783"/>
          </a:xfrm>
          <a:custGeom>
            <a:avLst/>
            <a:gdLst/>
            <a:ahLst/>
            <a:cxnLst/>
            <a:rect l="l" t="t" r="r" b="b"/>
            <a:pathLst>
              <a:path w="1951668" h="3735783">
                <a:moveTo>
                  <a:pt x="0" y="0"/>
                </a:moveTo>
                <a:lnTo>
                  <a:pt x="1951668" y="0"/>
                </a:lnTo>
                <a:lnTo>
                  <a:pt x="1951668" y="3735784"/>
                </a:lnTo>
                <a:lnTo>
                  <a:pt x="0" y="3735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078" b="-2107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2057322" y="3834419"/>
            <a:ext cx="1842397" cy="3994356"/>
          </a:xfrm>
          <a:custGeom>
            <a:avLst/>
            <a:gdLst/>
            <a:ahLst/>
            <a:cxnLst/>
            <a:rect l="l" t="t" r="r" b="b"/>
            <a:pathLst>
              <a:path w="1842397" h="3994356">
                <a:moveTo>
                  <a:pt x="0" y="0"/>
                </a:moveTo>
                <a:lnTo>
                  <a:pt x="1842397" y="0"/>
                </a:lnTo>
                <a:lnTo>
                  <a:pt x="1842397" y="3994357"/>
                </a:lnTo>
                <a:lnTo>
                  <a:pt x="0" y="39943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028700" y="990600"/>
            <a:ext cx="777380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b="1">
                <a:solidFill>
                  <a:srgbClr val="1754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“The free, fun,</a:t>
            </a:r>
            <a:r>
              <a:rPr lang="en-US" sz="2100" b="1" u="none">
                <a:solidFill>
                  <a:srgbClr val="1754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and effective way to learn a language.”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20663" y="1959747"/>
            <a:ext cx="5846674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spc="-48">
                <a:solidFill>
                  <a:srgbClr val="00BF63"/>
                </a:solidFill>
                <a:latin typeface="Bungee"/>
                <a:ea typeface="Bungee"/>
                <a:cs typeface="Bungee"/>
                <a:sym typeface="Bungee"/>
              </a:rPr>
              <a:t>DUOLINGO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96439" y="3283889"/>
            <a:ext cx="618129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“Free language education for the world”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188" y="8041004"/>
            <a:ext cx="5399539" cy="76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Gamified language</a:t>
            </a:r>
          </a:p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lessons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59608" y="4091594"/>
            <a:ext cx="5399539" cy="76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Daily practice and</a:t>
            </a:r>
          </a:p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streak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08054" y="8041004"/>
            <a:ext cx="5399539" cy="76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Multiple languages</a:t>
            </a:r>
          </a:p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available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88461" y="4286857"/>
            <a:ext cx="5399539" cy="37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Progress tracking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0B66F">
                <a:alpha val="100000"/>
              </a:srgbClr>
            </a:gs>
            <a:gs pos="100000">
              <a:srgbClr val="181818">
                <a:alpha val="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02329"/>
            <a:ext cx="16230600" cy="5755971"/>
            <a:chOff x="0" y="0"/>
            <a:chExt cx="14701054" cy="5213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01055" cy="5213538"/>
            </a:xfrm>
            <a:custGeom>
              <a:avLst/>
              <a:gdLst/>
              <a:ahLst/>
              <a:cxnLst/>
              <a:rect l="l" t="t" r="r" b="b"/>
              <a:pathLst>
                <a:path w="14701055" h="5213538">
                  <a:moveTo>
                    <a:pt x="14576594" y="5213537"/>
                  </a:moveTo>
                  <a:lnTo>
                    <a:pt x="124460" y="5213537"/>
                  </a:lnTo>
                  <a:cubicBezTo>
                    <a:pt x="55880" y="5213537"/>
                    <a:pt x="0" y="5157657"/>
                    <a:pt x="0" y="50890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576594" y="0"/>
                  </a:lnTo>
                  <a:cubicBezTo>
                    <a:pt x="14645174" y="0"/>
                    <a:pt x="14701055" y="55880"/>
                    <a:pt x="14701055" y="124460"/>
                  </a:cubicBezTo>
                  <a:lnTo>
                    <a:pt x="14701055" y="5089077"/>
                  </a:lnTo>
                  <a:cubicBezTo>
                    <a:pt x="14701055" y="5157657"/>
                    <a:pt x="14645174" y="5213538"/>
                    <a:pt x="14576594" y="5213538"/>
                  </a:cubicBezTo>
                  <a:close/>
                </a:path>
              </a:pathLst>
            </a:custGeom>
            <a:solidFill>
              <a:srgbClr val="EDF0F2">
                <a:alpha val="60000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21164" y="3170239"/>
            <a:ext cx="6245673" cy="664180"/>
            <a:chOff x="0" y="0"/>
            <a:chExt cx="17792363" cy="18920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791098" cy="1892340"/>
            </a:xfrm>
            <a:custGeom>
              <a:avLst/>
              <a:gdLst/>
              <a:ahLst/>
              <a:cxnLst/>
              <a:rect l="l" t="t" r="r" b="b"/>
              <a:pathLst>
                <a:path w="17791098" h="1892340">
                  <a:moveTo>
                    <a:pt x="17170064" y="1420914"/>
                  </a:moveTo>
                  <a:cubicBezTo>
                    <a:pt x="17170064" y="1414564"/>
                    <a:pt x="17171333" y="1409484"/>
                    <a:pt x="17171333" y="1401864"/>
                  </a:cubicBezTo>
                  <a:lnTo>
                    <a:pt x="17171333" y="490220"/>
                  </a:lnTo>
                  <a:cubicBezTo>
                    <a:pt x="17171333" y="220980"/>
                    <a:pt x="16961783" y="0"/>
                    <a:pt x="16705244" y="0"/>
                  </a:cubicBezTo>
                  <a:lnTo>
                    <a:pt x="467360" y="0"/>
                  </a:lnTo>
                  <a:cubicBezTo>
                    <a:pt x="210820" y="0"/>
                    <a:pt x="0" y="220980"/>
                    <a:pt x="0" y="490220"/>
                  </a:cubicBezTo>
                  <a:lnTo>
                    <a:pt x="0" y="1401864"/>
                  </a:lnTo>
                  <a:cubicBezTo>
                    <a:pt x="0" y="1671104"/>
                    <a:pt x="209550" y="1892084"/>
                    <a:pt x="466090" y="1892084"/>
                  </a:cubicBezTo>
                  <a:lnTo>
                    <a:pt x="16703974" y="1892084"/>
                  </a:lnTo>
                  <a:cubicBezTo>
                    <a:pt x="16817003" y="1892084"/>
                    <a:pt x="16921144" y="1848904"/>
                    <a:pt x="17001153" y="1779054"/>
                  </a:cubicBezTo>
                  <a:cubicBezTo>
                    <a:pt x="17131964" y="1850174"/>
                    <a:pt x="17444383" y="1991144"/>
                    <a:pt x="17791094" y="1784134"/>
                  </a:cubicBezTo>
                  <a:cubicBezTo>
                    <a:pt x="17792364" y="1784134"/>
                    <a:pt x="17479944" y="1785404"/>
                    <a:pt x="17170064" y="1420914"/>
                  </a:cubicBezTo>
                  <a:close/>
                </a:path>
              </a:pathLst>
            </a:custGeom>
            <a:solidFill>
              <a:srgbClr val="35A1F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6860145" y="4129694"/>
            <a:ext cx="2126939" cy="4623781"/>
          </a:xfrm>
          <a:custGeom>
            <a:avLst/>
            <a:gdLst/>
            <a:ahLst/>
            <a:cxnLst/>
            <a:rect l="l" t="t" r="r" b="b"/>
            <a:pathLst>
              <a:path w="2126939" h="4623781">
                <a:moveTo>
                  <a:pt x="0" y="0"/>
                </a:moveTo>
                <a:lnTo>
                  <a:pt x="2126940" y="0"/>
                </a:lnTo>
                <a:lnTo>
                  <a:pt x="2126940" y="4623781"/>
                </a:lnTo>
                <a:lnTo>
                  <a:pt x="0" y="4623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0071896" y="4129694"/>
            <a:ext cx="2125013" cy="4623781"/>
          </a:xfrm>
          <a:custGeom>
            <a:avLst/>
            <a:gdLst/>
            <a:ahLst/>
            <a:cxnLst/>
            <a:rect l="l" t="t" r="r" b="b"/>
            <a:pathLst>
              <a:path w="2125013" h="4623781">
                <a:moveTo>
                  <a:pt x="0" y="0"/>
                </a:moveTo>
                <a:lnTo>
                  <a:pt x="2125013" y="0"/>
                </a:lnTo>
                <a:lnTo>
                  <a:pt x="2125013" y="4623781"/>
                </a:lnTo>
                <a:lnTo>
                  <a:pt x="0" y="4623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3352686" y="4129694"/>
            <a:ext cx="2254093" cy="4623781"/>
          </a:xfrm>
          <a:custGeom>
            <a:avLst/>
            <a:gdLst/>
            <a:ahLst/>
            <a:cxnLst/>
            <a:rect l="l" t="t" r="r" b="b"/>
            <a:pathLst>
              <a:path w="2254093" h="4623781">
                <a:moveTo>
                  <a:pt x="0" y="0"/>
                </a:moveTo>
                <a:lnTo>
                  <a:pt x="2254094" y="0"/>
                </a:lnTo>
                <a:lnTo>
                  <a:pt x="2254094" y="4623781"/>
                </a:lnTo>
                <a:lnTo>
                  <a:pt x="0" y="4623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28700" y="990600"/>
            <a:ext cx="777380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b="1">
                <a:solidFill>
                  <a:srgbClr val="1754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“Less stress when</a:t>
            </a:r>
            <a:r>
              <a:rPr lang="en-US" sz="2100" b="1" u="none">
                <a:solidFill>
                  <a:srgbClr val="1754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sharing expenses.”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20663" y="1959747"/>
            <a:ext cx="5846674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spc="-48">
                <a:solidFill>
                  <a:srgbClr val="100F0D"/>
                </a:solidFill>
                <a:latin typeface="Bungee"/>
                <a:ea typeface="Bungee"/>
                <a:cs typeface="Bungee"/>
                <a:sym typeface="Bungee"/>
              </a:rPr>
              <a:t>splitwise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96439" y="3283889"/>
            <a:ext cx="618129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“Split bills,...”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3893" y="4091594"/>
            <a:ext cx="4607271" cy="193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96" lvl="1" indent="-237498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Track shared expenses with friends or roommates</a:t>
            </a:r>
          </a:p>
          <a:p>
            <a:pPr marL="474996" lvl="1" indent="-237498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Automatic bill splitting</a:t>
            </a:r>
          </a:p>
          <a:p>
            <a:pPr marL="474996" lvl="1" indent="-237498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Expense history and reports</a:t>
            </a:r>
          </a:p>
          <a:p>
            <a:pPr marL="474996" lvl="1" indent="-237498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Simple spending tracking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7ABAB">
                <a:alpha val="100000"/>
              </a:srgbClr>
            </a:gs>
            <a:gs pos="100000">
              <a:srgbClr val="72D3DD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02329"/>
            <a:ext cx="16230600" cy="5755971"/>
            <a:chOff x="0" y="0"/>
            <a:chExt cx="14701054" cy="5213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01055" cy="5213538"/>
            </a:xfrm>
            <a:custGeom>
              <a:avLst/>
              <a:gdLst/>
              <a:ahLst/>
              <a:cxnLst/>
              <a:rect l="l" t="t" r="r" b="b"/>
              <a:pathLst>
                <a:path w="14701055" h="5213538">
                  <a:moveTo>
                    <a:pt x="14576594" y="5213537"/>
                  </a:moveTo>
                  <a:lnTo>
                    <a:pt x="124460" y="5213537"/>
                  </a:lnTo>
                  <a:cubicBezTo>
                    <a:pt x="55880" y="5213537"/>
                    <a:pt x="0" y="5157657"/>
                    <a:pt x="0" y="50890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576594" y="0"/>
                  </a:lnTo>
                  <a:cubicBezTo>
                    <a:pt x="14645174" y="0"/>
                    <a:pt x="14701055" y="55880"/>
                    <a:pt x="14701055" y="124460"/>
                  </a:cubicBezTo>
                  <a:lnTo>
                    <a:pt x="14701055" y="5089077"/>
                  </a:lnTo>
                  <a:cubicBezTo>
                    <a:pt x="14701055" y="5157657"/>
                    <a:pt x="14645174" y="5213538"/>
                    <a:pt x="14576594" y="5213538"/>
                  </a:cubicBezTo>
                  <a:close/>
                </a:path>
              </a:pathLst>
            </a:custGeom>
            <a:solidFill>
              <a:srgbClr val="EDF0F2">
                <a:alpha val="60000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21164" y="3170239"/>
            <a:ext cx="6245673" cy="664180"/>
            <a:chOff x="0" y="0"/>
            <a:chExt cx="17792363" cy="18920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791098" cy="1892340"/>
            </a:xfrm>
            <a:custGeom>
              <a:avLst/>
              <a:gdLst/>
              <a:ahLst/>
              <a:cxnLst/>
              <a:rect l="l" t="t" r="r" b="b"/>
              <a:pathLst>
                <a:path w="17791098" h="1892340">
                  <a:moveTo>
                    <a:pt x="17170064" y="1420914"/>
                  </a:moveTo>
                  <a:cubicBezTo>
                    <a:pt x="17170064" y="1414564"/>
                    <a:pt x="17171333" y="1409484"/>
                    <a:pt x="17171333" y="1401864"/>
                  </a:cubicBezTo>
                  <a:lnTo>
                    <a:pt x="17171333" y="490220"/>
                  </a:lnTo>
                  <a:cubicBezTo>
                    <a:pt x="17171333" y="220980"/>
                    <a:pt x="16961783" y="0"/>
                    <a:pt x="16705244" y="0"/>
                  </a:cubicBezTo>
                  <a:lnTo>
                    <a:pt x="467360" y="0"/>
                  </a:lnTo>
                  <a:cubicBezTo>
                    <a:pt x="210820" y="0"/>
                    <a:pt x="0" y="220980"/>
                    <a:pt x="0" y="490220"/>
                  </a:cubicBezTo>
                  <a:lnTo>
                    <a:pt x="0" y="1401864"/>
                  </a:lnTo>
                  <a:cubicBezTo>
                    <a:pt x="0" y="1671104"/>
                    <a:pt x="209550" y="1892084"/>
                    <a:pt x="466090" y="1892084"/>
                  </a:cubicBezTo>
                  <a:lnTo>
                    <a:pt x="16703974" y="1892084"/>
                  </a:lnTo>
                  <a:cubicBezTo>
                    <a:pt x="16817003" y="1892084"/>
                    <a:pt x="16921144" y="1848904"/>
                    <a:pt x="17001153" y="1779054"/>
                  </a:cubicBezTo>
                  <a:cubicBezTo>
                    <a:pt x="17131964" y="1850174"/>
                    <a:pt x="17444383" y="1991144"/>
                    <a:pt x="17791094" y="1784134"/>
                  </a:cubicBezTo>
                  <a:cubicBezTo>
                    <a:pt x="17792364" y="1784134"/>
                    <a:pt x="17479944" y="1785404"/>
                    <a:pt x="17170064" y="1420914"/>
                  </a:cubicBezTo>
                  <a:close/>
                </a:path>
              </a:pathLst>
            </a:custGeom>
            <a:solidFill>
              <a:srgbClr val="35A1F4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2862810" y="4294766"/>
            <a:ext cx="2206023" cy="3836562"/>
          </a:xfrm>
          <a:custGeom>
            <a:avLst/>
            <a:gdLst/>
            <a:ahLst/>
            <a:cxnLst/>
            <a:rect l="l" t="t" r="r" b="b"/>
            <a:pathLst>
              <a:path w="2206023" h="3836562">
                <a:moveTo>
                  <a:pt x="0" y="0"/>
                </a:moveTo>
                <a:lnTo>
                  <a:pt x="2206024" y="0"/>
                </a:lnTo>
                <a:lnTo>
                  <a:pt x="2206024" y="3836562"/>
                </a:lnTo>
                <a:lnTo>
                  <a:pt x="0" y="383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6978496" y="3838216"/>
            <a:ext cx="4331009" cy="4293112"/>
          </a:xfrm>
          <a:custGeom>
            <a:avLst/>
            <a:gdLst/>
            <a:ahLst/>
            <a:cxnLst/>
            <a:rect l="l" t="t" r="r" b="b"/>
            <a:pathLst>
              <a:path w="4331009" h="4293112">
                <a:moveTo>
                  <a:pt x="0" y="0"/>
                </a:moveTo>
                <a:lnTo>
                  <a:pt x="4331008" y="0"/>
                </a:lnTo>
                <a:lnTo>
                  <a:pt x="4331008" y="4293112"/>
                </a:lnTo>
                <a:lnTo>
                  <a:pt x="0" y="42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3308630" y="4148547"/>
            <a:ext cx="2011229" cy="4129000"/>
          </a:xfrm>
          <a:custGeom>
            <a:avLst/>
            <a:gdLst/>
            <a:ahLst/>
            <a:cxnLst/>
            <a:rect l="l" t="t" r="r" b="b"/>
            <a:pathLst>
              <a:path w="2011229" h="4129000">
                <a:moveTo>
                  <a:pt x="0" y="0"/>
                </a:moveTo>
                <a:lnTo>
                  <a:pt x="2011229" y="0"/>
                </a:lnTo>
                <a:lnTo>
                  <a:pt x="2011229" y="4129000"/>
                </a:lnTo>
                <a:lnTo>
                  <a:pt x="0" y="41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554" r="-45974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28700" y="990600"/>
            <a:ext cx="777380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b="1">
                <a:solidFill>
                  <a:srgbClr val="1754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“The free, fun,</a:t>
            </a:r>
            <a:r>
              <a:rPr lang="en-US" sz="2100" b="1" u="none">
                <a:solidFill>
                  <a:srgbClr val="1754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and effective way to learn a language.”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20663" y="1959747"/>
            <a:ext cx="5846674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spc="-48">
                <a:solidFill>
                  <a:srgbClr val="00BF63"/>
                </a:solidFill>
                <a:latin typeface="Bungee"/>
                <a:ea typeface="Bungee"/>
                <a:cs typeface="Bungee"/>
                <a:sym typeface="Bungee"/>
              </a:rPr>
              <a:t>UNiDAYS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96439" y="3283889"/>
            <a:ext cx="618129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"Big Savings with Student Discounts"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6052" y="8194705"/>
            <a:ext cx="5399539" cy="7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Deals on fashion, technology,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food and services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44230" y="8194705"/>
            <a:ext cx="5399539" cy="7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Student verification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47549" y="8194705"/>
            <a:ext cx="2533392" cy="7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Mobile access to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exclusive offers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1751" y="567152"/>
            <a:ext cx="9628287" cy="9239172"/>
            <a:chOff x="0" y="0"/>
            <a:chExt cx="12837717" cy="1231889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l="14411" r="14411"/>
            <a:stretch>
              <a:fillRect/>
            </a:stretch>
          </p:blipFill>
          <p:spPr>
            <a:xfrm>
              <a:off x="0" y="0"/>
              <a:ext cx="12837717" cy="12318896"/>
            </a:xfrm>
            <a:prstGeom prst="rect">
              <a:avLst/>
            </a:prstGeom>
          </p:spPr>
        </p:pic>
      </p:grpSp>
      <p:sp>
        <p:nvSpPr>
          <p:cNvPr id="4" name="AutoShape 4"/>
          <p:cNvSpPr/>
          <p:nvPr/>
        </p:nvSpPr>
        <p:spPr>
          <a:xfrm>
            <a:off x="774573" y="4938750"/>
            <a:ext cx="7000537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774573" y="7119724"/>
            <a:ext cx="7000537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774573" y="6029237"/>
            <a:ext cx="7000537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6153470" y="8128829"/>
            <a:ext cx="1706569" cy="1698953"/>
            <a:chOff x="0" y="0"/>
            <a:chExt cx="449467" cy="4474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9467" cy="447461"/>
            </a:xfrm>
            <a:custGeom>
              <a:avLst/>
              <a:gdLst/>
              <a:ahLst/>
              <a:cxnLst/>
              <a:rect l="l" t="t" r="r" b="b"/>
              <a:pathLst>
                <a:path w="449467" h="447461">
                  <a:moveTo>
                    <a:pt x="136096" y="0"/>
                  </a:moveTo>
                  <a:lnTo>
                    <a:pt x="313370" y="0"/>
                  </a:lnTo>
                  <a:cubicBezTo>
                    <a:pt x="349465" y="0"/>
                    <a:pt x="384082" y="14339"/>
                    <a:pt x="409605" y="39862"/>
                  </a:cubicBezTo>
                  <a:cubicBezTo>
                    <a:pt x="435128" y="65385"/>
                    <a:pt x="449467" y="100001"/>
                    <a:pt x="449467" y="136096"/>
                  </a:cubicBezTo>
                  <a:lnTo>
                    <a:pt x="449467" y="311365"/>
                  </a:lnTo>
                  <a:cubicBezTo>
                    <a:pt x="449467" y="386528"/>
                    <a:pt x="388534" y="447461"/>
                    <a:pt x="313370" y="447461"/>
                  </a:cubicBezTo>
                  <a:lnTo>
                    <a:pt x="136096" y="447461"/>
                  </a:lnTo>
                  <a:cubicBezTo>
                    <a:pt x="100001" y="447461"/>
                    <a:pt x="65385" y="433122"/>
                    <a:pt x="39862" y="407599"/>
                  </a:cubicBezTo>
                  <a:cubicBezTo>
                    <a:pt x="14339" y="382076"/>
                    <a:pt x="0" y="347460"/>
                    <a:pt x="0" y="311365"/>
                  </a:cubicBezTo>
                  <a:lnTo>
                    <a:pt x="0" y="136096"/>
                  </a:lnTo>
                  <a:cubicBezTo>
                    <a:pt x="0" y="100001"/>
                    <a:pt x="14339" y="65385"/>
                    <a:pt x="39862" y="39862"/>
                  </a:cubicBezTo>
                  <a:cubicBezTo>
                    <a:pt x="65385" y="14339"/>
                    <a:pt x="100001" y="0"/>
                    <a:pt x="136096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449467" cy="476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53472" y="8725023"/>
            <a:ext cx="506564" cy="506564"/>
          </a:xfrm>
          <a:custGeom>
            <a:avLst/>
            <a:gdLst/>
            <a:ahLst/>
            <a:cxnLst/>
            <a:rect l="l" t="t" r="r" b="b"/>
            <a:pathLst>
              <a:path w="506564" h="506564">
                <a:moveTo>
                  <a:pt x="0" y="0"/>
                </a:moveTo>
                <a:lnTo>
                  <a:pt x="506564" y="0"/>
                </a:lnTo>
                <a:lnTo>
                  <a:pt x="506564" y="506564"/>
                </a:lnTo>
                <a:lnTo>
                  <a:pt x="0" y="506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543409" y="1480300"/>
            <a:ext cx="6986110" cy="1942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90"/>
              </a:lnSpc>
            </a:pPr>
            <a:r>
              <a:rPr lang="en-US" sz="13323" b="1" spc="-666">
                <a:solidFill>
                  <a:srgbClr val="004AAD"/>
                </a:solidFill>
                <a:latin typeface="Futura Bold"/>
                <a:ea typeface="Futura Bold"/>
                <a:cs typeface="Futura Bold"/>
                <a:sym typeface="Futura Bold"/>
              </a:rPr>
              <a:t>USP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4573" y="4394845"/>
            <a:ext cx="6265883" cy="33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4"/>
              </a:lnSpc>
              <a:spcBef>
                <a:spcPct val="0"/>
              </a:spcBef>
            </a:pPr>
            <a:r>
              <a:rPr lang="en-US" sz="1960" spc="-39">
                <a:solidFill>
                  <a:srgbClr val="004AAD"/>
                </a:solidFill>
                <a:latin typeface="Open Sauce"/>
                <a:ea typeface="Open Sauce"/>
                <a:cs typeface="Open Sauce"/>
                <a:sym typeface="Open Sauce"/>
              </a:rPr>
              <a:t>Track and m</a:t>
            </a:r>
            <a:r>
              <a:rPr lang="en-US" sz="1960" u="none" strike="noStrike" spc="-39">
                <a:solidFill>
                  <a:srgbClr val="004AAD"/>
                </a:solidFill>
                <a:latin typeface="Open Sauce"/>
                <a:ea typeface="Open Sauce"/>
                <a:cs typeface="Open Sauce"/>
                <a:sym typeface="Open Sauce"/>
              </a:rPr>
              <a:t>anage daily spending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4573" y="6575819"/>
            <a:ext cx="6265883" cy="33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1960" spc="-39">
                <a:solidFill>
                  <a:srgbClr val="004AAD"/>
                </a:solidFill>
                <a:latin typeface="Open Sauce"/>
                <a:ea typeface="Open Sauce"/>
                <a:cs typeface="Open Sauce"/>
                <a:sym typeface="Open Sauce"/>
              </a:rPr>
              <a:t>Find verified discounts and promotions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4573" y="5485332"/>
            <a:ext cx="6265883" cy="33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1960" spc="-39">
                <a:solidFill>
                  <a:srgbClr val="004AAD"/>
                </a:solidFill>
                <a:latin typeface="Open Sauce"/>
                <a:ea typeface="Open Sauce"/>
                <a:cs typeface="Open Sauce"/>
                <a:sym typeface="Open Sauce"/>
              </a:rPr>
              <a:t> Learn useful phrases for real-life situations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7512" y="4029238"/>
            <a:ext cx="6265883" cy="29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8"/>
              </a:lnSpc>
            </a:pPr>
            <a:r>
              <a:rPr lang="en-US" sz="1820" b="1" spc="-36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BUDGET MANAGEMENT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7512" y="6210212"/>
            <a:ext cx="6265883" cy="29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48"/>
              </a:lnSpc>
              <a:spcBef>
                <a:spcPct val="0"/>
              </a:spcBef>
            </a:pPr>
            <a:r>
              <a:rPr lang="en-US" sz="1820" b="1" spc="-36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STUDE</a:t>
            </a:r>
            <a:r>
              <a:rPr lang="en-US" sz="1820" b="1" u="none" strike="noStrike" spc="-36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NT DEALS DISCOVERY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7512" y="5119725"/>
            <a:ext cx="6265883" cy="29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48"/>
              </a:lnSpc>
              <a:spcBef>
                <a:spcPct val="0"/>
              </a:spcBef>
            </a:pPr>
            <a:r>
              <a:rPr lang="en-US" sz="1820" b="1" spc="-36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</a:t>
            </a:r>
            <a:r>
              <a:rPr lang="en-US" sz="1820" b="1" u="none" strike="noStrike" spc="-36">
                <a:solidFill>
                  <a:srgbClr val="004AA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RACTICAL LANGUAGE LEARNING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3409" y="471676"/>
            <a:ext cx="3126851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 spc="-35">
                <a:solidFill>
                  <a:srgbClr val="004AA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LINGOLEDGER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13422" y="2705395"/>
            <a:ext cx="312685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9">
                <a:solidFill>
                  <a:srgbClr val="6F84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UNIQUE SELLING POINT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482044" y="7557874"/>
            <a:ext cx="2850940" cy="1954201"/>
            <a:chOff x="0" y="0"/>
            <a:chExt cx="3801254" cy="2605601"/>
          </a:xfrm>
        </p:grpSpPr>
        <p:sp>
          <p:nvSpPr>
            <p:cNvPr id="21" name="TextBox 21"/>
            <p:cNvSpPr txBox="1"/>
            <p:nvPr/>
          </p:nvSpPr>
          <p:spPr>
            <a:xfrm>
              <a:off x="0" y="76200"/>
              <a:ext cx="1454269" cy="2529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926"/>
                </a:lnSpc>
              </a:pPr>
              <a:r>
                <a:rPr lang="en-US" sz="12823" spc="-641">
                  <a:solidFill>
                    <a:srgbClr val="FF5757"/>
                  </a:solidFill>
                  <a:latin typeface="Bungee"/>
                  <a:ea typeface="Bungee"/>
                  <a:cs typeface="Bungee"/>
                  <a:sym typeface="Bungee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46985" y="76200"/>
              <a:ext cx="1454269" cy="2529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926"/>
                </a:lnSpc>
              </a:pPr>
              <a:r>
                <a:rPr lang="en-US" sz="12823" spc="-641">
                  <a:solidFill>
                    <a:srgbClr val="FF5757"/>
                  </a:solidFill>
                  <a:latin typeface="Bungee"/>
                  <a:ea typeface="Bungee"/>
                  <a:cs typeface="Bungee"/>
                  <a:sym typeface="Bungee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02365" y="892725"/>
              <a:ext cx="1889240" cy="1411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96"/>
                </a:lnSpc>
              </a:pPr>
              <a:r>
                <a:rPr lang="en-US" sz="7200" b="1" spc="-359">
                  <a:solidFill>
                    <a:srgbClr val="FF5757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4C37">
                <a:alpha val="100000"/>
              </a:srgbClr>
            </a:gs>
            <a:gs pos="100000">
              <a:srgbClr val="20B66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58442" y="8730296"/>
            <a:ext cx="600858" cy="528004"/>
          </a:xfrm>
          <a:custGeom>
            <a:avLst/>
            <a:gdLst/>
            <a:ahLst/>
            <a:cxnLst/>
            <a:rect l="l" t="t" r="r" b="b"/>
            <a:pathLst>
              <a:path w="600858" h="528004">
                <a:moveTo>
                  <a:pt x="0" y="0"/>
                </a:moveTo>
                <a:lnTo>
                  <a:pt x="600858" y="0"/>
                </a:lnTo>
                <a:lnTo>
                  <a:pt x="600858" y="528004"/>
                </a:lnTo>
                <a:lnTo>
                  <a:pt x="0" y="528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028700" y="4001702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AutoShape 4"/>
          <p:cNvSpPr/>
          <p:nvPr/>
        </p:nvSpPr>
        <p:spPr>
          <a:xfrm>
            <a:off x="1028700" y="516255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1028700" y="6323398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028700" y="7484247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6272162" y="4274989"/>
            <a:ext cx="590819" cy="614273"/>
          </a:xfrm>
          <a:custGeom>
            <a:avLst/>
            <a:gdLst/>
            <a:ahLst/>
            <a:cxnLst/>
            <a:rect l="l" t="t" r="r" b="b"/>
            <a:pathLst>
              <a:path w="590819" h="614273">
                <a:moveTo>
                  <a:pt x="0" y="0"/>
                </a:moveTo>
                <a:lnTo>
                  <a:pt x="590819" y="0"/>
                </a:lnTo>
                <a:lnTo>
                  <a:pt x="590819" y="614273"/>
                </a:lnTo>
                <a:lnTo>
                  <a:pt x="0" y="614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9244106" y="5434850"/>
            <a:ext cx="590819" cy="614273"/>
          </a:xfrm>
          <a:custGeom>
            <a:avLst/>
            <a:gdLst/>
            <a:ahLst/>
            <a:cxnLst/>
            <a:rect l="l" t="t" r="r" b="b"/>
            <a:pathLst>
              <a:path w="590819" h="614273">
                <a:moveTo>
                  <a:pt x="0" y="0"/>
                </a:moveTo>
                <a:lnTo>
                  <a:pt x="590819" y="0"/>
                </a:lnTo>
                <a:lnTo>
                  <a:pt x="590819" y="614274"/>
                </a:lnTo>
                <a:lnTo>
                  <a:pt x="0" y="614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2216049" y="6594712"/>
            <a:ext cx="590819" cy="614273"/>
          </a:xfrm>
          <a:custGeom>
            <a:avLst/>
            <a:gdLst/>
            <a:ahLst/>
            <a:cxnLst/>
            <a:rect l="l" t="t" r="r" b="b"/>
            <a:pathLst>
              <a:path w="590819" h="614273">
                <a:moveTo>
                  <a:pt x="0" y="0"/>
                </a:moveTo>
                <a:lnTo>
                  <a:pt x="590819" y="0"/>
                </a:lnTo>
                <a:lnTo>
                  <a:pt x="590819" y="614273"/>
                </a:lnTo>
                <a:lnTo>
                  <a:pt x="0" y="614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5401816" y="7754573"/>
            <a:ext cx="590819" cy="614273"/>
          </a:xfrm>
          <a:custGeom>
            <a:avLst/>
            <a:gdLst/>
            <a:ahLst/>
            <a:cxnLst/>
            <a:rect l="l" t="t" r="r" b="b"/>
            <a:pathLst>
              <a:path w="590819" h="614273">
                <a:moveTo>
                  <a:pt x="0" y="0"/>
                </a:moveTo>
                <a:lnTo>
                  <a:pt x="590819" y="0"/>
                </a:lnTo>
                <a:lnTo>
                  <a:pt x="590819" y="614273"/>
                </a:lnTo>
                <a:lnTo>
                  <a:pt x="0" y="614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5401816" y="6594712"/>
            <a:ext cx="590819" cy="614273"/>
          </a:xfrm>
          <a:custGeom>
            <a:avLst/>
            <a:gdLst/>
            <a:ahLst/>
            <a:cxnLst/>
            <a:rect l="l" t="t" r="r" b="b"/>
            <a:pathLst>
              <a:path w="590819" h="614273">
                <a:moveTo>
                  <a:pt x="0" y="0"/>
                </a:moveTo>
                <a:lnTo>
                  <a:pt x="590819" y="0"/>
                </a:lnTo>
                <a:lnTo>
                  <a:pt x="590819" y="614273"/>
                </a:lnTo>
                <a:lnTo>
                  <a:pt x="0" y="614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15401816" y="5434850"/>
            <a:ext cx="590819" cy="614273"/>
          </a:xfrm>
          <a:custGeom>
            <a:avLst/>
            <a:gdLst/>
            <a:ahLst/>
            <a:cxnLst/>
            <a:rect l="l" t="t" r="r" b="b"/>
            <a:pathLst>
              <a:path w="590819" h="614273">
                <a:moveTo>
                  <a:pt x="0" y="0"/>
                </a:moveTo>
                <a:lnTo>
                  <a:pt x="590819" y="0"/>
                </a:lnTo>
                <a:lnTo>
                  <a:pt x="590819" y="614274"/>
                </a:lnTo>
                <a:lnTo>
                  <a:pt x="0" y="614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5401816" y="4274989"/>
            <a:ext cx="590819" cy="614273"/>
          </a:xfrm>
          <a:custGeom>
            <a:avLst/>
            <a:gdLst/>
            <a:ahLst/>
            <a:cxnLst/>
            <a:rect l="l" t="t" r="r" b="b"/>
            <a:pathLst>
              <a:path w="590819" h="614273">
                <a:moveTo>
                  <a:pt x="0" y="0"/>
                </a:moveTo>
                <a:lnTo>
                  <a:pt x="590819" y="0"/>
                </a:lnTo>
                <a:lnTo>
                  <a:pt x="590819" y="614273"/>
                </a:lnTo>
                <a:lnTo>
                  <a:pt x="0" y="614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6185505" y="5438775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7" y="0"/>
                </a:lnTo>
                <a:lnTo>
                  <a:pt x="642937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1028700" y="1415421"/>
            <a:ext cx="16230600" cy="116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</a:pPr>
            <a:r>
              <a:rPr lang="en-US" sz="7456" b="1">
                <a:solidFill>
                  <a:srgbClr val="FFFFFF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COMPARISON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315609"/>
            <a:ext cx="186690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FEATURES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75722" y="3315609"/>
            <a:ext cx="19837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DUOLINGO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18864" y="3315609"/>
            <a:ext cx="18413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SPLITWISE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22132" y="3315609"/>
            <a:ext cx="1841467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 err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UNiDAYS</a:t>
            </a:r>
            <a:endParaRPr lang="en-US" sz="2799" b="1" dirty="0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435579" y="3315609"/>
            <a:ext cx="252329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LINGOLEDGER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4383689"/>
            <a:ext cx="2245638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Language learning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2220" y="5557515"/>
            <a:ext cx="254377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Budget management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6704398"/>
            <a:ext cx="1631275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Student deals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2272" y="7863273"/>
            <a:ext cx="2238494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All-in-one platform</a:t>
            </a:r>
          </a:p>
        </p:txBody>
      </p:sp>
      <p:sp>
        <p:nvSpPr>
          <p:cNvPr id="25" name="Freeform 25"/>
          <p:cNvSpPr/>
          <p:nvPr/>
        </p:nvSpPr>
        <p:spPr>
          <a:xfrm>
            <a:off x="6185505" y="6599623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7" y="0"/>
                </a:lnTo>
                <a:lnTo>
                  <a:pt x="642937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6" name="Freeform 26"/>
          <p:cNvSpPr/>
          <p:nvPr/>
        </p:nvSpPr>
        <p:spPr>
          <a:xfrm>
            <a:off x="6185505" y="7725909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7" y="0"/>
                </a:lnTo>
                <a:lnTo>
                  <a:pt x="642937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7" name="Freeform 27"/>
          <p:cNvSpPr/>
          <p:nvPr/>
        </p:nvSpPr>
        <p:spPr>
          <a:xfrm>
            <a:off x="9144000" y="6599623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8" y="0"/>
                </a:lnTo>
                <a:lnTo>
                  <a:pt x="642938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8" name="Freeform 28"/>
          <p:cNvSpPr/>
          <p:nvPr/>
        </p:nvSpPr>
        <p:spPr>
          <a:xfrm>
            <a:off x="12102495" y="5473338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8" y="0"/>
                </a:lnTo>
                <a:lnTo>
                  <a:pt x="642938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/>
          <p:nvPr/>
        </p:nvSpPr>
        <p:spPr>
          <a:xfrm>
            <a:off x="12102495" y="4243387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8" y="0"/>
                </a:lnTo>
                <a:lnTo>
                  <a:pt x="642938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0" name="Freeform 30"/>
          <p:cNvSpPr/>
          <p:nvPr/>
        </p:nvSpPr>
        <p:spPr>
          <a:xfrm>
            <a:off x="9144000" y="4246325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8" y="0"/>
                </a:lnTo>
                <a:lnTo>
                  <a:pt x="642938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1" name="Freeform 31"/>
          <p:cNvSpPr/>
          <p:nvPr/>
        </p:nvSpPr>
        <p:spPr>
          <a:xfrm>
            <a:off x="9144000" y="7740241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8" y="0"/>
                </a:lnTo>
                <a:lnTo>
                  <a:pt x="642938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2" name="Freeform 32"/>
          <p:cNvSpPr/>
          <p:nvPr/>
        </p:nvSpPr>
        <p:spPr>
          <a:xfrm>
            <a:off x="12102495" y="7725909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642938" h="642938">
                <a:moveTo>
                  <a:pt x="0" y="0"/>
                </a:moveTo>
                <a:lnTo>
                  <a:pt x="642938" y="0"/>
                </a:lnTo>
                <a:lnTo>
                  <a:pt x="642938" y="642937"/>
                </a:lnTo>
                <a:lnTo>
                  <a:pt x="0" y="642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37247" y="1384300"/>
            <a:ext cx="8333746" cy="8917433"/>
          </a:xfrm>
          <a:custGeom>
            <a:avLst/>
            <a:gdLst/>
            <a:ahLst/>
            <a:cxnLst/>
            <a:rect l="l" t="t" r="r" b="b"/>
            <a:pathLst>
              <a:path w="8333746" h="8917433">
                <a:moveTo>
                  <a:pt x="0" y="0"/>
                </a:moveTo>
                <a:lnTo>
                  <a:pt x="8333747" y="0"/>
                </a:lnTo>
                <a:lnTo>
                  <a:pt x="8333747" y="8917433"/>
                </a:lnTo>
                <a:lnTo>
                  <a:pt x="0" y="8917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3203598">
            <a:off x="10748753" y="7738639"/>
            <a:ext cx="1023088" cy="1284699"/>
          </a:xfrm>
          <a:custGeom>
            <a:avLst/>
            <a:gdLst/>
            <a:ahLst/>
            <a:cxnLst/>
            <a:rect l="l" t="t" r="r" b="b"/>
            <a:pathLst>
              <a:path w="1023088" h="1284699">
                <a:moveTo>
                  <a:pt x="0" y="0"/>
                </a:moveTo>
                <a:lnTo>
                  <a:pt x="1023088" y="0"/>
                </a:lnTo>
                <a:lnTo>
                  <a:pt x="1023088" y="1284699"/>
                </a:lnTo>
                <a:lnTo>
                  <a:pt x="0" y="12846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rot="9931788">
            <a:off x="11989915" y="7631509"/>
            <a:ext cx="674917" cy="847498"/>
          </a:xfrm>
          <a:custGeom>
            <a:avLst/>
            <a:gdLst/>
            <a:ahLst/>
            <a:cxnLst/>
            <a:rect l="l" t="t" r="r" b="b"/>
            <a:pathLst>
              <a:path w="674917" h="847498">
                <a:moveTo>
                  <a:pt x="0" y="0"/>
                </a:moveTo>
                <a:lnTo>
                  <a:pt x="674917" y="0"/>
                </a:lnTo>
                <a:lnTo>
                  <a:pt x="674917" y="847499"/>
                </a:lnTo>
                <a:lnTo>
                  <a:pt x="0" y="847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6380242" y="1280739"/>
            <a:ext cx="1109194" cy="847147"/>
          </a:xfrm>
          <a:custGeom>
            <a:avLst/>
            <a:gdLst/>
            <a:ahLst/>
            <a:cxnLst/>
            <a:rect l="l" t="t" r="r" b="b"/>
            <a:pathLst>
              <a:path w="1109194" h="847147">
                <a:moveTo>
                  <a:pt x="0" y="0"/>
                </a:moveTo>
                <a:lnTo>
                  <a:pt x="1109194" y="0"/>
                </a:lnTo>
                <a:lnTo>
                  <a:pt x="1109194" y="847147"/>
                </a:lnTo>
                <a:lnTo>
                  <a:pt x="0" y="847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478229" y="6560505"/>
            <a:ext cx="1875666" cy="2614169"/>
          </a:xfrm>
          <a:custGeom>
            <a:avLst/>
            <a:gdLst/>
            <a:ahLst/>
            <a:cxnLst/>
            <a:rect l="l" t="t" r="r" b="b"/>
            <a:pathLst>
              <a:path w="1875666" h="2614169">
                <a:moveTo>
                  <a:pt x="0" y="0"/>
                </a:moveTo>
                <a:lnTo>
                  <a:pt x="1875666" y="0"/>
                </a:lnTo>
                <a:lnTo>
                  <a:pt x="1875666" y="2614169"/>
                </a:lnTo>
                <a:lnTo>
                  <a:pt x="0" y="2614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478229" y="1047750"/>
            <a:ext cx="7053590" cy="476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0"/>
              </a:lnSpc>
            </a:pPr>
            <a:r>
              <a:rPr lang="en-US" sz="6382" b="1">
                <a:solidFill>
                  <a:srgbClr val="165FD3"/>
                </a:solidFill>
                <a:latin typeface="Saira ExtraCondensed Ultra-Bold"/>
                <a:ea typeface="Saira ExtraCondensed Ultra-Bold"/>
                <a:cs typeface="Saira ExtraCondensed Ultra-Bold"/>
                <a:sym typeface="Saira ExtraCondensed Ultra-Bold"/>
              </a:rPr>
              <a:t>“ONE APP THAT HELPS INTERNATIONAL STUDENTS MANAGE MONEY, LEARN LOCAL LANGUAGE, AND FIND STUDENT DEALS.”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86600" y="58276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28700" y="1076325"/>
            <a:ext cx="12458700" cy="3103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64"/>
              </a:lnSpc>
            </a:pPr>
            <a:r>
              <a:rPr lang="en-US" sz="10400" b="1" dirty="0">
                <a:solidFill>
                  <a:srgbClr val="165F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</a:t>
            </a:r>
          </a:p>
          <a:p>
            <a:pPr algn="l">
              <a:lnSpc>
                <a:spcPts val="12064"/>
              </a:lnSpc>
            </a:pPr>
            <a:r>
              <a:rPr lang="en-US" sz="10400" b="1" dirty="0">
                <a:solidFill>
                  <a:srgbClr val="165F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6673" y="4312984"/>
            <a:ext cx="1613262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65FD3"/>
                </a:solidFill>
                <a:latin typeface="Noto Sans"/>
                <a:ea typeface="Noto Sans"/>
                <a:cs typeface="Noto Sans"/>
                <a:sym typeface="Noto Sans"/>
              </a:rPr>
              <a:t>A closer look at how each feature functions through user-focused wireframes.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F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1374" y="342939"/>
            <a:ext cx="17565253" cy="9623964"/>
            <a:chOff x="0" y="0"/>
            <a:chExt cx="70427377" cy="38587009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70282596" cy="38442230"/>
            </a:xfrm>
            <a:custGeom>
              <a:avLst/>
              <a:gdLst/>
              <a:ahLst/>
              <a:cxnLst/>
              <a:rect l="l" t="t" r="r" b="b"/>
              <a:pathLst>
                <a:path w="70282596" h="38442230">
                  <a:moveTo>
                    <a:pt x="0" y="0"/>
                  </a:moveTo>
                  <a:lnTo>
                    <a:pt x="70282596" y="0"/>
                  </a:lnTo>
                  <a:lnTo>
                    <a:pt x="70282596" y="38442230"/>
                  </a:lnTo>
                  <a:lnTo>
                    <a:pt x="0" y="3844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70427379" cy="38587009"/>
            </a:xfrm>
            <a:custGeom>
              <a:avLst/>
              <a:gdLst/>
              <a:ahLst/>
              <a:cxnLst/>
              <a:rect l="l" t="t" r="r" b="b"/>
              <a:pathLst>
                <a:path w="70427379" h="38587009">
                  <a:moveTo>
                    <a:pt x="70282600" y="38442230"/>
                  </a:moveTo>
                  <a:lnTo>
                    <a:pt x="70427379" y="38442230"/>
                  </a:lnTo>
                  <a:lnTo>
                    <a:pt x="70427379" y="38587009"/>
                  </a:lnTo>
                  <a:lnTo>
                    <a:pt x="70282600" y="38587009"/>
                  </a:lnTo>
                  <a:lnTo>
                    <a:pt x="70282600" y="3844223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8442230"/>
                  </a:lnTo>
                  <a:lnTo>
                    <a:pt x="0" y="38442230"/>
                  </a:lnTo>
                  <a:lnTo>
                    <a:pt x="0" y="144780"/>
                  </a:lnTo>
                  <a:close/>
                  <a:moveTo>
                    <a:pt x="0" y="38442230"/>
                  </a:moveTo>
                  <a:lnTo>
                    <a:pt x="144780" y="38442230"/>
                  </a:lnTo>
                  <a:lnTo>
                    <a:pt x="144780" y="38587009"/>
                  </a:lnTo>
                  <a:lnTo>
                    <a:pt x="0" y="38587009"/>
                  </a:lnTo>
                  <a:lnTo>
                    <a:pt x="0" y="38442230"/>
                  </a:lnTo>
                  <a:close/>
                  <a:moveTo>
                    <a:pt x="70282600" y="144780"/>
                  </a:moveTo>
                  <a:lnTo>
                    <a:pt x="70427379" y="144780"/>
                  </a:lnTo>
                  <a:lnTo>
                    <a:pt x="70427379" y="38442230"/>
                  </a:lnTo>
                  <a:lnTo>
                    <a:pt x="70282600" y="38442230"/>
                  </a:lnTo>
                  <a:lnTo>
                    <a:pt x="70282600" y="144780"/>
                  </a:lnTo>
                  <a:close/>
                  <a:moveTo>
                    <a:pt x="144780" y="38442230"/>
                  </a:moveTo>
                  <a:lnTo>
                    <a:pt x="70282600" y="38442230"/>
                  </a:lnTo>
                  <a:lnTo>
                    <a:pt x="70282600" y="38587009"/>
                  </a:lnTo>
                  <a:lnTo>
                    <a:pt x="144780" y="38587009"/>
                  </a:lnTo>
                  <a:lnTo>
                    <a:pt x="144780" y="38442230"/>
                  </a:lnTo>
                  <a:close/>
                  <a:moveTo>
                    <a:pt x="70282600" y="0"/>
                  </a:moveTo>
                  <a:lnTo>
                    <a:pt x="70427379" y="0"/>
                  </a:lnTo>
                  <a:lnTo>
                    <a:pt x="70427379" y="144780"/>
                  </a:lnTo>
                  <a:lnTo>
                    <a:pt x="70282600" y="144780"/>
                  </a:lnTo>
                  <a:lnTo>
                    <a:pt x="702826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0282600" y="0"/>
                  </a:lnTo>
                  <a:lnTo>
                    <a:pt x="702826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3664" y="559244"/>
            <a:ext cx="17100672" cy="9191355"/>
            <a:chOff x="0" y="0"/>
            <a:chExt cx="68564653" cy="36852475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68419876" cy="36707694"/>
            </a:xfrm>
            <a:custGeom>
              <a:avLst/>
              <a:gdLst/>
              <a:ahLst/>
              <a:cxnLst/>
              <a:rect l="l" t="t" r="r" b="b"/>
              <a:pathLst>
                <a:path w="68419876" h="36707694">
                  <a:moveTo>
                    <a:pt x="0" y="0"/>
                  </a:moveTo>
                  <a:lnTo>
                    <a:pt x="68419876" y="0"/>
                  </a:lnTo>
                  <a:lnTo>
                    <a:pt x="68419876" y="36707694"/>
                  </a:lnTo>
                  <a:lnTo>
                    <a:pt x="0" y="367076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FF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8564652" cy="36852476"/>
            </a:xfrm>
            <a:custGeom>
              <a:avLst/>
              <a:gdLst/>
              <a:ahLst/>
              <a:cxnLst/>
              <a:rect l="l" t="t" r="r" b="b"/>
              <a:pathLst>
                <a:path w="68564652" h="36852476">
                  <a:moveTo>
                    <a:pt x="68419873" y="36707694"/>
                  </a:moveTo>
                  <a:lnTo>
                    <a:pt x="68564652" y="36707694"/>
                  </a:lnTo>
                  <a:lnTo>
                    <a:pt x="68564652" y="36852476"/>
                  </a:lnTo>
                  <a:lnTo>
                    <a:pt x="68419873" y="36852476"/>
                  </a:lnTo>
                  <a:lnTo>
                    <a:pt x="68419873" y="3670769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6707694"/>
                  </a:lnTo>
                  <a:lnTo>
                    <a:pt x="0" y="36707694"/>
                  </a:lnTo>
                  <a:lnTo>
                    <a:pt x="0" y="144780"/>
                  </a:lnTo>
                  <a:close/>
                  <a:moveTo>
                    <a:pt x="0" y="36707694"/>
                  </a:moveTo>
                  <a:lnTo>
                    <a:pt x="144780" y="36707694"/>
                  </a:lnTo>
                  <a:lnTo>
                    <a:pt x="144780" y="36852476"/>
                  </a:lnTo>
                  <a:lnTo>
                    <a:pt x="0" y="36852476"/>
                  </a:lnTo>
                  <a:lnTo>
                    <a:pt x="0" y="36707694"/>
                  </a:lnTo>
                  <a:close/>
                  <a:moveTo>
                    <a:pt x="68419873" y="144780"/>
                  </a:moveTo>
                  <a:lnTo>
                    <a:pt x="68564652" y="144780"/>
                  </a:lnTo>
                  <a:lnTo>
                    <a:pt x="68564652" y="36707694"/>
                  </a:lnTo>
                  <a:lnTo>
                    <a:pt x="68419873" y="36707694"/>
                  </a:lnTo>
                  <a:lnTo>
                    <a:pt x="68419873" y="144780"/>
                  </a:lnTo>
                  <a:close/>
                  <a:moveTo>
                    <a:pt x="144780" y="36707694"/>
                  </a:moveTo>
                  <a:lnTo>
                    <a:pt x="68419873" y="36707694"/>
                  </a:lnTo>
                  <a:lnTo>
                    <a:pt x="68419873" y="36852476"/>
                  </a:lnTo>
                  <a:lnTo>
                    <a:pt x="144780" y="36852476"/>
                  </a:lnTo>
                  <a:lnTo>
                    <a:pt x="144780" y="36707694"/>
                  </a:lnTo>
                  <a:close/>
                  <a:moveTo>
                    <a:pt x="68419873" y="0"/>
                  </a:moveTo>
                  <a:lnTo>
                    <a:pt x="68564652" y="0"/>
                  </a:lnTo>
                  <a:lnTo>
                    <a:pt x="68564652" y="144780"/>
                  </a:lnTo>
                  <a:lnTo>
                    <a:pt x="68419873" y="144780"/>
                  </a:lnTo>
                  <a:lnTo>
                    <a:pt x="6841987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419873" y="0"/>
                  </a:lnTo>
                  <a:lnTo>
                    <a:pt x="6841987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9303352" y="6154990"/>
            <a:ext cx="7668507" cy="663844"/>
            <a:chOff x="0" y="0"/>
            <a:chExt cx="1524776" cy="131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776" cy="131996"/>
            </a:xfrm>
            <a:custGeom>
              <a:avLst/>
              <a:gdLst/>
              <a:ahLst/>
              <a:cxnLst/>
              <a:rect l="l" t="t" r="r" b="b"/>
              <a:pathLst>
                <a:path w="1524776" h="13199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524776" cy="160571"/>
            </a:xfrm>
            <a:prstGeom prst="rect">
              <a:avLst/>
            </a:prstGeom>
          </p:spPr>
          <p:txBody>
            <a:bodyPr lIns="68818" tIns="68818" rIns="68818" bIns="68818" rtlCol="0" anchor="ctr"/>
            <a:lstStyle/>
            <a:p>
              <a:pPr algn="ctr">
                <a:lnSpc>
                  <a:spcPts val="214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9303352" y="6682196"/>
            <a:ext cx="7668507" cy="289475"/>
            <a:chOff x="0" y="0"/>
            <a:chExt cx="1524776" cy="57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776" cy="57558"/>
            </a:xfrm>
            <a:custGeom>
              <a:avLst/>
              <a:gdLst/>
              <a:ahLst/>
              <a:cxnLst/>
              <a:rect l="l" t="t" r="r" b="b"/>
              <a:pathLst>
                <a:path w="1524776" h="57558">
                  <a:moveTo>
                    <a:pt x="28779" y="0"/>
                  </a:moveTo>
                  <a:lnTo>
                    <a:pt x="1495997" y="0"/>
                  </a:lnTo>
                  <a:cubicBezTo>
                    <a:pt x="1503629" y="0"/>
                    <a:pt x="1510949" y="3032"/>
                    <a:pt x="1516347" y="8429"/>
                  </a:cubicBezTo>
                  <a:cubicBezTo>
                    <a:pt x="1521744" y="13826"/>
                    <a:pt x="1524776" y="21146"/>
                    <a:pt x="1524776" y="28779"/>
                  </a:cubicBezTo>
                  <a:lnTo>
                    <a:pt x="1524776" y="28779"/>
                  </a:lnTo>
                  <a:cubicBezTo>
                    <a:pt x="1524776" y="36412"/>
                    <a:pt x="1521744" y="43732"/>
                    <a:pt x="1516347" y="49129"/>
                  </a:cubicBezTo>
                  <a:cubicBezTo>
                    <a:pt x="1510949" y="54526"/>
                    <a:pt x="1503629" y="57558"/>
                    <a:pt x="1495997" y="57558"/>
                  </a:cubicBezTo>
                  <a:lnTo>
                    <a:pt x="28779" y="57558"/>
                  </a:lnTo>
                  <a:cubicBezTo>
                    <a:pt x="21146" y="57558"/>
                    <a:pt x="13826" y="54526"/>
                    <a:pt x="8429" y="49129"/>
                  </a:cubicBezTo>
                  <a:cubicBezTo>
                    <a:pt x="3032" y="43732"/>
                    <a:pt x="0" y="36412"/>
                    <a:pt x="0" y="28779"/>
                  </a:cubicBezTo>
                  <a:lnTo>
                    <a:pt x="0" y="28779"/>
                  </a:lnTo>
                  <a:cubicBezTo>
                    <a:pt x="0" y="21146"/>
                    <a:pt x="3032" y="13826"/>
                    <a:pt x="8429" y="8429"/>
                  </a:cubicBezTo>
                  <a:cubicBezTo>
                    <a:pt x="13826" y="3032"/>
                    <a:pt x="21146" y="0"/>
                    <a:pt x="2877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24776" cy="86133"/>
            </a:xfrm>
            <a:prstGeom prst="rect">
              <a:avLst/>
            </a:prstGeom>
          </p:spPr>
          <p:txBody>
            <a:bodyPr lIns="68818" tIns="68818" rIns="68818" bIns="68818" rtlCol="0" anchor="ctr"/>
            <a:lstStyle/>
            <a:p>
              <a:pPr algn="ctr">
                <a:lnSpc>
                  <a:spcPts val="214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028700"/>
            <a:ext cx="7251323" cy="8229600"/>
            <a:chOff x="0" y="0"/>
            <a:chExt cx="29073972" cy="32996345"/>
          </a:xfrm>
        </p:grpSpPr>
        <p:sp>
          <p:nvSpPr>
            <p:cNvPr id="15" name="Freeform 15"/>
            <p:cNvSpPr/>
            <p:nvPr/>
          </p:nvSpPr>
          <p:spPr>
            <a:xfrm>
              <a:off x="72390" y="72390"/>
              <a:ext cx="28929192" cy="32851566"/>
            </a:xfrm>
            <a:custGeom>
              <a:avLst/>
              <a:gdLst/>
              <a:ahLst/>
              <a:cxnLst/>
              <a:rect l="l" t="t" r="r" b="b"/>
              <a:pathLst>
                <a:path w="28929192" h="32851566">
                  <a:moveTo>
                    <a:pt x="0" y="0"/>
                  </a:moveTo>
                  <a:lnTo>
                    <a:pt x="28929192" y="0"/>
                  </a:lnTo>
                  <a:lnTo>
                    <a:pt x="28929192" y="32851566"/>
                  </a:lnTo>
                  <a:lnTo>
                    <a:pt x="0" y="32851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5FD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29073971" cy="32996346"/>
            </a:xfrm>
            <a:custGeom>
              <a:avLst/>
              <a:gdLst/>
              <a:ahLst/>
              <a:cxnLst/>
              <a:rect l="l" t="t" r="r" b="b"/>
              <a:pathLst>
                <a:path w="29073971" h="32996346">
                  <a:moveTo>
                    <a:pt x="28929192" y="32851567"/>
                  </a:moveTo>
                  <a:lnTo>
                    <a:pt x="29073971" y="32851567"/>
                  </a:lnTo>
                  <a:lnTo>
                    <a:pt x="29073971" y="32996346"/>
                  </a:lnTo>
                  <a:lnTo>
                    <a:pt x="28929192" y="32996346"/>
                  </a:lnTo>
                  <a:lnTo>
                    <a:pt x="28929192" y="3285156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2851567"/>
                  </a:lnTo>
                  <a:lnTo>
                    <a:pt x="0" y="32851567"/>
                  </a:lnTo>
                  <a:lnTo>
                    <a:pt x="0" y="144780"/>
                  </a:lnTo>
                  <a:close/>
                  <a:moveTo>
                    <a:pt x="0" y="32851567"/>
                  </a:moveTo>
                  <a:lnTo>
                    <a:pt x="144780" y="32851567"/>
                  </a:lnTo>
                  <a:lnTo>
                    <a:pt x="144780" y="32996346"/>
                  </a:lnTo>
                  <a:lnTo>
                    <a:pt x="0" y="32996346"/>
                  </a:lnTo>
                  <a:lnTo>
                    <a:pt x="0" y="32851567"/>
                  </a:lnTo>
                  <a:close/>
                  <a:moveTo>
                    <a:pt x="28929192" y="144780"/>
                  </a:moveTo>
                  <a:lnTo>
                    <a:pt x="29073971" y="144780"/>
                  </a:lnTo>
                  <a:lnTo>
                    <a:pt x="29073971" y="32851567"/>
                  </a:lnTo>
                  <a:lnTo>
                    <a:pt x="28929192" y="32851567"/>
                  </a:lnTo>
                  <a:lnTo>
                    <a:pt x="28929192" y="144780"/>
                  </a:lnTo>
                  <a:close/>
                  <a:moveTo>
                    <a:pt x="144780" y="32851567"/>
                  </a:moveTo>
                  <a:lnTo>
                    <a:pt x="28929192" y="32851567"/>
                  </a:lnTo>
                  <a:lnTo>
                    <a:pt x="28929192" y="32996346"/>
                  </a:lnTo>
                  <a:lnTo>
                    <a:pt x="144780" y="32996346"/>
                  </a:lnTo>
                  <a:lnTo>
                    <a:pt x="144780" y="32851567"/>
                  </a:lnTo>
                  <a:close/>
                  <a:moveTo>
                    <a:pt x="28929192" y="0"/>
                  </a:moveTo>
                  <a:lnTo>
                    <a:pt x="29073971" y="0"/>
                  </a:lnTo>
                  <a:lnTo>
                    <a:pt x="29073971" y="144780"/>
                  </a:lnTo>
                  <a:lnTo>
                    <a:pt x="28929192" y="144780"/>
                  </a:lnTo>
                  <a:lnTo>
                    <a:pt x="2892919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929192" y="0"/>
                  </a:lnTo>
                  <a:lnTo>
                    <a:pt x="2892919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708711" y="7230940"/>
            <a:ext cx="857790" cy="549058"/>
            <a:chOff x="0" y="0"/>
            <a:chExt cx="154418" cy="988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4418" cy="98841"/>
            </a:xfrm>
            <a:custGeom>
              <a:avLst/>
              <a:gdLst/>
              <a:ahLst/>
              <a:cxnLst/>
              <a:rect l="l" t="t" r="r" b="b"/>
              <a:pathLst>
                <a:path w="154418" h="98841">
                  <a:moveTo>
                    <a:pt x="0" y="0"/>
                  </a:moveTo>
                  <a:lnTo>
                    <a:pt x="154418" y="0"/>
                  </a:lnTo>
                  <a:lnTo>
                    <a:pt x="154418" y="98841"/>
                  </a:lnTo>
                  <a:lnTo>
                    <a:pt x="0" y="988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54418" cy="127416"/>
            </a:xfrm>
            <a:prstGeom prst="rect">
              <a:avLst/>
            </a:prstGeom>
          </p:spPr>
          <p:txBody>
            <a:bodyPr lIns="76011" tIns="76011" rIns="76011" bIns="76011" rtlCol="0" anchor="ctr"/>
            <a:lstStyle/>
            <a:p>
              <a:pPr algn="ctr">
                <a:lnSpc>
                  <a:spcPts val="214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9015911" y="1429940"/>
            <a:ext cx="8243389" cy="7449963"/>
          </a:xfrm>
          <a:custGeom>
            <a:avLst/>
            <a:gdLst/>
            <a:ahLst/>
            <a:cxnLst/>
            <a:rect l="l" t="t" r="r" b="b"/>
            <a:pathLst>
              <a:path w="8243389" h="7449963">
                <a:moveTo>
                  <a:pt x="0" y="0"/>
                </a:moveTo>
                <a:lnTo>
                  <a:pt x="8243389" y="0"/>
                </a:lnTo>
                <a:lnTo>
                  <a:pt x="8243389" y="7449962"/>
                </a:lnTo>
                <a:lnTo>
                  <a:pt x="0" y="7449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1" name="Group 21"/>
          <p:cNvGrpSpPr/>
          <p:nvPr/>
        </p:nvGrpSpPr>
        <p:grpSpPr>
          <a:xfrm>
            <a:off x="9303352" y="1899060"/>
            <a:ext cx="7668507" cy="3978909"/>
            <a:chOff x="0" y="0"/>
            <a:chExt cx="1471831" cy="7636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71831" cy="763680"/>
            </a:xfrm>
            <a:custGeom>
              <a:avLst/>
              <a:gdLst/>
              <a:ahLst/>
              <a:cxnLst/>
              <a:rect l="l" t="t" r="r" b="b"/>
              <a:pathLst>
                <a:path w="1471831" h="763680">
                  <a:moveTo>
                    <a:pt x="0" y="0"/>
                  </a:moveTo>
                  <a:lnTo>
                    <a:pt x="1471831" y="0"/>
                  </a:lnTo>
                  <a:lnTo>
                    <a:pt x="1471831" y="763680"/>
                  </a:lnTo>
                  <a:lnTo>
                    <a:pt x="0" y="763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471831" cy="792255"/>
            </a:xfrm>
            <a:prstGeom prst="rect">
              <a:avLst/>
            </a:prstGeom>
          </p:spPr>
          <p:txBody>
            <a:bodyPr lIns="76011" tIns="76011" rIns="76011" bIns="76011" rtlCol="0" anchor="ctr"/>
            <a:lstStyle/>
            <a:p>
              <a:pPr algn="ctr">
                <a:lnSpc>
                  <a:spcPts val="214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03352" y="1697204"/>
            <a:ext cx="7668507" cy="403712"/>
            <a:chOff x="0" y="0"/>
            <a:chExt cx="1471831" cy="774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71831" cy="77485"/>
            </a:xfrm>
            <a:custGeom>
              <a:avLst/>
              <a:gdLst/>
              <a:ahLst/>
              <a:cxnLst/>
              <a:rect l="l" t="t" r="r" b="b"/>
              <a:pathLst>
                <a:path w="1471831" h="77485">
                  <a:moveTo>
                    <a:pt x="38743" y="0"/>
                  </a:moveTo>
                  <a:lnTo>
                    <a:pt x="1433089" y="0"/>
                  </a:lnTo>
                  <a:cubicBezTo>
                    <a:pt x="1454486" y="0"/>
                    <a:pt x="1471831" y="17346"/>
                    <a:pt x="1471831" y="38743"/>
                  </a:cubicBezTo>
                  <a:lnTo>
                    <a:pt x="1471831" y="38743"/>
                  </a:lnTo>
                  <a:cubicBezTo>
                    <a:pt x="1471831" y="49018"/>
                    <a:pt x="1467750" y="58872"/>
                    <a:pt x="1460484" y="66138"/>
                  </a:cubicBezTo>
                  <a:cubicBezTo>
                    <a:pt x="1453218" y="73403"/>
                    <a:pt x="1443364" y="77485"/>
                    <a:pt x="1433089" y="77485"/>
                  </a:cubicBezTo>
                  <a:lnTo>
                    <a:pt x="38743" y="77485"/>
                  </a:lnTo>
                  <a:cubicBezTo>
                    <a:pt x="28467" y="77485"/>
                    <a:pt x="18613" y="73403"/>
                    <a:pt x="11347" y="66138"/>
                  </a:cubicBezTo>
                  <a:cubicBezTo>
                    <a:pt x="4082" y="58872"/>
                    <a:pt x="0" y="49018"/>
                    <a:pt x="0" y="38743"/>
                  </a:cubicBezTo>
                  <a:lnTo>
                    <a:pt x="0" y="38743"/>
                  </a:lnTo>
                  <a:cubicBezTo>
                    <a:pt x="0" y="28467"/>
                    <a:pt x="4082" y="18613"/>
                    <a:pt x="11347" y="11347"/>
                  </a:cubicBezTo>
                  <a:cubicBezTo>
                    <a:pt x="18613" y="4082"/>
                    <a:pt x="28467" y="0"/>
                    <a:pt x="3874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471831" cy="106060"/>
            </a:xfrm>
            <a:prstGeom prst="rect">
              <a:avLst/>
            </a:prstGeom>
          </p:spPr>
          <p:txBody>
            <a:bodyPr lIns="76011" tIns="76011" rIns="76011" bIns="76011" rtlCol="0" anchor="ctr"/>
            <a:lstStyle/>
            <a:p>
              <a:pPr algn="ctr">
                <a:lnSpc>
                  <a:spcPts val="214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1158840" y="1697204"/>
            <a:ext cx="4293700" cy="4293700"/>
          </a:xfrm>
          <a:custGeom>
            <a:avLst/>
            <a:gdLst/>
            <a:ahLst/>
            <a:cxnLst/>
            <a:rect l="l" t="t" r="r" b="b"/>
            <a:pathLst>
              <a:path w="4293700" h="4293700">
                <a:moveTo>
                  <a:pt x="0" y="0"/>
                </a:moveTo>
                <a:lnTo>
                  <a:pt x="4293700" y="0"/>
                </a:lnTo>
                <a:lnTo>
                  <a:pt x="4293700" y="4293700"/>
                </a:lnTo>
                <a:lnTo>
                  <a:pt x="0" y="4293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8" name="TextBox 28"/>
          <p:cNvSpPr txBox="1"/>
          <p:nvPr/>
        </p:nvSpPr>
        <p:spPr>
          <a:xfrm>
            <a:off x="1752088" y="7480642"/>
            <a:ext cx="5986626" cy="67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8"/>
              </a:lnSpc>
            </a:pPr>
            <a:r>
              <a:rPr lang="en-US" sz="3891">
                <a:solidFill>
                  <a:srgbClr val="FFDE59"/>
                </a:solidFill>
                <a:latin typeface="Genty Sans"/>
                <a:ea typeface="Genty Sans"/>
                <a:cs typeface="Genty Sans"/>
                <a:sym typeface="Genty Sans"/>
              </a:rPr>
              <a:t>First Feature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86111" y="1483819"/>
            <a:ext cx="5738570" cy="210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92"/>
              </a:lnSpc>
            </a:pPr>
            <a:r>
              <a:rPr lang="en-US" sz="12280">
                <a:solidFill>
                  <a:srgbClr val="000000"/>
                </a:solidFill>
                <a:latin typeface="Genty"/>
                <a:ea typeface="Genty"/>
                <a:cs typeface="Genty"/>
                <a:sym typeface="Genty"/>
              </a:rPr>
              <a:t>Native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52088" y="1459079"/>
            <a:ext cx="5738570" cy="210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92"/>
              </a:lnSpc>
            </a:pPr>
            <a:r>
              <a:rPr lang="en-US" sz="12280">
                <a:solidFill>
                  <a:srgbClr val="FFFFFF"/>
                </a:solidFill>
                <a:latin typeface="Genty"/>
                <a:ea typeface="Genty"/>
                <a:cs typeface="Genty"/>
                <a:sym typeface="Genty"/>
              </a:rPr>
              <a:t>Native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8109" y="3045303"/>
            <a:ext cx="6527935" cy="210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92"/>
              </a:lnSpc>
            </a:pPr>
            <a:r>
              <a:rPr lang="en-US" sz="12280">
                <a:solidFill>
                  <a:srgbClr val="000000"/>
                </a:solidFill>
                <a:latin typeface="Genty"/>
                <a:ea typeface="Genty"/>
                <a:cs typeface="Genty"/>
                <a:sym typeface="Genty"/>
              </a:rPr>
              <a:t>Language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8109" y="3033882"/>
            <a:ext cx="6600046" cy="210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92"/>
              </a:lnSpc>
            </a:pPr>
            <a:r>
              <a:rPr lang="en-US" sz="12280">
                <a:solidFill>
                  <a:srgbClr val="FFFFFF"/>
                </a:solidFill>
                <a:latin typeface="Genty"/>
                <a:ea typeface="Genty"/>
                <a:cs typeface="Genty"/>
                <a:sym typeface="Genty"/>
              </a:rPr>
              <a:t>Language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40219" y="4862053"/>
            <a:ext cx="6527935" cy="210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92"/>
              </a:lnSpc>
            </a:pPr>
            <a:r>
              <a:rPr lang="en-US" sz="12280">
                <a:solidFill>
                  <a:srgbClr val="000000"/>
                </a:solidFill>
                <a:latin typeface="Genty"/>
                <a:ea typeface="Genty"/>
                <a:cs typeface="Genty"/>
                <a:sym typeface="Genty"/>
              </a:rPr>
              <a:t>Learning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40219" y="4862053"/>
            <a:ext cx="6600046" cy="210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92"/>
              </a:lnSpc>
            </a:pPr>
            <a:r>
              <a:rPr lang="en-US" sz="12280">
                <a:solidFill>
                  <a:srgbClr val="FFFFFF"/>
                </a:solidFill>
                <a:latin typeface="Genty"/>
                <a:ea typeface="Genty"/>
                <a:cs typeface="Genty"/>
                <a:sym typeface="Genty"/>
              </a:rPr>
              <a:t>Learning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740912" flipH="1">
            <a:off x="-1763806" y="-2163376"/>
            <a:ext cx="7064069" cy="6384152"/>
          </a:xfrm>
          <a:custGeom>
            <a:avLst/>
            <a:gdLst/>
            <a:ahLst/>
            <a:cxnLst/>
            <a:rect l="l" t="t" r="r" b="b"/>
            <a:pathLst>
              <a:path w="7064069" h="6384152">
                <a:moveTo>
                  <a:pt x="7064069" y="0"/>
                </a:moveTo>
                <a:lnTo>
                  <a:pt x="0" y="0"/>
                </a:lnTo>
                <a:lnTo>
                  <a:pt x="0" y="6384152"/>
                </a:lnTo>
                <a:lnTo>
                  <a:pt x="7064069" y="6384152"/>
                </a:lnTo>
                <a:lnTo>
                  <a:pt x="70640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5207330" y="2989891"/>
            <a:ext cx="3687882" cy="7297109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0559" r="-10559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392788" y="2989891"/>
            <a:ext cx="3687882" cy="7297109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8316" r="-831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028700" y="2989891"/>
            <a:ext cx="3687882" cy="7297109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5387" r="-538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3" name="Freeform 33"/>
          <p:cNvSpPr/>
          <p:nvPr/>
        </p:nvSpPr>
        <p:spPr>
          <a:xfrm>
            <a:off x="5236944" y="8146427"/>
            <a:ext cx="3648742" cy="1972131"/>
          </a:xfrm>
          <a:custGeom>
            <a:avLst/>
            <a:gdLst/>
            <a:ahLst/>
            <a:cxnLst/>
            <a:rect l="l" t="t" r="r" b="b"/>
            <a:pathLst>
              <a:path w="3648742" h="1972131">
                <a:moveTo>
                  <a:pt x="0" y="0"/>
                </a:moveTo>
                <a:lnTo>
                  <a:pt x="3648743" y="0"/>
                </a:lnTo>
                <a:lnTo>
                  <a:pt x="3648743" y="1972131"/>
                </a:lnTo>
                <a:lnTo>
                  <a:pt x="0" y="1972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6630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4" name="Freeform 34"/>
          <p:cNvSpPr/>
          <p:nvPr/>
        </p:nvSpPr>
        <p:spPr>
          <a:xfrm>
            <a:off x="1033253" y="8155952"/>
            <a:ext cx="3683330" cy="2137262"/>
          </a:xfrm>
          <a:custGeom>
            <a:avLst/>
            <a:gdLst/>
            <a:ahLst/>
            <a:cxnLst/>
            <a:rect l="l" t="t" r="r" b="b"/>
            <a:pathLst>
              <a:path w="3683330" h="2137262">
                <a:moveTo>
                  <a:pt x="0" y="0"/>
                </a:moveTo>
                <a:lnTo>
                  <a:pt x="3683329" y="0"/>
                </a:lnTo>
                <a:lnTo>
                  <a:pt x="3683329" y="2137262"/>
                </a:lnTo>
                <a:lnTo>
                  <a:pt x="0" y="2137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532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5" name="Freeform 35"/>
          <p:cNvSpPr/>
          <p:nvPr/>
        </p:nvSpPr>
        <p:spPr>
          <a:xfrm>
            <a:off x="9392788" y="8146427"/>
            <a:ext cx="3687882" cy="2300317"/>
          </a:xfrm>
          <a:custGeom>
            <a:avLst/>
            <a:gdLst/>
            <a:ahLst/>
            <a:cxnLst/>
            <a:rect l="l" t="t" r="r" b="b"/>
            <a:pathLst>
              <a:path w="3687882" h="2300317">
                <a:moveTo>
                  <a:pt x="0" y="0"/>
                </a:moveTo>
                <a:lnTo>
                  <a:pt x="3687882" y="0"/>
                </a:lnTo>
                <a:lnTo>
                  <a:pt x="3687882" y="2300316"/>
                </a:lnTo>
                <a:lnTo>
                  <a:pt x="0" y="2300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6" name="Freeform 36"/>
          <p:cNvSpPr/>
          <p:nvPr/>
        </p:nvSpPr>
        <p:spPr>
          <a:xfrm rot="-10792644">
            <a:off x="13086641" y="-3858533"/>
            <a:ext cx="7292627" cy="7717066"/>
          </a:xfrm>
          <a:custGeom>
            <a:avLst/>
            <a:gdLst/>
            <a:ahLst/>
            <a:cxnLst/>
            <a:rect l="l" t="t" r="r" b="b"/>
            <a:pathLst>
              <a:path w="7292627" h="7717066">
                <a:moveTo>
                  <a:pt x="0" y="0"/>
                </a:moveTo>
                <a:lnTo>
                  <a:pt x="7292627" y="0"/>
                </a:lnTo>
                <a:lnTo>
                  <a:pt x="7292627" y="7717066"/>
                </a:lnTo>
                <a:lnTo>
                  <a:pt x="0" y="7717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7" name="Group 37"/>
          <p:cNvGrpSpPr>
            <a:grpSpLocks noChangeAspect="1"/>
          </p:cNvGrpSpPr>
          <p:nvPr/>
        </p:nvGrpSpPr>
        <p:grpSpPr>
          <a:xfrm>
            <a:off x="13571418" y="2989891"/>
            <a:ext cx="3687882" cy="7297109"/>
            <a:chOff x="0" y="0"/>
            <a:chExt cx="2620010" cy="5184140"/>
          </a:xfrm>
        </p:grpSpPr>
        <p:sp>
          <p:nvSpPr>
            <p:cNvPr id="38" name="Freeform 3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l="-8316" r="-831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7" name="Group 47"/>
          <p:cNvGrpSpPr/>
          <p:nvPr/>
        </p:nvGrpSpPr>
        <p:grpSpPr>
          <a:xfrm rot="-10800000">
            <a:off x="1035529" y="6267957"/>
            <a:ext cx="3683330" cy="2470180"/>
            <a:chOff x="0" y="0"/>
            <a:chExt cx="970095" cy="65058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70095" cy="650582"/>
            </a:xfrm>
            <a:custGeom>
              <a:avLst/>
              <a:gdLst/>
              <a:ahLst/>
              <a:cxnLst/>
              <a:rect l="l" t="t" r="r" b="b"/>
              <a:pathLst>
                <a:path w="970095" h="650582">
                  <a:moveTo>
                    <a:pt x="0" y="0"/>
                  </a:moveTo>
                  <a:lnTo>
                    <a:pt x="970095" y="0"/>
                  </a:lnTo>
                  <a:lnTo>
                    <a:pt x="970095" y="650582"/>
                  </a:lnTo>
                  <a:lnTo>
                    <a:pt x="0" y="650582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970095" cy="68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>
            <a:off x="13585495" y="8146427"/>
            <a:ext cx="3683330" cy="3024934"/>
          </a:xfrm>
          <a:custGeom>
            <a:avLst/>
            <a:gdLst/>
            <a:ahLst/>
            <a:cxnLst/>
            <a:rect l="l" t="t" r="r" b="b"/>
            <a:pathLst>
              <a:path w="3683330" h="3024934">
                <a:moveTo>
                  <a:pt x="0" y="0"/>
                </a:moveTo>
                <a:lnTo>
                  <a:pt x="3683330" y="0"/>
                </a:lnTo>
                <a:lnTo>
                  <a:pt x="3683330" y="3024934"/>
                </a:lnTo>
                <a:lnTo>
                  <a:pt x="0" y="3024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1" name="AutoShape 51"/>
          <p:cNvSpPr/>
          <p:nvPr/>
        </p:nvSpPr>
        <p:spPr>
          <a:xfrm flipH="1">
            <a:off x="1288503" y="9398549"/>
            <a:ext cx="0" cy="1028700"/>
          </a:xfrm>
          <a:prstGeom prst="line">
            <a:avLst/>
          </a:prstGeom>
          <a:ln w="19050" cap="flat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181818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Box 52"/>
          <p:cNvSpPr txBox="1"/>
          <p:nvPr/>
        </p:nvSpPr>
        <p:spPr>
          <a:xfrm>
            <a:off x="1768229" y="8998500"/>
            <a:ext cx="2948353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Tap a deal</a:t>
            </a:r>
          </a:p>
        </p:txBody>
      </p:sp>
      <p:sp>
        <p:nvSpPr>
          <p:cNvPr id="53" name="Freeform 53"/>
          <p:cNvSpPr/>
          <p:nvPr/>
        </p:nvSpPr>
        <p:spPr>
          <a:xfrm>
            <a:off x="1028700" y="8891097"/>
            <a:ext cx="518602" cy="519605"/>
          </a:xfrm>
          <a:custGeom>
            <a:avLst/>
            <a:gdLst/>
            <a:ahLst/>
            <a:cxnLst/>
            <a:rect l="l" t="t" r="r" b="b"/>
            <a:pathLst>
              <a:path w="518602" h="519605">
                <a:moveTo>
                  <a:pt x="0" y="0"/>
                </a:moveTo>
                <a:lnTo>
                  <a:pt x="518602" y="0"/>
                </a:lnTo>
                <a:lnTo>
                  <a:pt x="518602" y="519605"/>
                </a:lnTo>
                <a:lnTo>
                  <a:pt x="0" y="5196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95977"/>
            </a:stretch>
          </a:blipFill>
          <a:ln w="9525" cap="rnd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54" name="Freeform 54"/>
          <p:cNvSpPr/>
          <p:nvPr/>
        </p:nvSpPr>
        <p:spPr>
          <a:xfrm>
            <a:off x="5209606" y="8891097"/>
            <a:ext cx="518914" cy="519605"/>
          </a:xfrm>
          <a:custGeom>
            <a:avLst/>
            <a:gdLst/>
            <a:ahLst/>
            <a:cxnLst/>
            <a:rect l="l" t="t" r="r" b="b"/>
            <a:pathLst>
              <a:path w="518914" h="519605">
                <a:moveTo>
                  <a:pt x="0" y="0"/>
                </a:moveTo>
                <a:lnTo>
                  <a:pt x="518914" y="0"/>
                </a:lnTo>
                <a:lnTo>
                  <a:pt x="518914" y="519605"/>
                </a:lnTo>
                <a:lnTo>
                  <a:pt x="0" y="5196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164378"/>
            </a:stretch>
          </a:blipFill>
          <a:ln w="9525" cap="rnd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55" name="Freeform 55"/>
          <p:cNvSpPr/>
          <p:nvPr/>
        </p:nvSpPr>
        <p:spPr>
          <a:xfrm>
            <a:off x="9390512" y="8890539"/>
            <a:ext cx="518664" cy="520163"/>
          </a:xfrm>
          <a:custGeom>
            <a:avLst/>
            <a:gdLst/>
            <a:ahLst/>
            <a:cxnLst/>
            <a:rect l="l" t="t" r="r" b="b"/>
            <a:pathLst>
              <a:path w="518664" h="520163">
                <a:moveTo>
                  <a:pt x="0" y="0"/>
                </a:moveTo>
                <a:lnTo>
                  <a:pt x="518664" y="0"/>
                </a:lnTo>
                <a:lnTo>
                  <a:pt x="518664" y="520163"/>
                </a:lnTo>
                <a:lnTo>
                  <a:pt x="0" y="52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r="-22117"/>
            </a:stretch>
          </a:blipFill>
          <a:ln w="9525" cap="rnd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Box 56"/>
          <p:cNvSpPr txBox="1"/>
          <p:nvPr/>
        </p:nvSpPr>
        <p:spPr>
          <a:xfrm>
            <a:off x="1128047" y="8998500"/>
            <a:ext cx="320912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946858" y="8980093"/>
            <a:ext cx="2948353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Tap a deal</a:t>
            </a:r>
          </a:p>
        </p:txBody>
      </p:sp>
      <p:sp>
        <p:nvSpPr>
          <p:cNvPr id="58" name="AutoShape 58"/>
          <p:cNvSpPr/>
          <p:nvPr/>
        </p:nvSpPr>
        <p:spPr>
          <a:xfrm flipH="1">
            <a:off x="5469409" y="9398549"/>
            <a:ext cx="0" cy="1028700"/>
          </a:xfrm>
          <a:prstGeom prst="line">
            <a:avLst/>
          </a:prstGeom>
          <a:ln w="19050" cap="flat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181818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9" name="AutoShape 59"/>
          <p:cNvSpPr/>
          <p:nvPr/>
        </p:nvSpPr>
        <p:spPr>
          <a:xfrm flipH="1">
            <a:off x="9650315" y="9398549"/>
            <a:ext cx="0" cy="1028700"/>
          </a:xfrm>
          <a:prstGeom prst="line">
            <a:avLst/>
          </a:prstGeom>
          <a:ln w="19050" cap="flat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181818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0" name="AutoShape 60"/>
          <p:cNvSpPr/>
          <p:nvPr/>
        </p:nvSpPr>
        <p:spPr>
          <a:xfrm flipH="1">
            <a:off x="13831220" y="9398549"/>
            <a:ext cx="0" cy="1028700"/>
          </a:xfrm>
          <a:prstGeom prst="line">
            <a:avLst/>
          </a:prstGeom>
          <a:ln w="19050" cap="flat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181818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Box 61"/>
          <p:cNvSpPr txBox="1"/>
          <p:nvPr/>
        </p:nvSpPr>
        <p:spPr>
          <a:xfrm>
            <a:off x="5308953" y="8998500"/>
            <a:ext cx="320912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132317" y="8998221"/>
            <a:ext cx="2948353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Tap view offer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489859" y="8998500"/>
            <a:ext cx="320912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310947" y="8998221"/>
            <a:ext cx="2948353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Tap redeem deal</a:t>
            </a:r>
          </a:p>
        </p:txBody>
      </p:sp>
      <p:sp>
        <p:nvSpPr>
          <p:cNvPr id="65" name="Freeform 65"/>
          <p:cNvSpPr/>
          <p:nvPr/>
        </p:nvSpPr>
        <p:spPr>
          <a:xfrm>
            <a:off x="13571418" y="8891097"/>
            <a:ext cx="519605" cy="519605"/>
          </a:xfrm>
          <a:custGeom>
            <a:avLst/>
            <a:gdLst/>
            <a:ahLst/>
            <a:cxnLst/>
            <a:rect l="l" t="t" r="r" b="b"/>
            <a:pathLst>
              <a:path w="519605" h="519605">
                <a:moveTo>
                  <a:pt x="0" y="0"/>
                </a:moveTo>
                <a:lnTo>
                  <a:pt x="519605" y="0"/>
                </a:lnTo>
                <a:lnTo>
                  <a:pt x="519605" y="519605"/>
                </a:lnTo>
                <a:lnTo>
                  <a:pt x="0" y="5196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w="9525" cap="rnd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Box 66"/>
          <p:cNvSpPr txBox="1"/>
          <p:nvPr/>
        </p:nvSpPr>
        <p:spPr>
          <a:xfrm>
            <a:off x="13670765" y="8998500"/>
            <a:ext cx="320912" cy="26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grpSp>
        <p:nvGrpSpPr>
          <p:cNvPr id="67" name="Group 67"/>
          <p:cNvGrpSpPr/>
          <p:nvPr/>
        </p:nvGrpSpPr>
        <p:grpSpPr>
          <a:xfrm rot="-10800000">
            <a:off x="5204634" y="5685772"/>
            <a:ext cx="3683330" cy="2470180"/>
            <a:chOff x="0" y="0"/>
            <a:chExt cx="970095" cy="65058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70095" cy="650582"/>
            </a:xfrm>
            <a:custGeom>
              <a:avLst/>
              <a:gdLst/>
              <a:ahLst/>
              <a:cxnLst/>
              <a:rect l="l" t="t" r="r" b="b"/>
              <a:pathLst>
                <a:path w="970095" h="650582">
                  <a:moveTo>
                    <a:pt x="0" y="0"/>
                  </a:moveTo>
                  <a:lnTo>
                    <a:pt x="970095" y="0"/>
                  </a:lnTo>
                  <a:lnTo>
                    <a:pt x="970095" y="650582"/>
                  </a:lnTo>
                  <a:lnTo>
                    <a:pt x="0" y="650582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970095" cy="68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 rot="-10800000">
            <a:off x="9397341" y="5685772"/>
            <a:ext cx="3683330" cy="2470180"/>
            <a:chOff x="0" y="0"/>
            <a:chExt cx="970095" cy="65058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70095" cy="650582"/>
            </a:xfrm>
            <a:custGeom>
              <a:avLst/>
              <a:gdLst/>
              <a:ahLst/>
              <a:cxnLst/>
              <a:rect l="l" t="t" r="r" b="b"/>
              <a:pathLst>
                <a:path w="970095" h="650582">
                  <a:moveTo>
                    <a:pt x="0" y="0"/>
                  </a:moveTo>
                  <a:lnTo>
                    <a:pt x="970095" y="0"/>
                  </a:lnTo>
                  <a:lnTo>
                    <a:pt x="970095" y="650582"/>
                  </a:lnTo>
                  <a:lnTo>
                    <a:pt x="0" y="650582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970095" cy="68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 rot="-10800000">
            <a:off x="13566445" y="5685772"/>
            <a:ext cx="3683330" cy="2470180"/>
            <a:chOff x="0" y="0"/>
            <a:chExt cx="970095" cy="65058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70095" cy="650582"/>
            </a:xfrm>
            <a:custGeom>
              <a:avLst/>
              <a:gdLst/>
              <a:ahLst/>
              <a:cxnLst/>
              <a:rect l="l" t="t" r="r" b="b"/>
              <a:pathLst>
                <a:path w="970095" h="650582">
                  <a:moveTo>
                    <a:pt x="0" y="0"/>
                  </a:moveTo>
                  <a:lnTo>
                    <a:pt x="970095" y="0"/>
                  </a:lnTo>
                  <a:lnTo>
                    <a:pt x="970095" y="650582"/>
                  </a:lnTo>
                  <a:lnTo>
                    <a:pt x="0" y="650582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970095" cy="68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76" name="Freeform 76"/>
          <p:cNvSpPr/>
          <p:nvPr/>
        </p:nvSpPr>
        <p:spPr>
          <a:xfrm>
            <a:off x="0" y="9982200"/>
            <a:ext cx="18288000" cy="1897380"/>
          </a:xfrm>
          <a:custGeom>
            <a:avLst/>
            <a:gdLst/>
            <a:ahLst/>
            <a:cxnLst/>
            <a:rect l="l" t="t" r="r" b="b"/>
            <a:pathLst>
              <a:path w="18288000" h="1897380">
                <a:moveTo>
                  <a:pt x="0" y="0"/>
                </a:moveTo>
                <a:lnTo>
                  <a:pt x="18288000" y="0"/>
                </a:lnTo>
                <a:lnTo>
                  <a:pt x="18288000" y="1897380"/>
                </a:lnTo>
                <a:lnTo>
                  <a:pt x="0" y="1897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Box 77"/>
          <p:cNvSpPr txBox="1"/>
          <p:nvPr/>
        </p:nvSpPr>
        <p:spPr>
          <a:xfrm>
            <a:off x="1028700" y="1479434"/>
            <a:ext cx="8444459" cy="124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 spc="-5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Works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895212" y="2078667"/>
            <a:ext cx="631639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to access student discount?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409668">
            <a:off x="15012594" y="2856628"/>
            <a:ext cx="5331817" cy="14459165"/>
          </a:xfrm>
          <a:custGeom>
            <a:avLst/>
            <a:gdLst/>
            <a:ahLst/>
            <a:cxnLst/>
            <a:rect l="l" t="t" r="r" b="b"/>
            <a:pathLst>
              <a:path w="5331817" h="14459165">
                <a:moveTo>
                  <a:pt x="0" y="0"/>
                </a:moveTo>
                <a:lnTo>
                  <a:pt x="5331817" y="0"/>
                </a:lnTo>
                <a:lnTo>
                  <a:pt x="5331817" y="14459164"/>
                </a:lnTo>
                <a:lnTo>
                  <a:pt x="0" y="14459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2431567">
            <a:off x="16381835" y="-5464738"/>
            <a:ext cx="3415978" cy="14459165"/>
          </a:xfrm>
          <a:custGeom>
            <a:avLst/>
            <a:gdLst/>
            <a:ahLst/>
            <a:cxnLst/>
            <a:rect l="l" t="t" r="r" b="b"/>
            <a:pathLst>
              <a:path w="3415978" h="14459165">
                <a:moveTo>
                  <a:pt x="0" y="0"/>
                </a:moveTo>
                <a:lnTo>
                  <a:pt x="3415977" y="0"/>
                </a:lnTo>
                <a:lnTo>
                  <a:pt x="3415977" y="14459164"/>
                </a:lnTo>
                <a:lnTo>
                  <a:pt x="0" y="14459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-1587008" y="-4765708"/>
            <a:ext cx="3578643" cy="14459165"/>
          </a:xfrm>
          <a:custGeom>
            <a:avLst/>
            <a:gdLst/>
            <a:ahLst/>
            <a:cxnLst/>
            <a:rect l="l" t="t" r="r" b="b"/>
            <a:pathLst>
              <a:path w="3578643" h="14459165">
                <a:moveTo>
                  <a:pt x="0" y="0"/>
                </a:moveTo>
                <a:lnTo>
                  <a:pt x="3578644" y="0"/>
                </a:lnTo>
                <a:lnTo>
                  <a:pt x="3578644" y="14459165"/>
                </a:lnTo>
                <a:lnTo>
                  <a:pt x="0" y="1445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4357592" y="7591054"/>
            <a:ext cx="7561877" cy="1062444"/>
            <a:chOff x="0" y="0"/>
            <a:chExt cx="1991605" cy="2798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1605" cy="279821"/>
            </a:xfrm>
            <a:custGeom>
              <a:avLst/>
              <a:gdLst/>
              <a:ahLst/>
              <a:cxnLst/>
              <a:rect l="l" t="t" r="r" b="b"/>
              <a:pathLst>
                <a:path w="1991605" h="279821">
                  <a:moveTo>
                    <a:pt x="0" y="0"/>
                  </a:moveTo>
                  <a:lnTo>
                    <a:pt x="1991605" y="0"/>
                  </a:lnTo>
                  <a:lnTo>
                    <a:pt x="1991605" y="279821"/>
                  </a:lnTo>
                  <a:lnTo>
                    <a:pt x="0" y="279821"/>
                  </a:lnTo>
                  <a:close/>
                </a:path>
              </a:pathLst>
            </a:custGeom>
            <a:gradFill rotWithShape="1">
              <a:gsLst>
                <a:gs pos="0">
                  <a:srgbClr val="1C1C1E">
                    <a:alpha val="100000"/>
                  </a:srgbClr>
                </a:gs>
                <a:gs pos="100000">
                  <a:srgbClr val="1C1C1E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91605" cy="317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02701" y="198325"/>
            <a:ext cx="318760" cy="318760"/>
          </a:xfrm>
          <a:custGeom>
            <a:avLst/>
            <a:gdLst/>
            <a:ahLst/>
            <a:cxnLst/>
            <a:rect l="l" t="t" r="r" b="b"/>
            <a:pathLst>
              <a:path w="318760" h="318760">
                <a:moveTo>
                  <a:pt x="0" y="0"/>
                </a:moveTo>
                <a:lnTo>
                  <a:pt x="318760" y="0"/>
                </a:lnTo>
                <a:lnTo>
                  <a:pt x="318760" y="318760"/>
                </a:lnTo>
                <a:lnTo>
                  <a:pt x="0" y="318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270700" y="264577"/>
            <a:ext cx="182762" cy="186255"/>
          </a:xfrm>
          <a:custGeom>
            <a:avLst/>
            <a:gdLst/>
            <a:ahLst/>
            <a:cxnLst/>
            <a:rect l="l" t="t" r="r" b="b"/>
            <a:pathLst>
              <a:path w="182762" h="186255">
                <a:moveTo>
                  <a:pt x="0" y="0"/>
                </a:moveTo>
                <a:lnTo>
                  <a:pt x="182762" y="0"/>
                </a:lnTo>
                <a:lnTo>
                  <a:pt x="182762" y="186255"/>
                </a:lnTo>
                <a:lnTo>
                  <a:pt x="0" y="186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3867577" y="3724752"/>
            <a:ext cx="3866302" cy="3866302"/>
          </a:xfrm>
          <a:custGeom>
            <a:avLst/>
            <a:gdLst/>
            <a:ahLst/>
            <a:cxnLst/>
            <a:rect l="l" t="t" r="r" b="b"/>
            <a:pathLst>
              <a:path w="3866302" h="3866302">
                <a:moveTo>
                  <a:pt x="0" y="0"/>
                </a:moveTo>
                <a:lnTo>
                  <a:pt x="3866302" y="0"/>
                </a:lnTo>
                <a:lnTo>
                  <a:pt x="3866302" y="3866302"/>
                </a:lnTo>
                <a:lnTo>
                  <a:pt x="0" y="38663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1" name="Picture 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/>
          <a:stretch>
            <a:fillRect/>
          </a:stretch>
        </p:blipFill>
        <p:spPr>
          <a:xfrm>
            <a:off x="453462" y="2167157"/>
            <a:ext cx="12411541" cy="6981492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255908" y="640910"/>
            <a:ext cx="5089639" cy="2625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2"/>
              </a:lnSpc>
              <a:spcBef>
                <a:spcPct val="0"/>
              </a:spcBef>
            </a:pPr>
            <a:r>
              <a:rPr lang="en-US" sz="9600" spc="-739">
                <a:solidFill>
                  <a:srgbClr val="FEFEFF"/>
                </a:solidFill>
                <a:latin typeface="Garet"/>
                <a:ea typeface="Garet"/>
                <a:cs typeface="Garet"/>
                <a:sym typeface="Garet"/>
              </a:rPr>
              <a:t>Financial savings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740912" flipH="1">
            <a:off x="-1763806" y="-2163376"/>
            <a:ext cx="7064069" cy="6384152"/>
          </a:xfrm>
          <a:custGeom>
            <a:avLst/>
            <a:gdLst/>
            <a:ahLst/>
            <a:cxnLst/>
            <a:rect l="l" t="t" r="r" b="b"/>
            <a:pathLst>
              <a:path w="7064069" h="6384152">
                <a:moveTo>
                  <a:pt x="7064069" y="0"/>
                </a:moveTo>
                <a:lnTo>
                  <a:pt x="0" y="0"/>
                </a:lnTo>
                <a:lnTo>
                  <a:pt x="0" y="6384152"/>
                </a:lnTo>
                <a:lnTo>
                  <a:pt x="7064069" y="6384152"/>
                </a:lnTo>
                <a:lnTo>
                  <a:pt x="70640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5043840" y="3866325"/>
            <a:ext cx="3970662" cy="7856637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500" b="-500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550231" y="3866325"/>
            <a:ext cx="3970662" cy="7856637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t="-258" b="-258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544801" y="3866325"/>
            <a:ext cx="3970662" cy="7856637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t="-990" b="-990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3" name="Freeform 33"/>
          <p:cNvSpPr/>
          <p:nvPr/>
        </p:nvSpPr>
        <p:spPr>
          <a:xfrm>
            <a:off x="5075725" y="9418254"/>
            <a:ext cx="3928521" cy="2123350"/>
          </a:xfrm>
          <a:custGeom>
            <a:avLst/>
            <a:gdLst/>
            <a:ahLst/>
            <a:cxnLst/>
            <a:rect l="l" t="t" r="r" b="b"/>
            <a:pathLst>
              <a:path w="3928521" h="2123350">
                <a:moveTo>
                  <a:pt x="0" y="0"/>
                </a:moveTo>
                <a:lnTo>
                  <a:pt x="3928521" y="0"/>
                </a:lnTo>
                <a:lnTo>
                  <a:pt x="3928521" y="2123350"/>
                </a:lnTo>
                <a:lnTo>
                  <a:pt x="0" y="2123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6630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4" name="Freeform 34"/>
          <p:cNvSpPr/>
          <p:nvPr/>
        </p:nvSpPr>
        <p:spPr>
          <a:xfrm>
            <a:off x="549703" y="9428509"/>
            <a:ext cx="3965760" cy="2301143"/>
          </a:xfrm>
          <a:custGeom>
            <a:avLst/>
            <a:gdLst/>
            <a:ahLst/>
            <a:cxnLst/>
            <a:rect l="l" t="t" r="r" b="b"/>
            <a:pathLst>
              <a:path w="3965760" h="2301143">
                <a:moveTo>
                  <a:pt x="0" y="0"/>
                </a:moveTo>
                <a:lnTo>
                  <a:pt x="3965760" y="0"/>
                </a:lnTo>
                <a:lnTo>
                  <a:pt x="3965760" y="2301143"/>
                </a:lnTo>
                <a:lnTo>
                  <a:pt x="0" y="2301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532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5" name="Freeform 35"/>
          <p:cNvSpPr/>
          <p:nvPr/>
        </p:nvSpPr>
        <p:spPr>
          <a:xfrm>
            <a:off x="9550231" y="9418254"/>
            <a:ext cx="3970662" cy="2476700"/>
          </a:xfrm>
          <a:custGeom>
            <a:avLst/>
            <a:gdLst/>
            <a:ahLst/>
            <a:cxnLst/>
            <a:rect l="l" t="t" r="r" b="b"/>
            <a:pathLst>
              <a:path w="3970662" h="2476700">
                <a:moveTo>
                  <a:pt x="0" y="0"/>
                </a:moveTo>
                <a:lnTo>
                  <a:pt x="3970662" y="0"/>
                </a:lnTo>
                <a:lnTo>
                  <a:pt x="3970662" y="2476700"/>
                </a:lnTo>
                <a:lnTo>
                  <a:pt x="0" y="247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6" name="Freeform 36"/>
          <p:cNvSpPr/>
          <p:nvPr/>
        </p:nvSpPr>
        <p:spPr>
          <a:xfrm rot="-10792644">
            <a:off x="13086641" y="-3858533"/>
            <a:ext cx="7292627" cy="7717066"/>
          </a:xfrm>
          <a:custGeom>
            <a:avLst/>
            <a:gdLst/>
            <a:ahLst/>
            <a:cxnLst/>
            <a:rect l="l" t="t" r="r" b="b"/>
            <a:pathLst>
              <a:path w="7292627" h="7717066">
                <a:moveTo>
                  <a:pt x="0" y="0"/>
                </a:moveTo>
                <a:lnTo>
                  <a:pt x="7292627" y="0"/>
                </a:lnTo>
                <a:lnTo>
                  <a:pt x="7292627" y="7717066"/>
                </a:lnTo>
                <a:lnTo>
                  <a:pt x="0" y="7717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7" name="Group 37"/>
          <p:cNvGrpSpPr>
            <a:grpSpLocks noChangeAspect="1"/>
          </p:cNvGrpSpPr>
          <p:nvPr/>
        </p:nvGrpSpPr>
        <p:grpSpPr>
          <a:xfrm>
            <a:off x="14049269" y="3866325"/>
            <a:ext cx="3970662" cy="7856637"/>
            <a:chOff x="0" y="0"/>
            <a:chExt cx="2620010" cy="5184140"/>
          </a:xfrm>
        </p:grpSpPr>
        <p:sp>
          <p:nvSpPr>
            <p:cNvPr id="38" name="Freeform 3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t="-166" b="-16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D2D2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7" name="Group 47"/>
          <p:cNvGrpSpPr/>
          <p:nvPr/>
        </p:nvGrpSpPr>
        <p:grpSpPr>
          <a:xfrm rot="-10800000">
            <a:off x="552154" y="7395746"/>
            <a:ext cx="3965760" cy="2659589"/>
            <a:chOff x="0" y="0"/>
            <a:chExt cx="970095" cy="65058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70095" cy="650582"/>
            </a:xfrm>
            <a:custGeom>
              <a:avLst/>
              <a:gdLst/>
              <a:ahLst/>
              <a:cxnLst/>
              <a:rect l="l" t="t" r="r" b="b"/>
              <a:pathLst>
                <a:path w="970095" h="650582">
                  <a:moveTo>
                    <a:pt x="0" y="0"/>
                  </a:moveTo>
                  <a:lnTo>
                    <a:pt x="970095" y="0"/>
                  </a:lnTo>
                  <a:lnTo>
                    <a:pt x="970095" y="650582"/>
                  </a:lnTo>
                  <a:lnTo>
                    <a:pt x="0" y="650582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970095" cy="68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>
            <a:off x="14064427" y="9418254"/>
            <a:ext cx="3965760" cy="3256880"/>
          </a:xfrm>
          <a:custGeom>
            <a:avLst/>
            <a:gdLst/>
            <a:ahLst/>
            <a:cxnLst/>
            <a:rect l="l" t="t" r="r" b="b"/>
            <a:pathLst>
              <a:path w="3965760" h="3256880">
                <a:moveTo>
                  <a:pt x="0" y="0"/>
                </a:moveTo>
                <a:lnTo>
                  <a:pt x="3965760" y="0"/>
                </a:lnTo>
                <a:lnTo>
                  <a:pt x="3965760" y="3256880"/>
                </a:lnTo>
                <a:lnTo>
                  <a:pt x="0" y="32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51" name="Group 51"/>
          <p:cNvGrpSpPr/>
          <p:nvPr/>
        </p:nvGrpSpPr>
        <p:grpSpPr>
          <a:xfrm rot="-10800000">
            <a:off x="5040937" y="6768921"/>
            <a:ext cx="3965760" cy="2659589"/>
            <a:chOff x="0" y="0"/>
            <a:chExt cx="970095" cy="65058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70095" cy="650582"/>
            </a:xfrm>
            <a:custGeom>
              <a:avLst/>
              <a:gdLst/>
              <a:ahLst/>
              <a:cxnLst/>
              <a:rect l="l" t="t" r="r" b="b"/>
              <a:pathLst>
                <a:path w="970095" h="650582">
                  <a:moveTo>
                    <a:pt x="0" y="0"/>
                  </a:moveTo>
                  <a:lnTo>
                    <a:pt x="970095" y="0"/>
                  </a:lnTo>
                  <a:lnTo>
                    <a:pt x="970095" y="650582"/>
                  </a:lnTo>
                  <a:lnTo>
                    <a:pt x="0" y="650582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970095" cy="68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 rot="-10800000">
            <a:off x="9555133" y="6768921"/>
            <a:ext cx="3965760" cy="2659589"/>
            <a:chOff x="0" y="0"/>
            <a:chExt cx="970095" cy="65058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70095" cy="650582"/>
            </a:xfrm>
            <a:custGeom>
              <a:avLst/>
              <a:gdLst/>
              <a:ahLst/>
              <a:cxnLst/>
              <a:rect l="l" t="t" r="r" b="b"/>
              <a:pathLst>
                <a:path w="970095" h="650582">
                  <a:moveTo>
                    <a:pt x="0" y="0"/>
                  </a:moveTo>
                  <a:lnTo>
                    <a:pt x="970095" y="0"/>
                  </a:lnTo>
                  <a:lnTo>
                    <a:pt x="970095" y="650582"/>
                  </a:lnTo>
                  <a:lnTo>
                    <a:pt x="0" y="650582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970095" cy="68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 rot="-10800000">
            <a:off x="14043916" y="6768921"/>
            <a:ext cx="3965760" cy="2659589"/>
            <a:chOff x="0" y="0"/>
            <a:chExt cx="970095" cy="65058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70095" cy="650582"/>
            </a:xfrm>
            <a:custGeom>
              <a:avLst/>
              <a:gdLst/>
              <a:ahLst/>
              <a:cxnLst/>
              <a:rect l="l" t="t" r="r" b="b"/>
              <a:pathLst>
                <a:path w="970095" h="650582">
                  <a:moveTo>
                    <a:pt x="0" y="0"/>
                  </a:moveTo>
                  <a:lnTo>
                    <a:pt x="970095" y="0"/>
                  </a:lnTo>
                  <a:lnTo>
                    <a:pt x="970095" y="650582"/>
                  </a:lnTo>
                  <a:lnTo>
                    <a:pt x="0" y="650582"/>
                  </a:lnTo>
                  <a:close/>
                </a:path>
              </a:pathLst>
            </a:custGeom>
            <a:gradFill rotWithShape="1">
              <a:gsLst>
                <a:gs pos="0">
                  <a:srgbClr val="2D2D2D">
                    <a:alpha val="100000"/>
                  </a:srgbClr>
                </a:gs>
                <a:gs pos="100000">
                  <a:srgbClr val="2D2D2D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970095" cy="688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0" name="Freeform 60"/>
          <p:cNvSpPr/>
          <p:nvPr/>
        </p:nvSpPr>
        <p:spPr>
          <a:xfrm>
            <a:off x="0" y="9982200"/>
            <a:ext cx="18288000" cy="1897380"/>
          </a:xfrm>
          <a:custGeom>
            <a:avLst/>
            <a:gdLst/>
            <a:ahLst/>
            <a:cxnLst/>
            <a:rect l="l" t="t" r="r" b="b"/>
            <a:pathLst>
              <a:path w="18288000" h="1897380">
                <a:moveTo>
                  <a:pt x="0" y="0"/>
                </a:moveTo>
                <a:lnTo>
                  <a:pt x="18288000" y="0"/>
                </a:lnTo>
                <a:lnTo>
                  <a:pt x="18288000" y="1897380"/>
                </a:lnTo>
                <a:lnTo>
                  <a:pt x="0" y="1897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Box 61"/>
          <p:cNvSpPr txBox="1"/>
          <p:nvPr/>
        </p:nvSpPr>
        <p:spPr>
          <a:xfrm>
            <a:off x="1028700" y="1479434"/>
            <a:ext cx="8444459" cy="124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 spc="-5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Works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014501" y="2173373"/>
            <a:ext cx="631639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to track the spent categories?</a:t>
            </a: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44256" y="1176997"/>
            <a:ext cx="17011089" cy="17011089"/>
          </a:xfrm>
          <a:custGeom>
            <a:avLst/>
            <a:gdLst/>
            <a:ahLst/>
            <a:cxnLst/>
            <a:rect l="l" t="t" r="r" b="b"/>
            <a:pathLst>
              <a:path w="17011089" h="17011089">
                <a:moveTo>
                  <a:pt x="0" y="0"/>
                </a:moveTo>
                <a:lnTo>
                  <a:pt x="17011088" y="0"/>
                </a:lnTo>
                <a:lnTo>
                  <a:pt x="17011088" y="17011089"/>
                </a:lnTo>
                <a:lnTo>
                  <a:pt x="0" y="17011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8188432" y="-9703875"/>
            <a:ext cx="16376864" cy="16376864"/>
          </a:xfrm>
          <a:custGeom>
            <a:avLst/>
            <a:gdLst/>
            <a:ahLst/>
            <a:cxnLst/>
            <a:rect l="l" t="t" r="r" b="b"/>
            <a:pathLst>
              <a:path w="16376864" h="16376864">
                <a:moveTo>
                  <a:pt x="0" y="0"/>
                </a:moveTo>
                <a:lnTo>
                  <a:pt x="16376864" y="0"/>
                </a:lnTo>
                <a:lnTo>
                  <a:pt x="16376864" y="16376864"/>
                </a:lnTo>
                <a:lnTo>
                  <a:pt x="0" y="16376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880356" y="886242"/>
            <a:ext cx="296689" cy="290755"/>
          </a:xfrm>
          <a:custGeom>
            <a:avLst/>
            <a:gdLst/>
            <a:ahLst/>
            <a:cxnLst/>
            <a:rect l="l" t="t" r="r" b="b"/>
            <a:pathLst>
              <a:path w="296689" h="290755">
                <a:moveTo>
                  <a:pt x="0" y="0"/>
                </a:moveTo>
                <a:lnTo>
                  <a:pt x="296688" y="0"/>
                </a:lnTo>
                <a:lnTo>
                  <a:pt x="296688" y="290755"/>
                </a:lnTo>
                <a:lnTo>
                  <a:pt x="0" y="290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1238898" y="2086558"/>
            <a:ext cx="5598596" cy="6481731"/>
          </a:xfrm>
          <a:custGeom>
            <a:avLst/>
            <a:gdLst/>
            <a:ahLst/>
            <a:cxnLst/>
            <a:rect l="l" t="t" r="r" b="b"/>
            <a:pathLst>
              <a:path w="5598596" h="6481731">
                <a:moveTo>
                  <a:pt x="0" y="0"/>
                </a:moveTo>
                <a:lnTo>
                  <a:pt x="5598595" y="0"/>
                </a:lnTo>
                <a:lnTo>
                  <a:pt x="5598595" y="6481732"/>
                </a:lnTo>
                <a:lnTo>
                  <a:pt x="0" y="64817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354289" y="825080"/>
            <a:ext cx="2623970" cy="35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LingoLedger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8619" y="1803228"/>
            <a:ext cx="11378196" cy="923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7"/>
              </a:lnSpc>
            </a:pPr>
            <a:r>
              <a:rPr lang="en-US" sz="7200" b="1" spc="-18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WHY SHOULD YOU INVEST?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7743" y="2788654"/>
            <a:ext cx="11699073" cy="772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739" lvl="1" indent="-226370" algn="l">
              <a:lnSpc>
                <a:spcPts val="2935"/>
              </a:lnSpc>
              <a:buAutoNum type="arabicPeriod"/>
            </a:pPr>
            <a:r>
              <a:rPr lang="en-US" sz="209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Strong Value Proposition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LingoLedger solves 3 major student problems in ONE app: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→ language barriers, budgeting, and access to deals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Unlike competitors (Duolingo, UNiDAYS, Splitwise), we integrate all functions</a:t>
            </a:r>
          </a:p>
          <a:p>
            <a:pPr marL="452739" lvl="1" indent="-226370" algn="l">
              <a:lnSpc>
                <a:spcPts val="2935"/>
              </a:lnSpc>
              <a:buAutoNum type="arabicPeriod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09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arket Opportunity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International students are increasing globally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 demand for:</a:t>
            </a:r>
          </a:p>
          <a:p>
            <a:pPr marL="905478" lvl="2" indent="-301826" algn="l">
              <a:lnSpc>
                <a:spcPts val="2935"/>
              </a:lnSpc>
              <a:buFont typeface="Arial"/>
              <a:buChar char="⚬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daily language support</a:t>
            </a:r>
          </a:p>
          <a:p>
            <a:pPr marL="905478" lvl="2" indent="-301826" algn="l">
              <a:lnSpc>
                <a:spcPts val="2935"/>
              </a:lnSpc>
              <a:buFont typeface="Arial"/>
              <a:buChar char="⚬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cost-saving tools</a:t>
            </a:r>
          </a:p>
          <a:p>
            <a:pPr marL="905478" lvl="2" indent="-301826" algn="l">
              <a:lnSpc>
                <a:spcPts val="2935"/>
              </a:lnSpc>
              <a:buFont typeface="Arial"/>
              <a:buChar char="⚬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local adaptation solutions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creates a scalable and growing user base</a:t>
            </a:r>
          </a:p>
          <a:p>
            <a:pPr marL="452739" lvl="1" indent="-226370" algn="l">
              <a:lnSpc>
                <a:spcPts val="2935"/>
              </a:lnSpc>
              <a:buAutoNum type="arabicPeriod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209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usiness Potential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Partner with:</a:t>
            </a:r>
          </a:p>
          <a:p>
            <a:pPr marL="905478" lvl="2" indent="-301826" algn="l">
              <a:lnSpc>
                <a:spcPts val="2935"/>
              </a:lnSpc>
              <a:buFont typeface="Arial"/>
              <a:buChar char="⚬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local businesses (cafes, supermarkets, transport)</a:t>
            </a:r>
          </a:p>
          <a:p>
            <a:pPr marL="905478" lvl="2" indent="-301826" algn="l">
              <a:lnSpc>
                <a:spcPts val="2935"/>
              </a:lnSpc>
              <a:buFont typeface="Arial"/>
              <a:buChar char="⚬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student platforms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Revenue streams:</a:t>
            </a:r>
          </a:p>
          <a:p>
            <a:pPr marL="905478" lvl="2" indent="-301826" algn="l">
              <a:lnSpc>
                <a:spcPts val="2935"/>
              </a:lnSpc>
              <a:buFont typeface="Arial"/>
              <a:buChar char="⚬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commission from deals</a:t>
            </a:r>
          </a:p>
          <a:p>
            <a:pPr marL="905478" lvl="2" indent="-301826" algn="l">
              <a:lnSpc>
                <a:spcPts val="2935"/>
              </a:lnSpc>
              <a:buFont typeface="Arial"/>
              <a:buChar char="⚬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premium features (advanced learning, insights)</a:t>
            </a:r>
          </a:p>
          <a:p>
            <a:pPr marL="452739" lvl="1" indent="-226370" algn="l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Businesses gain direct access to student customers</a:t>
            </a:r>
          </a:p>
          <a:p>
            <a:pPr algn="l">
              <a:lnSpc>
                <a:spcPts val="2935"/>
              </a:lnSpc>
            </a:pPr>
            <a:endParaRPr lang="en-US" sz="2096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935"/>
              </a:lnSpc>
            </a:pPr>
            <a:endParaRPr lang="en-US" sz="2096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9535" y="962025"/>
            <a:ext cx="8899064" cy="83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Unesco.org. (2020). Global qualifications recognition in action - Vielky’s story. [online] Available at: https://www.unesco.org/en/articles/record-number-higher-education-students-highlights-global-need-recognition-qualifications. [Accessed: 16 March, 2026]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 1 Light"/>
              <a:ea typeface="Open Sans 1 Light"/>
              <a:cs typeface="Open Sans 1 Light"/>
              <a:sym typeface="Open Sans 1 Light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OpenAI. (2025). ChatGPT. ChatGPT; OpenAI. https://chatgpt.com/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1 Light"/>
                <a:ea typeface="Open Sans 1 Light"/>
                <a:cs typeface="Open Sans 1 Light"/>
                <a:sym typeface="Open Sans 1 Light"/>
              </a:rPr>
              <a:t>Prompt: “ From the uploaded presentation, check if the grammar and spelling is correct?”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 1 Light"/>
              <a:ea typeface="Open Sans 1 Light"/>
              <a:cs typeface="Open Sans 1 Light"/>
              <a:sym typeface="Open Sans 1 Light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 1 Light"/>
              <a:ea typeface="Open Sans 1 Light"/>
              <a:cs typeface="Open Sans 1 Light"/>
              <a:sym typeface="Open Sans 1 Light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924725" y="-158268"/>
            <a:ext cx="6661902" cy="10603535"/>
            <a:chOff x="0" y="0"/>
            <a:chExt cx="1754575" cy="27927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4575" cy="2792701"/>
            </a:xfrm>
            <a:custGeom>
              <a:avLst/>
              <a:gdLst/>
              <a:ahLst/>
              <a:cxnLst/>
              <a:rect l="l" t="t" r="r" b="b"/>
              <a:pathLst>
                <a:path w="1754575" h="2792701">
                  <a:moveTo>
                    <a:pt x="0" y="0"/>
                  </a:moveTo>
                  <a:lnTo>
                    <a:pt x="1754575" y="0"/>
                  </a:lnTo>
                  <a:lnTo>
                    <a:pt x="1754575" y="2792701"/>
                  </a:lnTo>
                  <a:lnTo>
                    <a:pt x="0" y="2792701"/>
                  </a:lnTo>
                  <a:close/>
                </a:path>
              </a:pathLst>
            </a:custGeom>
            <a:gradFill rotWithShape="1">
              <a:gsLst>
                <a:gs pos="0">
                  <a:srgbClr val="1F4C37">
                    <a:alpha val="100000"/>
                  </a:srgbClr>
                </a:gs>
                <a:gs pos="100000">
                  <a:srgbClr val="20B66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54575" cy="28308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937996" y="4543638"/>
            <a:ext cx="4635360" cy="10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4"/>
              </a:lnSpc>
            </a:pPr>
            <a:r>
              <a:rPr lang="en-US" sz="6289" b="1">
                <a:solidFill>
                  <a:srgbClr val="FFFFFF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REFERENCE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1776" y="621535"/>
            <a:ext cx="2023824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sz="7199" b="1" dirty="0">
                <a:solidFill>
                  <a:srgbClr val="165FD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2520" y="2301634"/>
            <a:ext cx="131837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Name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29629" y="2301634"/>
            <a:ext cx="257877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Release date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97227" y="2301634"/>
            <a:ext cx="258541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Developers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79443" y="2301634"/>
            <a:ext cx="3245231" cy="613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Download links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87075" y="2301634"/>
            <a:ext cx="378924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Function/purpose</a:t>
            </a:r>
          </a:p>
        </p:txBody>
      </p:sp>
      <p:sp>
        <p:nvSpPr>
          <p:cNvPr id="8" name="AutoShape 8"/>
          <p:cNvSpPr/>
          <p:nvPr/>
        </p:nvSpPr>
        <p:spPr>
          <a:xfrm>
            <a:off x="410299" y="3163011"/>
            <a:ext cx="174674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 flipH="1">
            <a:off x="2284841" y="2225872"/>
            <a:ext cx="0" cy="70324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6016905" y="2225288"/>
            <a:ext cx="0" cy="7033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9620790" y="2225872"/>
            <a:ext cx="0" cy="70330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3525125" y="2225872"/>
            <a:ext cx="0" cy="70324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521674" y="3667836"/>
            <a:ext cx="141922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Duolingo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58122" y="3667836"/>
            <a:ext cx="192178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June 19, 2012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0995" y="3427806"/>
            <a:ext cx="3411615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Luis von Ahn (CEO) and Severin Hacker (CTO)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10315" y="3410661"/>
            <a:ext cx="3325286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https://apps.apple.com/us/app/duolingo-language-chess/id570060128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63275" y="3667836"/>
            <a:ext cx="3713049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Compeititor - Compare with our app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0309" y="6051447"/>
            <a:ext cx="144500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Splitwise</a:t>
            </a:r>
            <a:endParaRPr lang="en-US" sz="24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093581" y="6051447"/>
            <a:ext cx="2050494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February 2011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09175" y="6051447"/>
            <a:ext cx="341161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Jonathan Bittner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10315" y="6051447"/>
            <a:ext cx="3411615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https://apps.apple.com/us/app/splitwise/id458023433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87075" y="6051447"/>
            <a:ext cx="3713049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Compeititor - Compare with our app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5909" y="8266962"/>
            <a:ext cx="134499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UniDays</a:t>
            </a:r>
            <a:endParaRPr lang="en-US" sz="24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782298" y="8266962"/>
            <a:ext cx="67306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2011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09175" y="8266962"/>
            <a:ext cx="341161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Josh Rathour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79444" y="8026932"/>
            <a:ext cx="3411615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https://apps.apple.com/dk/app/unidays-student-discount-app/id599608562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63275" y="8057412"/>
            <a:ext cx="3713049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Compeititor - Compare with our app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1776" y="621535"/>
            <a:ext cx="2023824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sz="7199" b="1" dirty="0">
                <a:solidFill>
                  <a:srgbClr val="165FD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9600" y="2301634"/>
            <a:ext cx="123045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Name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29629" y="2301634"/>
            <a:ext cx="257877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Release date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97228" y="2301634"/>
            <a:ext cx="231506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Developers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79443" y="2301633"/>
            <a:ext cx="324523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Download links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87075" y="2301634"/>
            <a:ext cx="378924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Function/purpose</a:t>
            </a:r>
          </a:p>
        </p:txBody>
      </p:sp>
      <p:sp>
        <p:nvSpPr>
          <p:cNvPr id="8" name="AutoShape 8"/>
          <p:cNvSpPr/>
          <p:nvPr/>
        </p:nvSpPr>
        <p:spPr>
          <a:xfrm>
            <a:off x="410299" y="3163011"/>
            <a:ext cx="174674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 flipH="1">
            <a:off x="2284841" y="2225872"/>
            <a:ext cx="0" cy="70324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6016905" y="2225288"/>
            <a:ext cx="0" cy="7033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9620790" y="2225872"/>
            <a:ext cx="0" cy="70330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3525125" y="2225872"/>
            <a:ext cx="0" cy="70324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847489" y="3667836"/>
            <a:ext cx="85703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Visily</a:t>
            </a:r>
            <a:endParaRPr lang="en-US" sz="24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264934" y="3667836"/>
            <a:ext cx="150816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April 2022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13040" y="3667836"/>
            <a:ext cx="341161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Visily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10315" y="3667836"/>
            <a:ext cx="332528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https://www.visily.ai/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63275" y="3489960"/>
            <a:ext cx="3713049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Used to generate high-fidelity wireframes for language learning feature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9141" y="6051447"/>
            <a:ext cx="110091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Figma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46323" y="6051447"/>
            <a:ext cx="294501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September 27, 2016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09175" y="6051447"/>
            <a:ext cx="341161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Figma Dev Mode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10315" y="6051447"/>
            <a:ext cx="3411615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https://www.figma.com/downloads/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87075" y="6051447"/>
            <a:ext cx="3713049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Wireframes for Financial savings - interactive prototype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84602" y="1351357"/>
            <a:ext cx="14931797" cy="5180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b="1" dirty="0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THANK YOU FOR YOUR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4142440" y="6698381"/>
            <a:ext cx="10003120" cy="3588619"/>
          </a:xfrm>
          <a:custGeom>
            <a:avLst/>
            <a:gdLst/>
            <a:ahLst/>
            <a:cxnLst/>
            <a:rect l="l" t="t" r="r" b="b"/>
            <a:pathLst>
              <a:path w="10003120" h="3588619">
                <a:moveTo>
                  <a:pt x="0" y="0"/>
                </a:moveTo>
                <a:lnTo>
                  <a:pt x="10003120" y="0"/>
                </a:lnTo>
                <a:lnTo>
                  <a:pt x="10003120" y="3588619"/>
                </a:lnTo>
                <a:lnTo>
                  <a:pt x="0" y="3588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B95DED9D4BDD4884D190E38DA29033" ma:contentTypeVersion="7" ma:contentTypeDescription="Create a new document." ma:contentTypeScope="" ma:versionID="18a90ff7944518f92b9f8fc2e6e5b3e6">
  <xsd:schema xmlns:xsd="http://www.w3.org/2001/XMLSchema" xmlns:xs="http://www.w3.org/2001/XMLSchema" xmlns:p="http://schemas.microsoft.com/office/2006/metadata/properties" xmlns:ns2="8befa1ef-4082-4187-86ee-b6569d3dc648" targetNamespace="http://schemas.microsoft.com/office/2006/metadata/properties" ma:root="true" ma:fieldsID="31b8472b4eb4aba0c2d87372524f33a1" ns2:_="">
    <xsd:import namespace="8befa1ef-4082-4187-86ee-b6569d3dc6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efa1ef-4082-4187-86ee-b6569d3dc6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24AEE8-1ACA-4245-9241-45C254D147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7461B8-4617-43DE-B151-DA0E25C82747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8befa1ef-4082-4187-86ee-b6569d3dc648"/>
    <ds:schemaRef ds:uri="http://schemas.microsoft.com/office/2006/documentManagement/types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D8B6150B-A14C-4784-B5CD-DBDC1FD086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efa1ef-4082-4187-86ee-b6569d3dc6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1355</Words>
  <Application>Microsoft Office PowerPoint</Application>
  <PresentationFormat>Custom</PresentationFormat>
  <Paragraphs>263</Paragraphs>
  <Slides>28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25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54" baseType="lpstr">
      <vt:lpstr>Futura Bold</vt:lpstr>
      <vt:lpstr>Calibri</vt:lpstr>
      <vt:lpstr>Agrandir Grand Bold</vt:lpstr>
      <vt:lpstr>Arimo Bold</vt:lpstr>
      <vt:lpstr>Open Sauce</vt:lpstr>
      <vt:lpstr>Saira ExtraCondensed Ultra-Bold</vt:lpstr>
      <vt:lpstr>Roboto Bold</vt:lpstr>
      <vt:lpstr>Montserrat Bold</vt:lpstr>
      <vt:lpstr>Open Sans 1 Light</vt:lpstr>
      <vt:lpstr>Arimo</vt:lpstr>
      <vt:lpstr>Garet</vt:lpstr>
      <vt:lpstr>Open Sauce Heavy</vt:lpstr>
      <vt:lpstr>Genty</vt:lpstr>
      <vt:lpstr>Noto Sans Bold</vt:lpstr>
      <vt:lpstr>Arial</vt:lpstr>
      <vt:lpstr>Noto Sans</vt:lpstr>
      <vt:lpstr>Roboto</vt:lpstr>
      <vt:lpstr>Open Sans 2 Ultra-Bold</vt:lpstr>
      <vt:lpstr>Futura Ultra-Bold</vt:lpstr>
      <vt:lpstr>Montserrat Medium</vt:lpstr>
      <vt:lpstr>DM Sans Bold</vt:lpstr>
      <vt:lpstr>Genty Sans</vt:lpstr>
      <vt:lpstr>Montserrat</vt:lpstr>
      <vt:lpstr>Bungee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Presentation</dc:title>
  <cp:lastModifiedBy>Liam Mwatama Banda 2025 (T0453311)</cp:lastModifiedBy>
  <cp:revision>2</cp:revision>
  <dcterms:created xsi:type="dcterms:W3CDTF">2006-08-16T00:00:00Z</dcterms:created>
  <dcterms:modified xsi:type="dcterms:W3CDTF">2026-10-14T12:12:42Z</dcterms:modified>
  <dc:identifier>DAHDEyX1Ro4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0x010100BAB95DED9D4BDD4884D190E38DA29033</vt:lpwstr>
  </property>
</Properties>
</file>