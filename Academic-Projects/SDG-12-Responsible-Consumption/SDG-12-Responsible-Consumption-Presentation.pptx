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0D12F9-3FD4-E46D-E095-DDFD712CD062}" v="1304" dt="2026-10-14T13:55:23.347"/>
    <p1510:client id="{FEC6C0E4-FEDE-4C5E-B670-0479A7A215FC}" v="187" dt="2026-10-14T13:54:42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60"/>
  </p:normalViewPr>
  <p:slideViewPr>
    <p:cSldViewPr snapToGrid="0">
      <p:cViewPr varScale="1">
        <p:scale>
          <a:sx n="83" d="100"/>
          <a:sy n="83" d="100"/>
        </p:scale>
        <p:origin x="47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7CDB26-36C5-4FF0-9589-3F6F362557E2}" type="doc">
      <dgm:prSet loTypeId="urn:microsoft.com/office/officeart/2005/8/layout/vList2" loCatId="list" qsTypeId="urn:microsoft.com/office/officeart/2005/8/quickstyle/simple1#20" qsCatId="simple" csTypeId="urn:microsoft.com/office/officeart/2005/8/colors/accent1_2#14" csCatId="accent1"/>
      <dgm:spPr/>
      <dgm:t>
        <a:bodyPr/>
        <a:lstStyle/>
        <a:p>
          <a:endParaRPr lang="en-US"/>
        </a:p>
      </dgm:t>
    </dgm:pt>
    <dgm:pt modelId="{FF127892-5C94-4736-8812-7BF83BA0A5CA}">
      <dgm:prSet/>
      <dgm:spPr/>
      <dgm:t>
        <a:bodyPr/>
        <a:lstStyle/>
        <a:p>
          <a:r>
            <a:rPr lang="en-GB" dirty="0"/>
            <a:t>Food insecurity:2.3 billion people faced food security in 2024.</a:t>
          </a:r>
          <a:endParaRPr lang="en-US" dirty="0"/>
        </a:p>
      </dgm:t>
    </dgm:pt>
    <dgm:pt modelId="{8C99DDBC-14C4-457D-AC6D-47D78FF2B100}" type="parTrans" cxnId="{F3F3752A-B041-4298-91E7-D2AA9CEB7B62}">
      <dgm:prSet/>
      <dgm:spPr/>
      <dgm:t>
        <a:bodyPr/>
        <a:lstStyle/>
        <a:p>
          <a:endParaRPr lang="en-US"/>
        </a:p>
      </dgm:t>
    </dgm:pt>
    <dgm:pt modelId="{96F289C1-8267-4FBE-A1A8-7230D0D1E6C3}" type="sibTrans" cxnId="{F3F3752A-B041-4298-91E7-D2AA9CEB7B62}">
      <dgm:prSet/>
      <dgm:spPr/>
      <dgm:t>
        <a:bodyPr/>
        <a:lstStyle/>
        <a:p>
          <a:endParaRPr lang="en-US"/>
        </a:p>
      </dgm:t>
    </dgm:pt>
    <dgm:pt modelId="{80889BC1-B025-4265-84B3-D55AF4570DD9}">
      <dgm:prSet/>
      <dgm:spPr/>
      <dgm:t>
        <a:bodyPr/>
        <a:lstStyle/>
        <a:p>
          <a:r>
            <a:rPr lang="en-GB"/>
            <a:t>Food loss: 13.3% of food was lost before retail in 2023.</a:t>
          </a:r>
          <a:endParaRPr lang="en-US"/>
        </a:p>
      </dgm:t>
    </dgm:pt>
    <dgm:pt modelId="{3F3DE918-7E15-4E5F-8B41-4D2CEFAA0706}" type="parTrans" cxnId="{A45E0D18-9F00-4AF9-9812-76A17FA2CDA9}">
      <dgm:prSet/>
      <dgm:spPr/>
      <dgm:t>
        <a:bodyPr/>
        <a:lstStyle/>
        <a:p>
          <a:endParaRPr lang="en-US"/>
        </a:p>
      </dgm:t>
    </dgm:pt>
    <dgm:pt modelId="{8D0701D5-D03C-403F-AEEE-075871339441}" type="sibTrans" cxnId="{A45E0D18-9F00-4AF9-9812-76A17FA2CDA9}">
      <dgm:prSet/>
      <dgm:spPr/>
      <dgm:t>
        <a:bodyPr/>
        <a:lstStyle/>
        <a:p>
          <a:endParaRPr lang="en-US"/>
        </a:p>
      </dgm:t>
    </dgm:pt>
    <dgm:pt modelId="{761B55D9-C1B2-4C4F-A4F7-E9BB465BE2C3}">
      <dgm:prSet/>
      <dgm:spPr/>
      <dgm:t>
        <a:bodyPr/>
        <a:lstStyle/>
        <a:p>
          <a:r>
            <a:rPr lang="en-GB"/>
            <a:t>Food waste: 1.05 billion tonnes wasted in 2022.</a:t>
          </a:r>
          <a:endParaRPr lang="en-US"/>
        </a:p>
      </dgm:t>
    </dgm:pt>
    <dgm:pt modelId="{D81E7C2B-BABD-4DF9-B043-CD360A84E1AC}" type="parTrans" cxnId="{840B7DA3-E71C-4EB1-973E-261A1C6F10BA}">
      <dgm:prSet/>
      <dgm:spPr/>
      <dgm:t>
        <a:bodyPr/>
        <a:lstStyle/>
        <a:p>
          <a:endParaRPr lang="en-US"/>
        </a:p>
      </dgm:t>
    </dgm:pt>
    <dgm:pt modelId="{54C81F39-D1F6-481C-A764-E9BB67ED5F3B}" type="sibTrans" cxnId="{840B7DA3-E71C-4EB1-973E-261A1C6F10BA}">
      <dgm:prSet/>
      <dgm:spPr/>
      <dgm:t>
        <a:bodyPr/>
        <a:lstStyle/>
        <a:p>
          <a:endParaRPr lang="en-US"/>
        </a:p>
      </dgm:t>
    </dgm:pt>
    <dgm:pt modelId="{3CACCEF2-400F-4495-8634-7EDB35D5AB30}">
      <dgm:prSet/>
      <dgm:spPr/>
      <dgm:t>
        <a:bodyPr/>
        <a:lstStyle/>
        <a:p>
          <a:r>
            <a:rPr lang="en-GB"/>
            <a:t>Poor distribution- inadequate storage and transport limit food access.</a:t>
          </a:r>
          <a:endParaRPr lang="en-US"/>
        </a:p>
      </dgm:t>
    </dgm:pt>
    <dgm:pt modelId="{9E0F33D2-70F9-4D7F-B2C0-2C263AB4D1C1}" type="parTrans" cxnId="{D374F87D-EBFE-4A38-AC82-D036A05D7A80}">
      <dgm:prSet/>
      <dgm:spPr/>
      <dgm:t>
        <a:bodyPr/>
        <a:lstStyle/>
        <a:p>
          <a:endParaRPr lang="en-US"/>
        </a:p>
      </dgm:t>
    </dgm:pt>
    <dgm:pt modelId="{A1F9ACB7-4829-4F99-AF90-68DF4E42BBE7}" type="sibTrans" cxnId="{D374F87D-EBFE-4A38-AC82-D036A05D7A80}">
      <dgm:prSet/>
      <dgm:spPr/>
      <dgm:t>
        <a:bodyPr/>
        <a:lstStyle/>
        <a:p>
          <a:endParaRPr lang="en-US"/>
        </a:p>
      </dgm:t>
    </dgm:pt>
    <dgm:pt modelId="{54566E25-FAE7-4982-87EC-3B36113DA194}">
      <dgm:prSet/>
      <dgm:spPr/>
      <dgm:t>
        <a:bodyPr/>
        <a:lstStyle/>
        <a:p>
          <a:r>
            <a:rPr lang="en-GB" dirty="0"/>
            <a:t>Unsustainable consumption- wastes food and valuable resources.</a:t>
          </a:r>
          <a:endParaRPr lang="en-US" dirty="0"/>
        </a:p>
      </dgm:t>
    </dgm:pt>
    <dgm:pt modelId="{A277B398-93CA-4348-BABE-8E4D8C19306F}" type="parTrans" cxnId="{E4F50AF6-3BDE-42A9-A624-F18ED4F794B4}">
      <dgm:prSet/>
      <dgm:spPr/>
      <dgm:t>
        <a:bodyPr/>
        <a:lstStyle/>
        <a:p>
          <a:endParaRPr lang="en-US"/>
        </a:p>
      </dgm:t>
    </dgm:pt>
    <dgm:pt modelId="{9312FCE5-14B8-4D89-B298-9559E7C4CF76}" type="sibTrans" cxnId="{E4F50AF6-3BDE-42A9-A624-F18ED4F794B4}">
      <dgm:prSet/>
      <dgm:spPr/>
      <dgm:t>
        <a:bodyPr/>
        <a:lstStyle/>
        <a:p>
          <a:endParaRPr lang="en-US"/>
        </a:p>
      </dgm:t>
    </dgm:pt>
    <dgm:pt modelId="{3EC53386-7207-4F20-B950-1164E64EDB35}" type="pres">
      <dgm:prSet presAssocID="{4D7CDB26-36C5-4FF0-9589-3F6F362557E2}" presName="linear" presStyleCnt="0">
        <dgm:presLayoutVars>
          <dgm:animLvl val="lvl"/>
          <dgm:resizeHandles val="exact"/>
        </dgm:presLayoutVars>
      </dgm:prSet>
      <dgm:spPr/>
    </dgm:pt>
    <dgm:pt modelId="{A4681410-A79E-423A-9737-2E6CE9F05A34}" type="pres">
      <dgm:prSet presAssocID="{FF127892-5C94-4736-8812-7BF83BA0A5C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D8FB21-ADA1-4502-B8A7-E750E62555EC}" type="pres">
      <dgm:prSet presAssocID="{96F289C1-8267-4FBE-A1A8-7230D0D1E6C3}" presName="spacer" presStyleCnt="0"/>
      <dgm:spPr/>
    </dgm:pt>
    <dgm:pt modelId="{25260705-A816-4841-8C87-13C96397894E}" type="pres">
      <dgm:prSet presAssocID="{80889BC1-B025-4265-84B3-D55AF4570DD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5E194F0-A8AB-4506-89B3-F9CF875C2EEF}" type="pres">
      <dgm:prSet presAssocID="{8D0701D5-D03C-403F-AEEE-075871339441}" presName="spacer" presStyleCnt="0"/>
      <dgm:spPr/>
    </dgm:pt>
    <dgm:pt modelId="{3590D457-DD53-4474-B2C3-8217978C89B4}" type="pres">
      <dgm:prSet presAssocID="{761B55D9-C1B2-4C4F-A4F7-E9BB465BE2C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A8ED3E2-6C4C-4AD7-8CFB-D5205DFA883A}" type="pres">
      <dgm:prSet presAssocID="{54C81F39-D1F6-481C-A764-E9BB67ED5F3B}" presName="spacer" presStyleCnt="0"/>
      <dgm:spPr/>
    </dgm:pt>
    <dgm:pt modelId="{B6EBD9E4-7BDD-4687-867E-6BB60768E832}" type="pres">
      <dgm:prSet presAssocID="{3CACCEF2-400F-4495-8634-7EDB35D5AB3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C0506C8-B21E-4D15-BE8C-FB6F590DBF6B}" type="pres">
      <dgm:prSet presAssocID="{A1F9ACB7-4829-4F99-AF90-68DF4E42BBE7}" presName="spacer" presStyleCnt="0"/>
      <dgm:spPr/>
    </dgm:pt>
    <dgm:pt modelId="{8B585EB0-3CB4-4C2B-AB26-DB91FFD0099E}" type="pres">
      <dgm:prSet presAssocID="{54566E25-FAE7-4982-87EC-3B36113DA19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7EA9E0C-6601-4871-BD79-F5BE05BCCB1A}" type="presOf" srcId="{80889BC1-B025-4265-84B3-D55AF4570DD9}" destId="{25260705-A816-4841-8C87-13C96397894E}" srcOrd="0" destOrd="0" presId="urn:microsoft.com/office/officeart/2005/8/layout/vList2"/>
    <dgm:cxn modelId="{A45E0D18-9F00-4AF9-9812-76A17FA2CDA9}" srcId="{4D7CDB26-36C5-4FF0-9589-3F6F362557E2}" destId="{80889BC1-B025-4265-84B3-D55AF4570DD9}" srcOrd="1" destOrd="0" parTransId="{3F3DE918-7E15-4E5F-8B41-4D2CEFAA0706}" sibTransId="{8D0701D5-D03C-403F-AEEE-075871339441}"/>
    <dgm:cxn modelId="{F3F3752A-B041-4298-91E7-D2AA9CEB7B62}" srcId="{4D7CDB26-36C5-4FF0-9589-3F6F362557E2}" destId="{FF127892-5C94-4736-8812-7BF83BA0A5CA}" srcOrd="0" destOrd="0" parTransId="{8C99DDBC-14C4-457D-AC6D-47D78FF2B100}" sibTransId="{96F289C1-8267-4FBE-A1A8-7230D0D1E6C3}"/>
    <dgm:cxn modelId="{D374F87D-EBFE-4A38-AC82-D036A05D7A80}" srcId="{4D7CDB26-36C5-4FF0-9589-3F6F362557E2}" destId="{3CACCEF2-400F-4495-8634-7EDB35D5AB30}" srcOrd="3" destOrd="0" parTransId="{9E0F33D2-70F9-4D7F-B2C0-2C263AB4D1C1}" sibTransId="{A1F9ACB7-4829-4F99-AF90-68DF4E42BBE7}"/>
    <dgm:cxn modelId="{09E8EE9D-6F0C-469E-A09C-9D1CD072E89E}" type="presOf" srcId="{4D7CDB26-36C5-4FF0-9589-3F6F362557E2}" destId="{3EC53386-7207-4F20-B950-1164E64EDB35}" srcOrd="0" destOrd="0" presId="urn:microsoft.com/office/officeart/2005/8/layout/vList2"/>
    <dgm:cxn modelId="{840B7DA3-E71C-4EB1-973E-261A1C6F10BA}" srcId="{4D7CDB26-36C5-4FF0-9589-3F6F362557E2}" destId="{761B55D9-C1B2-4C4F-A4F7-E9BB465BE2C3}" srcOrd="2" destOrd="0" parTransId="{D81E7C2B-BABD-4DF9-B043-CD360A84E1AC}" sibTransId="{54C81F39-D1F6-481C-A764-E9BB67ED5F3B}"/>
    <dgm:cxn modelId="{A0B10DB8-1D48-4CDE-B297-BE2F0CEDB076}" type="presOf" srcId="{54566E25-FAE7-4982-87EC-3B36113DA194}" destId="{8B585EB0-3CB4-4C2B-AB26-DB91FFD0099E}" srcOrd="0" destOrd="0" presId="urn:microsoft.com/office/officeart/2005/8/layout/vList2"/>
    <dgm:cxn modelId="{A765FEE4-0C4A-4F53-8182-CF67A87E48BE}" type="presOf" srcId="{3CACCEF2-400F-4495-8634-7EDB35D5AB30}" destId="{B6EBD9E4-7BDD-4687-867E-6BB60768E832}" srcOrd="0" destOrd="0" presId="urn:microsoft.com/office/officeart/2005/8/layout/vList2"/>
    <dgm:cxn modelId="{B202F4E7-97E2-428A-97D7-7AEB5F3A0AB3}" type="presOf" srcId="{FF127892-5C94-4736-8812-7BF83BA0A5CA}" destId="{A4681410-A79E-423A-9737-2E6CE9F05A34}" srcOrd="0" destOrd="0" presId="urn:microsoft.com/office/officeart/2005/8/layout/vList2"/>
    <dgm:cxn modelId="{E4F50AF6-3BDE-42A9-A624-F18ED4F794B4}" srcId="{4D7CDB26-36C5-4FF0-9589-3F6F362557E2}" destId="{54566E25-FAE7-4982-87EC-3B36113DA194}" srcOrd="4" destOrd="0" parTransId="{A277B398-93CA-4348-BABE-8E4D8C19306F}" sibTransId="{9312FCE5-14B8-4D89-B298-9559E7C4CF76}"/>
    <dgm:cxn modelId="{E2E8AFFC-F321-4A93-8DD0-614C284DC46E}" type="presOf" srcId="{761B55D9-C1B2-4C4F-A4F7-E9BB465BE2C3}" destId="{3590D457-DD53-4474-B2C3-8217978C89B4}" srcOrd="0" destOrd="0" presId="urn:microsoft.com/office/officeart/2005/8/layout/vList2"/>
    <dgm:cxn modelId="{2AC11BDC-42C1-4F54-98F2-C8FD5792511C}" type="presParOf" srcId="{3EC53386-7207-4F20-B950-1164E64EDB35}" destId="{A4681410-A79E-423A-9737-2E6CE9F05A34}" srcOrd="0" destOrd="0" presId="urn:microsoft.com/office/officeart/2005/8/layout/vList2"/>
    <dgm:cxn modelId="{429E6728-BC50-4EB9-9AC4-D3CF39D945B7}" type="presParOf" srcId="{3EC53386-7207-4F20-B950-1164E64EDB35}" destId="{01D8FB21-ADA1-4502-B8A7-E750E62555EC}" srcOrd="1" destOrd="0" presId="urn:microsoft.com/office/officeart/2005/8/layout/vList2"/>
    <dgm:cxn modelId="{D3024CB7-431E-4581-A209-F1297530F1A8}" type="presParOf" srcId="{3EC53386-7207-4F20-B950-1164E64EDB35}" destId="{25260705-A816-4841-8C87-13C96397894E}" srcOrd="2" destOrd="0" presId="urn:microsoft.com/office/officeart/2005/8/layout/vList2"/>
    <dgm:cxn modelId="{982BDB18-365E-489C-A61E-1FDBDA608470}" type="presParOf" srcId="{3EC53386-7207-4F20-B950-1164E64EDB35}" destId="{C5E194F0-A8AB-4506-89B3-F9CF875C2EEF}" srcOrd="3" destOrd="0" presId="urn:microsoft.com/office/officeart/2005/8/layout/vList2"/>
    <dgm:cxn modelId="{E49024F4-460D-4E49-AFE2-29FE55D93431}" type="presParOf" srcId="{3EC53386-7207-4F20-B950-1164E64EDB35}" destId="{3590D457-DD53-4474-B2C3-8217978C89B4}" srcOrd="4" destOrd="0" presId="urn:microsoft.com/office/officeart/2005/8/layout/vList2"/>
    <dgm:cxn modelId="{2665031A-052F-4979-8D80-006DD90D28DA}" type="presParOf" srcId="{3EC53386-7207-4F20-B950-1164E64EDB35}" destId="{6A8ED3E2-6C4C-4AD7-8CFB-D5205DFA883A}" srcOrd="5" destOrd="0" presId="urn:microsoft.com/office/officeart/2005/8/layout/vList2"/>
    <dgm:cxn modelId="{744CD481-6B71-414A-B67D-9D12A2A5625E}" type="presParOf" srcId="{3EC53386-7207-4F20-B950-1164E64EDB35}" destId="{B6EBD9E4-7BDD-4687-867E-6BB60768E832}" srcOrd="6" destOrd="0" presId="urn:microsoft.com/office/officeart/2005/8/layout/vList2"/>
    <dgm:cxn modelId="{DE4FCDCE-D4FF-4F71-87FA-E2074D786DC3}" type="presParOf" srcId="{3EC53386-7207-4F20-B950-1164E64EDB35}" destId="{DC0506C8-B21E-4D15-BE8C-FB6F590DBF6B}" srcOrd="7" destOrd="0" presId="urn:microsoft.com/office/officeart/2005/8/layout/vList2"/>
    <dgm:cxn modelId="{37A1A509-5517-41BD-9E35-4DC0A5C0D528}" type="presParOf" srcId="{3EC53386-7207-4F20-B950-1164E64EDB35}" destId="{8B585EB0-3CB4-4C2B-AB26-DB91FFD0099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86FC39-BBD4-4B63-ABFD-325A534F5F96}" type="doc">
      <dgm:prSet loTypeId="urn:microsoft.com/office/officeart/2005/8/layout/vList2" loCatId="list" qsTypeId="urn:microsoft.com/office/officeart/2005/8/quickstyle/simple4#4" qsCatId="simple" csTypeId="urn:microsoft.com/office/officeart/2005/8/colors/colorful2#5" csCatId="colorful" phldr="1"/>
      <dgm:spPr/>
      <dgm:t>
        <a:bodyPr/>
        <a:lstStyle/>
        <a:p>
          <a:endParaRPr lang="en-US"/>
        </a:p>
      </dgm:t>
    </dgm:pt>
    <dgm:pt modelId="{94660F4E-7B59-4A83-BA20-1A44C9BBA32E}">
      <dgm:prSet/>
      <dgm:spPr/>
      <dgm:t>
        <a:bodyPr/>
        <a:lstStyle/>
        <a:p>
          <a:r>
            <a:rPr lang="en-GB" dirty="0"/>
            <a:t>Sub- Saharan African- around 23% of food chain is lost along the supply chain.</a:t>
          </a:r>
          <a:endParaRPr lang="en-US" dirty="0"/>
        </a:p>
      </dgm:t>
    </dgm:pt>
    <dgm:pt modelId="{620DFAAD-95C5-4D61-A3EC-E99628002B52}" type="parTrans" cxnId="{781E3FDE-7E05-4198-AAB3-E94356A5A49E}">
      <dgm:prSet/>
      <dgm:spPr/>
      <dgm:t>
        <a:bodyPr/>
        <a:lstStyle/>
        <a:p>
          <a:endParaRPr lang="en-US"/>
        </a:p>
      </dgm:t>
    </dgm:pt>
    <dgm:pt modelId="{9E695C9B-C311-4A2C-A6EF-4CEB21AFF808}" type="sibTrans" cxnId="{781E3FDE-7E05-4198-AAB3-E94356A5A49E}">
      <dgm:prSet/>
      <dgm:spPr/>
      <dgm:t>
        <a:bodyPr/>
        <a:lstStyle/>
        <a:p>
          <a:endParaRPr lang="en-US"/>
        </a:p>
      </dgm:t>
    </dgm:pt>
    <dgm:pt modelId="{C9FED81B-BBA3-4C0E-B285-751AF6A4F92E}">
      <dgm:prSet/>
      <dgm:spPr/>
      <dgm:t>
        <a:bodyPr/>
        <a:lstStyle/>
        <a:p>
          <a:r>
            <a:rPr lang="en-GB" dirty="0"/>
            <a:t>Conflict-affected countries- war disrupts farming and food distribution.</a:t>
          </a:r>
          <a:endParaRPr lang="en-US" dirty="0"/>
        </a:p>
      </dgm:t>
    </dgm:pt>
    <dgm:pt modelId="{67DCF18B-31F4-47A3-AA32-C08BE8210482}" type="parTrans" cxnId="{333A8A71-9D03-4BA2-A95A-49B2FDCE034B}">
      <dgm:prSet/>
      <dgm:spPr/>
      <dgm:t>
        <a:bodyPr/>
        <a:lstStyle/>
        <a:p>
          <a:endParaRPr lang="en-US"/>
        </a:p>
      </dgm:t>
    </dgm:pt>
    <dgm:pt modelId="{4E9BDBB4-3E20-4B5A-A4AE-B3F596C43DD6}" type="sibTrans" cxnId="{333A8A71-9D03-4BA2-A95A-49B2FDCE034B}">
      <dgm:prSet/>
      <dgm:spPr/>
      <dgm:t>
        <a:bodyPr/>
        <a:lstStyle/>
        <a:p>
          <a:endParaRPr lang="en-US"/>
        </a:p>
      </dgm:t>
    </dgm:pt>
    <dgm:pt modelId="{B96283AC-79CF-4BC2-BAD4-56217D93ED7E}">
      <dgm:prSet/>
      <dgm:spPr/>
      <dgm:t>
        <a:bodyPr/>
        <a:lstStyle/>
        <a:p>
          <a:r>
            <a:rPr lang="en-GB"/>
            <a:t>Countries facing economic hardship- high food prices make food harder to afford.</a:t>
          </a:r>
          <a:endParaRPr lang="en-US"/>
        </a:p>
      </dgm:t>
    </dgm:pt>
    <dgm:pt modelId="{1D1CBDF8-6D54-417A-A055-E30A3965142F}" type="parTrans" cxnId="{7019513B-D689-4604-817D-86467587D724}">
      <dgm:prSet/>
      <dgm:spPr/>
      <dgm:t>
        <a:bodyPr/>
        <a:lstStyle/>
        <a:p>
          <a:endParaRPr lang="en-US"/>
        </a:p>
      </dgm:t>
    </dgm:pt>
    <dgm:pt modelId="{DD27CC35-7809-4ECB-A3DD-C6B65ACD039B}" type="sibTrans" cxnId="{7019513B-D689-4604-817D-86467587D724}">
      <dgm:prSet/>
      <dgm:spPr/>
      <dgm:t>
        <a:bodyPr/>
        <a:lstStyle/>
        <a:p>
          <a:endParaRPr lang="en-US"/>
        </a:p>
      </dgm:t>
    </dgm:pt>
    <dgm:pt modelId="{470859E4-6203-4928-9611-48FA7ACB8FC3}">
      <dgm:prSet/>
      <dgm:spPr/>
      <dgm:t>
        <a:bodyPr/>
        <a:lstStyle/>
        <a:p>
          <a:r>
            <a:rPr lang="en-GB"/>
            <a:t>Areas with poor infrastructure: limited storage and transportation cause food losses.</a:t>
          </a:r>
          <a:endParaRPr lang="en-US"/>
        </a:p>
      </dgm:t>
    </dgm:pt>
    <dgm:pt modelId="{743D6934-4C9B-44E0-AC8A-63457E233923}" type="parTrans" cxnId="{0FB30A74-6927-464E-879E-6A8626B91568}">
      <dgm:prSet/>
      <dgm:spPr/>
      <dgm:t>
        <a:bodyPr/>
        <a:lstStyle/>
        <a:p>
          <a:endParaRPr lang="en-US"/>
        </a:p>
      </dgm:t>
    </dgm:pt>
    <dgm:pt modelId="{A03E7B38-FF00-4D5E-8663-DD2C70CD77E3}" type="sibTrans" cxnId="{0FB30A74-6927-464E-879E-6A8626B91568}">
      <dgm:prSet/>
      <dgm:spPr/>
      <dgm:t>
        <a:bodyPr/>
        <a:lstStyle/>
        <a:p>
          <a:endParaRPr lang="en-US"/>
        </a:p>
      </dgm:t>
    </dgm:pt>
    <dgm:pt modelId="{A67D0D68-D90B-4213-AC41-982685957A9F}" type="pres">
      <dgm:prSet presAssocID="{6B86FC39-BBD4-4B63-ABFD-325A534F5F96}" presName="linear" presStyleCnt="0">
        <dgm:presLayoutVars>
          <dgm:animLvl val="lvl"/>
          <dgm:resizeHandles val="exact"/>
        </dgm:presLayoutVars>
      </dgm:prSet>
      <dgm:spPr/>
    </dgm:pt>
    <dgm:pt modelId="{4A88C9AB-F928-441C-976F-C2E813C37C2B}" type="pres">
      <dgm:prSet presAssocID="{94660F4E-7B59-4A83-BA20-1A44C9BBA3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6B292C-5321-4B2D-8D39-59B771A15B76}" type="pres">
      <dgm:prSet presAssocID="{9E695C9B-C311-4A2C-A6EF-4CEB21AFF808}" presName="spacer" presStyleCnt="0"/>
      <dgm:spPr/>
    </dgm:pt>
    <dgm:pt modelId="{6A94737C-383B-43F1-B5CD-F5382373C823}" type="pres">
      <dgm:prSet presAssocID="{C9FED81B-BBA3-4C0E-B285-751AF6A4F92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0A5949-1417-4EF0-A118-B05B165A52C0}" type="pres">
      <dgm:prSet presAssocID="{4E9BDBB4-3E20-4B5A-A4AE-B3F596C43DD6}" presName="spacer" presStyleCnt="0"/>
      <dgm:spPr/>
    </dgm:pt>
    <dgm:pt modelId="{418DA5BE-11EF-4974-BD9F-A025B29FC634}" type="pres">
      <dgm:prSet presAssocID="{B96283AC-79CF-4BC2-BAD4-56217D93ED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3D6F15-EAEA-4424-A870-78DB4ED8CBB2}" type="pres">
      <dgm:prSet presAssocID="{DD27CC35-7809-4ECB-A3DD-C6B65ACD039B}" presName="spacer" presStyleCnt="0"/>
      <dgm:spPr/>
    </dgm:pt>
    <dgm:pt modelId="{BBBA86BD-013C-486C-AB74-2E9B3DD68255}" type="pres">
      <dgm:prSet presAssocID="{470859E4-6203-4928-9611-48FA7ACB8FC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A729105-8D25-4CA1-B0A9-535658C099A3}" type="presOf" srcId="{6B86FC39-BBD4-4B63-ABFD-325A534F5F96}" destId="{A67D0D68-D90B-4213-AC41-982685957A9F}" srcOrd="0" destOrd="0" presId="urn:microsoft.com/office/officeart/2005/8/layout/vList2"/>
    <dgm:cxn modelId="{8CCFD01F-5061-4F42-867E-7C9FC0C422C6}" type="presOf" srcId="{C9FED81B-BBA3-4C0E-B285-751AF6A4F92E}" destId="{6A94737C-383B-43F1-B5CD-F5382373C823}" srcOrd="0" destOrd="0" presId="urn:microsoft.com/office/officeart/2005/8/layout/vList2"/>
    <dgm:cxn modelId="{7019513B-D689-4604-817D-86467587D724}" srcId="{6B86FC39-BBD4-4B63-ABFD-325A534F5F96}" destId="{B96283AC-79CF-4BC2-BAD4-56217D93ED7E}" srcOrd="2" destOrd="0" parTransId="{1D1CBDF8-6D54-417A-A055-E30A3965142F}" sibTransId="{DD27CC35-7809-4ECB-A3DD-C6B65ACD039B}"/>
    <dgm:cxn modelId="{333A8A71-9D03-4BA2-A95A-49B2FDCE034B}" srcId="{6B86FC39-BBD4-4B63-ABFD-325A534F5F96}" destId="{C9FED81B-BBA3-4C0E-B285-751AF6A4F92E}" srcOrd="1" destOrd="0" parTransId="{67DCF18B-31F4-47A3-AA32-C08BE8210482}" sibTransId="{4E9BDBB4-3E20-4B5A-A4AE-B3F596C43DD6}"/>
    <dgm:cxn modelId="{0FB30A74-6927-464E-879E-6A8626B91568}" srcId="{6B86FC39-BBD4-4B63-ABFD-325A534F5F96}" destId="{470859E4-6203-4928-9611-48FA7ACB8FC3}" srcOrd="3" destOrd="0" parTransId="{743D6934-4C9B-44E0-AC8A-63457E233923}" sibTransId="{A03E7B38-FF00-4D5E-8663-DD2C70CD77E3}"/>
    <dgm:cxn modelId="{DE18125A-87E8-4D17-B05B-2C1406FE9730}" type="presOf" srcId="{94660F4E-7B59-4A83-BA20-1A44C9BBA32E}" destId="{4A88C9AB-F928-441C-976F-C2E813C37C2B}" srcOrd="0" destOrd="0" presId="urn:microsoft.com/office/officeart/2005/8/layout/vList2"/>
    <dgm:cxn modelId="{DF22E095-9A89-41CF-AB1F-9B864A5D5403}" type="presOf" srcId="{B96283AC-79CF-4BC2-BAD4-56217D93ED7E}" destId="{418DA5BE-11EF-4974-BD9F-A025B29FC634}" srcOrd="0" destOrd="0" presId="urn:microsoft.com/office/officeart/2005/8/layout/vList2"/>
    <dgm:cxn modelId="{781E3FDE-7E05-4198-AAB3-E94356A5A49E}" srcId="{6B86FC39-BBD4-4B63-ABFD-325A534F5F96}" destId="{94660F4E-7B59-4A83-BA20-1A44C9BBA32E}" srcOrd="0" destOrd="0" parTransId="{620DFAAD-95C5-4D61-A3EC-E99628002B52}" sibTransId="{9E695C9B-C311-4A2C-A6EF-4CEB21AFF808}"/>
    <dgm:cxn modelId="{74672FE0-BD21-41F8-AD2D-19838CEF0F31}" type="presOf" srcId="{470859E4-6203-4928-9611-48FA7ACB8FC3}" destId="{BBBA86BD-013C-486C-AB74-2E9B3DD68255}" srcOrd="0" destOrd="0" presId="urn:microsoft.com/office/officeart/2005/8/layout/vList2"/>
    <dgm:cxn modelId="{08431495-0FBF-4D80-9D66-19B81765AEC9}" type="presParOf" srcId="{A67D0D68-D90B-4213-AC41-982685957A9F}" destId="{4A88C9AB-F928-441C-976F-C2E813C37C2B}" srcOrd="0" destOrd="0" presId="urn:microsoft.com/office/officeart/2005/8/layout/vList2"/>
    <dgm:cxn modelId="{32CB0DB5-7610-4F6E-BEB6-9729A3DFD0B1}" type="presParOf" srcId="{A67D0D68-D90B-4213-AC41-982685957A9F}" destId="{F76B292C-5321-4B2D-8D39-59B771A15B76}" srcOrd="1" destOrd="0" presId="urn:microsoft.com/office/officeart/2005/8/layout/vList2"/>
    <dgm:cxn modelId="{8E42D475-715A-4EC4-9C6E-1C8434B3F70E}" type="presParOf" srcId="{A67D0D68-D90B-4213-AC41-982685957A9F}" destId="{6A94737C-383B-43F1-B5CD-F5382373C823}" srcOrd="2" destOrd="0" presId="urn:microsoft.com/office/officeart/2005/8/layout/vList2"/>
    <dgm:cxn modelId="{3BA0A770-8B0E-4DA9-8E2F-F16EA736303C}" type="presParOf" srcId="{A67D0D68-D90B-4213-AC41-982685957A9F}" destId="{860A5949-1417-4EF0-A118-B05B165A52C0}" srcOrd="3" destOrd="0" presId="urn:microsoft.com/office/officeart/2005/8/layout/vList2"/>
    <dgm:cxn modelId="{BE4664B8-957D-4A5F-95A6-9677B51ACA11}" type="presParOf" srcId="{A67D0D68-D90B-4213-AC41-982685957A9F}" destId="{418DA5BE-11EF-4974-BD9F-A025B29FC634}" srcOrd="4" destOrd="0" presId="urn:microsoft.com/office/officeart/2005/8/layout/vList2"/>
    <dgm:cxn modelId="{543DF334-21EF-4C27-9E72-6C1E28DE513F}" type="presParOf" srcId="{A67D0D68-D90B-4213-AC41-982685957A9F}" destId="{113D6F15-EAEA-4424-A870-78DB4ED8CBB2}" srcOrd="5" destOrd="0" presId="urn:microsoft.com/office/officeart/2005/8/layout/vList2"/>
    <dgm:cxn modelId="{691CAD96-9A30-4849-B798-C05DA06675C1}" type="presParOf" srcId="{A67D0D68-D90B-4213-AC41-982685957A9F}" destId="{BBBA86BD-013C-486C-AB74-2E9B3DD682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EA67A2-AC08-41A3-8891-6880FE6910C5}" type="doc">
      <dgm:prSet loTypeId="urn:microsoft.com/office/officeart/2018/2/layout/IconLabelList" loCatId="icon" qsTypeId="urn:microsoft.com/office/officeart/2005/8/quickstyle/simple1#28" qsCatId="simple" csTypeId="urn:microsoft.com/office/officeart/2005/8/colors/accent1_2#21" csCatId="accent1" phldr="1"/>
      <dgm:spPr/>
      <dgm:t>
        <a:bodyPr/>
        <a:lstStyle/>
        <a:p>
          <a:endParaRPr lang="en-US"/>
        </a:p>
      </dgm:t>
    </dgm:pt>
    <dgm:pt modelId="{17F0F798-1C28-479E-A1E2-310B4AB4D8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poor transport: delays can cause food to spoil before reaching markets</a:t>
          </a:r>
          <a:endParaRPr lang="en-US" sz="1200" dirty="0"/>
        </a:p>
      </dgm:t>
    </dgm:pt>
    <dgm:pt modelId="{0BA68E2F-C87A-4BD0-84E6-C928608133B9}" type="parTrans" cxnId="{3D66D989-615F-4A85-8A8E-8B88DAF5796E}">
      <dgm:prSet/>
      <dgm:spPr/>
      <dgm:t>
        <a:bodyPr/>
        <a:lstStyle/>
        <a:p>
          <a:endParaRPr lang="en-US"/>
        </a:p>
      </dgm:t>
    </dgm:pt>
    <dgm:pt modelId="{E48FEA93-217D-4416-BDF1-35AD37397F7B}" type="sibTrans" cxnId="{3D66D989-615F-4A85-8A8E-8B88DAF5796E}">
      <dgm:prSet/>
      <dgm:spPr/>
      <dgm:t>
        <a:bodyPr/>
        <a:lstStyle/>
        <a:p>
          <a:endParaRPr lang="en-US"/>
        </a:p>
      </dgm:t>
    </dgm:pt>
    <dgm:pt modelId="{8BAE2F72-0A7C-4180-93F1-4ECD75AD680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inadequate storage: lack of refrigeration increases food loss</a:t>
          </a:r>
          <a:r>
            <a:rPr lang="en-GB" sz="1100" dirty="0"/>
            <a:t>.</a:t>
          </a:r>
          <a:endParaRPr lang="en-US" sz="1100" dirty="0"/>
        </a:p>
      </dgm:t>
    </dgm:pt>
    <dgm:pt modelId="{74B2C842-F3FF-4A0C-AF28-321D743EF98C}" type="parTrans" cxnId="{F97DA71C-D047-46F2-9691-CB60E1600444}">
      <dgm:prSet/>
      <dgm:spPr/>
      <dgm:t>
        <a:bodyPr/>
        <a:lstStyle/>
        <a:p>
          <a:endParaRPr lang="en-US"/>
        </a:p>
      </dgm:t>
    </dgm:pt>
    <dgm:pt modelId="{86BCE51B-9F7F-4365-89C2-75262243A5F9}" type="sibTrans" cxnId="{F97DA71C-D047-46F2-9691-CB60E1600444}">
      <dgm:prSet/>
      <dgm:spPr/>
      <dgm:t>
        <a:bodyPr/>
        <a:lstStyle/>
        <a:p>
          <a:endParaRPr lang="en-US"/>
        </a:p>
      </dgm:t>
    </dgm:pt>
    <dgm:pt modelId="{F71B689B-CBCA-4890-BEC1-CDBAFCC755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inefficient supply chains: food may not reach areas where there is demand</a:t>
          </a:r>
          <a:endParaRPr lang="en-US" sz="1200" dirty="0"/>
        </a:p>
      </dgm:t>
    </dgm:pt>
    <dgm:pt modelId="{F798A7FB-8860-4AD2-B5B8-3DF919FAE243}" type="parTrans" cxnId="{5025715D-40B9-4E1A-91DA-075DFEF76E96}">
      <dgm:prSet/>
      <dgm:spPr/>
      <dgm:t>
        <a:bodyPr/>
        <a:lstStyle/>
        <a:p>
          <a:endParaRPr lang="en-US"/>
        </a:p>
      </dgm:t>
    </dgm:pt>
    <dgm:pt modelId="{64656873-0B3E-4AAE-8A70-DF8A6A0D6A8A}" type="sibTrans" cxnId="{5025715D-40B9-4E1A-91DA-075DFEF76E96}">
      <dgm:prSet/>
      <dgm:spPr/>
      <dgm:t>
        <a:bodyPr/>
        <a:lstStyle/>
        <a:p>
          <a:endParaRPr lang="en-US"/>
        </a:p>
      </dgm:t>
    </dgm:pt>
    <dgm:pt modelId="{21F15F8B-A5AB-4866-8C2A-4875ED449A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High distribution costs: transport expenses can increase food prices.</a:t>
          </a:r>
          <a:endParaRPr lang="en-US" sz="1200" dirty="0"/>
        </a:p>
      </dgm:t>
    </dgm:pt>
    <dgm:pt modelId="{2245AB17-4D66-47AA-89BA-74E95E0FAC5E}" type="parTrans" cxnId="{28721B31-457B-4C24-8295-8872BBD0E156}">
      <dgm:prSet/>
      <dgm:spPr/>
      <dgm:t>
        <a:bodyPr/>
        <a:lstStyle/>
        <a:p>
          <a:endParaRPr lang="en-US"/>
        </a:p>
      </dgm:t>
    </dgm:pt>
    <dgm:pt modelId="{04E6CAB4-B4FC-4172-B4EE-8D22BE4C02DB}" type="sibTrans" cxnId="{28721B31-457B-4C24-8295-8872BBD0E156}">
      <dgm:prSet/>
      <dgm:spPr/>
      <dgm:t>
        <a:bodyPr/>
        <a:lstStyle/>
        <a:p>
          <a:endParaRPr lang="en-US"/>
        </a:p>
      </dgm:t>
    </dgm:pt>
    <dgm:pt modelId="{0D330068-A1C5-48B1-983E-F52E7740987E}" type="pres">
      <dgm:prSet presAssocID="{56EA67A2-AC08-41A3-8891-6880FE6910C5}" presName="root" presStyleCnt="0">
        <dgm:presLayoutVars>
          <dgm:dir/>
          <dgm:resizeHandles val="exact"/>
        </dgm:presLayoutVars>
      </dgm:prSet>
      <dgm:spPr/>
    </dgm:pt>
    <dgm:pt modelId="{FB41F8CE-D9AA-42A7-8EB9-789911580F2B}" type="pres">
      <dgm:prSet presAssocID="{17F0F798-1C28-479E-A1E2-310B4AB4D8A5}" presName="compNode" presStyleCnt="0"/>
      <dgm:spPr/>
    </dgm:pt>
    <dgm:pt modelId="{011774AD-96FB-496C-9F2C-7B6FCAC92224}" type="pres">
      <dgm:prSet presAssocID="{17F0F798-1C28-479E-A1E2-310B4AB4D8A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980413BF-BE63-453B-A652-0407379EF492}" type="pres">
      <dgm:prSet presAssocID="{17F0F798-1C28-479E-A1E2-310B4AB4D8A5}" presName="spaceRect" presStyleCnt="0"/>
      <dgm:spPr/>
    </dgm:pt>
    <dgm:pt modelId="{2C396912-E1C5-4DC5-9FEB-D405E1C0A925}" type="pres">
      <dgm:prSet presAssocID="{17F0F798-1C28-479E-A1E2-310B4AB4D8A5}" presName="textRect" presStyleLbl="revTx" presStyleIdx="0" presStyleCnt="4">
        <dgm:presLayoutVars>
          <dgm:chMax val="1"/>
          <dgm:chPref val="1"/>
        </dgm:presLayoutVars>
      </dgm:prSet>
      <dgm:spPr/>
    </dgm:pt>
    <dgm:pt modelId="{E897C7A9-B457-4282-9A7C-91C1891F948E}" type="pres">
      <dgm:prSet presAssocID="{E48FEA93-217D-4416-BDF1-35AD37397F7B}" presName="sibTrans" presStyleCnt="0"/>
      <dgm:spPr/>
    </dgm:pt>
    <dgm:pt modelId="{7BAD922E-2866-424D-A7DD-C85A82D7286D}" type="pres">
      <dgm:prSet presAssocID="{8BAE2F72-0A7C-4180-93F1-4ECD75AD680F}" presName="compNode" presStyleCnt="0"/>
      <dgm:spPr/>
    </dgm:pt>
    <dgm:pt modelId="{3D940E06-82F3-4B50-B71E-9E0AA2662233}" type="pres">
      <dgm:prSet presAssocID="{8BAE2F72-0A7C-4180-93F1-4ECD75AD680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mach"/>
        </a:ext>
      </dgm:extLst>
    </dgm:pt>
    <dgm:pt modelId="{8D614CD5-8771-4313-9041-8BB3CE27BB08}" type="pres">
      <dgm:prSet presAssocID="{8BAE2F72-0A7C-4180-93F1-4ECD75AD680F}" presName="spaceRect" presStyleCnt="0"/>
      <dgm:spPr/>
    </dgm:pt>
    <dgm:pt modelId="{D2F4F2BF-93C5-4B07-9040-F95FD8FB15F1}" type="pres">
      <dgm:prSet presAssocID="{8BAE2F72-0A7C-4180-93F1-4ECD75AD680F}" presName="textRect" presStyleLbl="revTx" presStyleIdx="1" presStyleCnt="4">
        <dgm:presLayoutVars>
          <dgm:chMax val="1"/>
          <dgm:chPref val="1"/>
        </dgm:presLayoutVars>
      </dgm:prSet>
      <dgm:spPr/>
    </dgm:pt>
    <dgm:pt modelId="{5026A802-C9E4-4927-A025-516CECC35320}" type="pres">
      <dgm:prSet presAssocID="{86BCE51B-9F7F-4365-89C2-75262243A5F9}" presName="sibTrans" presStyleCnt="0"/>
      <dgm:spPr/>
    </dgm:pt>
    <dgm:pt modelId="{B643588F-103F-426F-989E-A6642D065ACD}" type="pres">
      <dgm:prSet presAssocID="{F71B689B-CBCA-4890-BEC1-CDBAFCC7555A}" presName="compNode" presStyleCnt="0"/>
      <dgm:spPr/>
    </dgm:pt>
    <dgm:pt modelId="{2EF3578F-0B59-4B75-B6E8-FBCE40AA7FF3}" type="pres">
      <dgm:prSet presAssocID="{F71B689B-CBCA-4890-BEC1-CDBAFCC7555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n"/>
        </a:ext>
      </dgm:extLst>
    </dgm:pt>
    <dgm:pt modelId="{B18BA041-F671-48E7-A084-5DB581338825}" type="pres">
      <dgm:prSet presAssocID="{F71B689B-CBCA-4890-BEC1-CDBAFCC7555A}" presName="spaceRect" presStyleCnt="0"/>
      <dgm:spPr/>
    </dgm:pt>
    <dgm:pt modelId="{B2D5122D-7DEC-4999-A6FC-7E1D0B06847D}" type="pres">
      <dgm:prSet presAssocID="{F71B689B-CBCA-4890-BEC1-CDBAFCC7555A}" presName="textRect" presStyleLbl="revTx" presStyleIdx="2" presStyleCnt="4">
        <dgm:presLayoutVars>
          <dgm:chMax val="1"/>
          <dgm:chPref val="1"/>
        </dgm:presLayoutVars>
      </dgm:prSet>
      <dgm:spPr/>
    </dgm:pt>
    <dgm:pt modelId="{CB7C883E-75BA-498A-9CEC-A41751386D61}" type="pres">
      <dgm:prSet presAssocID="{64656873-0B3E-4AAE-8A70-DF8A6A0D6A8A}" presName="sibTrans" presStyleCnt="0"/>
      <dgm:spPr/>
    </dgm:pt>
    <dgm:pt modelId="{31959EE8-ADDF-4330-802E-9BAC76D864CD}" type="pres">
      <dgm:prSet presAssocID="{21F15F8B-A5AB-4866-8C2A-4875ED449A79}" presName="compNode" presStyleCnt="0"/>
      <dgm:spPr/>
    </dgm:pt>
    <dgm:pt modelId="{82E8D0AD-661A-43D8-A790-D4ECAABEDC81}" type="pres">
      <dgm:prSet presAssocID="{21F15F8B-A5AB-4866-8C2A-4875ED449A7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und"/>
        </a:ext>
      </dgm:extLst>
    </dgm:pt>
    <dgm:pt modelId="{C0B047E0-6CA0-4FBA-A1CB-2A35EC7A5630}" type="pres">
      <dgm:prSet presAssocID="{21F15F8B-A5AB-4866-8C2A-4875ED449A79}" presName="spaceRect" presStyleCnt="0"/>
      <dgm:spPr/>
    </dgm:pt>
    <dgm:pt modelId="{02902F22-1848-44AF-A359-C836CE5CCE30}" type="pres">
      <dgm:prSet presAssocID="{21F15F8B-A5AB-4866-8C2A-4875ED449A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3CEB0E-CD85-4F4C-AECD-4874F8D08D99}" type="presOf" srcId="{56EA67A2-AC08-41A3-8891-6880FE6910C5}" destId="{0D330068-A1C5-48B1-983E-F52E7740987E}" srcOrd="0" destOrd="0" presId="urn:microsoft.com/office/officeart/2018/2/layout/IconLabelList"/>
    <dgm:cxn modelId="{F97DA71C-D047-46F2-9691-CB60E1600444}" srcId="{56EA67A2-AC08-41A3-8891-6880FE6910C5}" destId="{8BAE2F72-0A7C-4180-93F1-4ECD75AD680F}" srcOrd="1" destOrd="0" parTransId="{74B2C842-F3FF-4A0C-AF28-321D743EF98C}" sibTransId="{86BCE51B-9F7F-4365-89C2-75262243A5F9}"/>
    <dgm:cxn modelId="{28721B31-457B-4C24-8295-8872BBD0E156}" srcId="{56EA67A2-AC08-41A3-8891-6880FE6910C5}" destId="{21F15F8B-A5AB-4866-8C2A-4875ED449A79}" srcOrd="3" destOrd="0" parTransId="{2245AB17-4D66-47AA-89BA-74E95E0FAC5E}" sibTransId="{04E6CAB4-B4FC-4172-B4EE-8D22BE4C02DB}"/>
    <dgm:cxn modelId="{5025715D-40B9-4E1A-91DA-075DFEF76E96}" srcId="{56EA67A2-AC08-41A3-8891-6880FE6910C5}" destId="{F71B689B-CBCA-4890-BEC1-CDBAFCC7555A}" srcOrd="2" destOrd="0" parTransId="{F798A7FB-8860-4AD2-B5B8-3DF919FAE243}" sibTransId="{64656873-0B3E-4AAE-8A70-DF8A6A0D6A8A}"/>
    <dgm:cxn modelId="{1C710D70-7F54-439F-8B6D-BB209B8D36FD}" type="presOf" srcId="{F71B689B-CBCA-4890-BEC1-CDBAFCC7555A}" destId="{B2D5122D-7DEC-4999-A6FC-7E1D0B06847D}" srcOrd="0" destOrd="0" presId="urn:microsoft.com/office/officeart/2018/2/layout/IconLabelList"/>
    <dgm:cxn modelId="{C405147D-5158-4718-BE0A-84261EE019DF}" type="presOf" srcId="{8BAE2F72-0A7C-4180-93F1-4ECD75AD680F}" destId="{D2F4F2BF-93C5-4B07-9040-F95FD8FB15F1}" srcOrd="0" destOrd="0" presId="urn:microsoft.com/office/officeart/2018/2/layout/IconLabelList"/>
    <dgm:cxn modelId="{045F6182-9D26-48AF-B196-8CF57DE4C743}" type="presOf" srcId="{21F15F8B-A5AB-4866-8C2A-4875ED449A79}" destId="{02902F22-1848-44AF-A359-C836CE5CCE30}" srcOrd="0" destOrd="0" presId="urn:microsoft.com/office/officeart/2018/2/layout/IconLabelList"/>
    <dgm:cxn modelId="{3D66D989-615F-4A85-8A8E-8B88DAF5796E}" srcId="{56EA67A2-AC08-41A3-8891-6880FE6910C5}" destId="{17F0F798-1C28-479E-A1E2-310B4AB4D8A5}" srcOrd="0" destOrd="0" parTransId="{0BA68E2F-C87A-4BD0-84E6-C928608133B9}" sibTransId="{E48FEA93-217D-4416-BDF1-35AD37397F7B}"/>
    <dgm:cxn modelId="{3FCDCC9E-F22D-421C-8886-D7E61B069F07}" type="presOf" srcId="{17F0F798-1C28-479E-A1E2-310B4AB4D8A5}" destId="{2C396912-E1C5-4DC5-9FEB-D405E1C0A925}" srcOrd="0" destOrd="0" presId="urn:microsoft.com/office/officeart/2018/2/layout/IconLabelList"/>
    <dgm:cxn modelId="{92C901DD-217C-4D41-A178-471B8F210B36}" type="presParOf" srcId="{0D330068-A1C5-48B1-983E-F52E7740987E}" destId="{FB41F8CE-D9AA-42A7-8EB9-789911580F2B}" srcOrd="0" destOrd="0" presId="urn:microsoft.com/office/officeart/2018/2/layout/IconLabelList"/>
    <dgm:cxn modelId="{ED89921B-1918-420C-A663-59AFDCA63A9D}" type="presParOf" srcId="{FB41F8CE-D9AA-42A7-8EB9-789911580F2B}" destId="{011774AD-96FB-496C-9F2C-7B6FCAC92224}" srcOrd="0" destOrd="0" presId="urn:microsoft.com/office/officeart/2018/2/layout/IconLabelList"/>
    <dgm:cxn modelId="{A41E39D5-4CAD-437B-8468-13F8BDF13E84}" type="presParOf" srcId="{FB41F8CE-D9AA-42A7-8EB9-789911580F2B}" destId="{980413BF-BE63-453B-A652-0407379EF492}" srcOrd="1" destOrd="0" presId="urn:microsoft.com/office/officeart/2018/2/layout/IconLabelList"/>
    <dgm:cxn modelId="{FDE77E47-424C-47FA-9AC2-61A00C758E88}" type="presParOf" srcId="{FB41F8CE-D9AA-42A7-8EB9-789911580F2B}" destId="{2C396912-E1C5-4DC5-9FEB-D405E1C0A925}" srcOrd="2" destOrd="0" presId="urn:microsoft.com/office/officeart/2018/2/layout/IconLabelList"/>
    <dgm:cxn modelId="{9B2D5B3A-D80A-4FE2-8B88-039E054CB91B}" type="presParOf" srcId="{0D330068-A1C5-48B1-983E-F52E7740987E}" destId="{E897C7A9-B457-4282-9A7C-91C1891F948E}" srcOrd="1" destOrd="0" presId="urn:microsoft.com/office/officeart/2018/2/layout/IconLabelList"/>
    <dgm:cxn modelId="{C3B68FDC-B151-473E-85EE-688EC6993B03}" type="presParOf" srcId="{0D330068-A1C5-48B1-983E-F52E7740987E}" destId="{7BAD922E-2866-424D-A7DD-C85A82D7286D}" srcOrd="2" destOrd="0" presId="urn:microsoft.com/office/officeart/2018/2/layout/IconLabelList"/>
    <dgm:cxn modelId="{58084FC9-219F-424D-9172-C87C38E26379}" type="presParOf" srcId="{7BAD922E-2866-424D-A7DD-C85A82D7286D}" destId="{3D940E06-82F3-4B50-B71E-9E0AA2662233}" srcOrd="0" destOrd="0" presId="urn:microsoft.com/office/officeart/2018/2/layout/IconLabelList"/>
    <dgm:cxn modelId="{8C793AD8-5F3B-4BA5-9E62-347C15DE59E6}" type="presParOf" srcId="{7BAD922E-2866-424D-A7DD-C85A82D7286D}" destId="{8D614CD5-8771-4313-9041-8BB3CE27BB08}" srcOrd="1" destOrd="0" presId="urn:microsoft.com/office/officeart/2018/2/layout/IconLabelList"/>
    <dgm:cxn modelId="{84D8067E-D15D-426A-AF3C-C4AD5C255BEE}" type="presParOf" srcId="{7BAD922E-2866-424D-A7DD-C85A82D7286D}" destId="{D2F4F2BF-93C5-4B07-9040-F95FD8FB15F1}" srcOrd="2" destOrd="0" presId="urn:microsoft.com/office/officeart/2018/2/layout/IconLabelList"/>
    <dgm:cxn modelId="{36E7BC90-FABD-454E-93E6-6215B85F7D2A}" type="presParOf" srcId="{0D330068-A1C5-48B1-983E-F52E7740987E}" destId="{5026A802-C9E4-4927-A025-516CECC35320}" srcOrd="3" destOrd="0" presId="urn:microsoft.com/office/officeart/2018/2/layout/IconLabelList"/>
    <dgm:cxn modelId="{10F79B4E-6B28-4D68-9646-47246724B969}" type="presParOf" srcId="{0D330068-A1C5-48B1-983E-F52E7740987E}" destId="{B643588F-103F-426F-989E-A6642D065ACD}" srcOrd="4" destOrd="0" presId="urn:microsoft.com/office/officeart/2018/2/layout/IconLabelList"/>
    <dgm:cxn modelId="{809F78E2-3EC2-4BA9-BDF0-51F64DB20B50}" type="presParOf" srcId="{B643588F-103F-426F-989E-A6642D065ACD}" destId="{2EF3578F-0B59-4B75-B6E8-FBCE40AA7FF3}" srcOrd="0" destOrd="0" presId="urn:microsoft.com/office/officeart/2018/2/layout/IconLabelList"/>
    <dgm:cxn modelId="{122F6177-1DB3-4DBE-BCCF-0B5FF77F7FCC}" type="presParOf" srcId="{B643588F-103F-426F-989E-A6642D065ACD}" destId="{B18BA041-F671-48E7-A084-5DB581338825}" srcOrd="1" destOrd="0" presId="urn:microsoft.com/office/officeart/2018/2/layout/IconLabelList"/>
    <dgm:cxn modelId="{03BD75D6-657B-4574-860D-269E60C9827B}" type="presParOf" srcId="{B643588F-103F-426F-989E-A6642D065ACD}" destId="{B2D5122D-7DEC-4999-A6FC-7E1D0B06847D}" srcOrd="2" destOrd="0" presId="urn:microsoft.com/office/officeart/2018/2/layout/IconLabelList"/>
    <dgm:cxn modelId="{F9AA69AC-04E7-4B73-B3C9-1B64383EC8AE}" type="presParOf" srcId="{0D330068-A1C5-48B1-983E-F52E7740987E}" destId="{CB7C883E-75BA-498A-9CEC-A41751386D61}" srcOrd="5" destOrd="0" presId="urn:microsoft.com/office/officeart/2018/2/layout/IconLabelList"/>
    <dgm:cxn modelId="{457E11A1-DED6-4564-806B-CAF09CD2C122}" type="presParOf" srcId="{0D330068-A1C5-48B1-983E-F52E7740987E}" destId="{31959EE8-ADDF-4330-802E-9BAC76D864CD}" srcOrd="6" destOrd="0" presId="urn:microsoft.com/office/officeart/2018/2/layout/IconLabelList"/>
    <dgm:cxn modelId="{4994C403-08EE-4F30-A088-2A1DFB21F491}" type="presParOf" srcId="{31959EE8-ADDF-4330-802E-9BAC76D864CD}" destId="{82E8D0AD-661A-43D8-A790-D4ECAABEDC81}" srcOrd="0" destOrd="0" presId="urn:microsoft.com/office/officeart/2018/2/layout/IconLabelList"/>
    <dgm:cxn modelId="{5105958B-392D-4E8C-A461-204347AE726D}" type="presParOf" srcId="{31959EE8-ADDF-4330-802E-9BAC76D864CD}" destId="{C0B047E0-6CA0-4FBA-A1CB-2A35EC7A5630}" srcOrd="1" destOrd="0" presId="urn:microsoft.com/office/officeart/2018/2/layout/IconLabelList"/>
    <dgm:cxn modelId="{7B4545AC-543B-4B03-B3CF-F4969170431B}" type="presParOf" srcId="{31959EE8-ADDF-4330-802E-9BAC76D864CD}" destId="{02902F22-1848-44AF-A359-C836CE5CCE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758AF2-003C-4705-A9C2-18FF38648569}" type="doc">
      <dgm:prSet loTypeId="urn:microsoft.com/office/officeart/2018/2/layout/IconLabelList" loCatId="icon" qsTypeId="urn:microsoft.com/office/officeart/2005/8/quickstyle/simple1#42" qsCatId="simple" csTypeId="urn:microsoft.com/office/officeart/2005/8/colors/accent1_2#33" csCatId="accent1" phldr="1"/>
      <dgm:spPr/>
      <dgm:t>
        <a:bodyPr/>
        <a:lstStyle/>
        <a:p>
          <a:endParaRPr lang="en-US"/>
        </a:p>
      </dgm:t>
    </dgm:pt>
    <dgm:pt modelId="{457F9101-3EC1-4D7C-893E-407AF2B2189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household waste: people throw away food that could have been eaten by others</a:t>
          </a:r>
          <a:endParaRPr lang="en-US"/>
        </a:p>
      </dgm:t>
    </dgm:pt>
    <dgm:pt modelId="{8937FDDD-2D8A-4937-99EB-EB0B1B54E605}" type="parTrans" cxnId="{3B6EB202-044B-4D46-BFF1-E0DFE0830F8A}">
      <dgm:prSet/>
      <dgm:spPr/>
      <dgm:t>
        <a:bodyPr/>
        <a:lstStyle/>
        <a:p>
          <a:endParaRPr lang="en-US"/>
        </a:p>
      </dgm:t>
    </dgm:pt>
    <dgm:pt modelId="{A8C2B059-2324-4F97-9C15-0BADF9BC7E26}" type="sibTrans" cxnId="{3B6EB202-044B-4D46-BFF1-E0DFE0830F8A}">
      <dgm:prSet/>
      <dgm:spPr/>
      <dgm:t>
        <a:bodyPr/>
        <a:lstStyle/>
        <a:p>
          <a:endParaRPr lang="en-US"/>
        </a:p>
      </dgm:t>
    </dgm:pt>
    <dgm:pt modelId="{7F90465C-CCD3-40E0-9BBF-3D05E5B18DA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retail waste: shops discard unpurchased food.</a:t>
          </a:r>
          <a:endParaRPr lang="en-US"/>
        </a:p>
      </dgm:t>
    </dgm:pt>
    <dgm:pt modelId="{0D0410E0-7A60-45C9-A340-B0E9E120D4EA}" type="parTrans" cxnId="{5B6407C1-7051-47FC-BC94-8BB6FA1086F7}">
      <dgm:prSet/>
      <dgm:spPr/>
      <dgm:t>
        <a:bodyPr/>
        <a:lstStyle/>
        <a:p>
          <a:endParaRPr lang="en-US"/>
        </a:p>
      </dgm:t>
    </dgm:pt>
    <dgm:pt modelId="{BDA9441F-420F-4B29-89D3-5BD4C4C1F6BF}" type="sibTrans" cxnId="{5B6407C1-7051-47FC-BC94-8BB6FA1086F7}">
      <dgm:prSet/>
      <dgm:spPr/>
      <dgm:t>
        <a:bodyPr/>
        <a:lstStyle/>
        <a:p>
          <a:endParaRPr lang="en-US"/>
        </a:p>
      </dgm:t>
    </dgm:pt>
    <dgm:pt modelId="{8D732131-51B9-45EE-9356-159CE25B637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restaurant waste: uneaten meals and excess food are thrown away</a:t>
          </a:r>
          <a:endParaRPr lang="en-US"/>
        </a:p>
      </dgm:t>
    </dgm:pt>
    <dgm:pt modelId="{8D161D46-990A-4392-AA2F-9397E7F82F5F}" type="parTrans" cxnId="{68C6C72C-76AB-43C7-85BD-2E7792D88075}">
      <dgm:prSet/>
      <dgm:spPr/>
      <dgm:t>
        <a:bodyPr/>
        <a:lstStyle/>
        <a:p>
          <a:endParaRPr lang="en-US"/>
        </a:p>
      </dgm:t>
    </dgm:pt>
    <dgm:pt modelId="{C3E7FC0E-F73C-42BD-94AE-7CFC23E0E699}" type="sibTrans" cxnId="{68C6C72C-76AB-43C7-85BD-2E7792D88075}">
      <dgm:prSet/>
      <dgm:spPr/>
      <dgm:t>
        <a:bodyPr/>
        <a:lstStyle/>
        <a:p>
          <a:endParaRPr lang="en-US"/>
        </a:p>
      </dgm:t>
    </dgm:pt>
    <dgm:pt modelId="{67607ADA-B16F-4242-8EE6-EEC241510C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resource waste: wasted food also wastes water, energy and land </a:t>
          </a:r>
          <a:endParaRPr lang="en-US"/>
        </a:p>
      </dgm:t>
    </dgm:pt>
    <dgm:pt modelId="{AE4C3B86-F28B-4FB1-95A2-2747E1F9AD83}" type="parTrans" cxnId="{761AD9F3-AB61-41AD-9815-8985B82DCF03}">
      <dgm:prSet/>
      <dgm:spPr/>
      <dgm:t>
        <a:bodyPr/>
        <a:lstStyle/>
        <a:p>
          <a:endParaRPr lang="en-US"/>
        </a:p>
      </dgm:t>
    </dgm:pt>
    <dgm:pt modelId="{B080720B-FBC3-43D1-8673-06D7B171D9FF}" type="sibTrans" cxnId="{761AD9F3-AB61-41AD-9815-8985B82DCF03}">
      <dgm:prSet/>
      <dgm:spPr/>
      <dgm:t>
        <a:bodyPr/>
        <a:lstStyle/>
        <a:p>
          <a:endParaRPr lang="en-US"/>
        </a:p>
      </dgm:t>
    </dgm:pt>
    <dgm:pt modelId="{3AE613DE-98B5-48E2-9C8B-E37B4648AF0D}" type="pres">
      <dgm:prSet presAssocID="{FF758AF2-003C-4705-A9C2-18FF38648569}" presName="root" presStyleCnt="0">
        <dgm:presLayoutVars>
          <dgm:dir/>
          <dgm:resizeHandles val="exact"/>
        </dgm:presLayoutVars>
      </dgm:prSet>
      <dgm:spPr/>
    </dgm:pt>
    <dgm:pt modelId="{5DD1F06B-D759-4A79-91BF-39F0823E6FFD}" type="pres">
      <dgm:prSet presAssocID="{457F9101-3EC1-4D7C-893E-407AF2B21893}" presName="compNode" presStyleCnt="0"/>
      <dgm:spPr/>
    </dgm:pt>
    <dgm:pt modelId="{7C0D4C36-8315-439B-935D-D79CB14CFF72}" type="pres">
      <dgm:prSet presAssocID="{457F9101-3EC1-4D7C-893E-407AF2B2189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bish"/>
        </a:ext>
      </dgm:extLst>
    </dgm:pt>
    <dgm:pt modelId="{731F2485-1B42-42D0-B2A2-2A179FEFEFD6}" type="pres">
      <dgm:prSet presAssocID="{457F9101-3EC1-4D7C-893E-407AF2B21893}" presName="spaceRect" presStyleCnt="0"/>
      <dgm:spPr/>
    </dgm:pt>
    <dgm:pt modelId="{CBA8C590-0C01-4C0B-9417-DE09784A019C}" type="pres">
      <dgm:prSet presAssocID="{457F9101-3EC1-4D7C-893E-407AF2B21893}" presName="textRect" presStyleLbl="revTx" presStyleIdx="0" presStyleCnt="4">
        <dgm:presLayoutVars>
          <dgm:chMax val="1"/>
          <dgm:chPref val="1"/>
        </dgm:presLayoutVars>
      </dgm:prSet>
      <dgm:spPr/>
    </dgm:pt>
    <dgm:pt modelId="{B37F1589-B73F-4C6A-8F83-4718625EFE98}" type="pres">
      <dgm:prSet presAssocID="{A8C2B059-2324-4F97-9C15-0BADF9BC7E26}" presName="sibTrans" presStyleCnt="0"/>
      <dgm:spPr/>
    </dgm:pt>
    <dgm:pt modelId="{A6A4B039-D5A3-489F-BD81-C2663457B5D6}" type="pres">
      <dgm:prSet presAssocID="{7F90465C-CCD3-40E0-9BBF-3D05E5B18DA7}" presName="compNode" presStyleCnt="0"/>
      <dgm:spPr/>
    </dgm:pt>
    <dgm:pt modelId="{BEEE6334-DCB8-4C8A-87A4-9DB2E91D7B47}" type="pres">
      <dgm:prSet presAssocID="{7F90465C-CCD3-40E0-9BBF-3D05E5B18DA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EC9E8F31-F8EA-4EEC-9FB0-074A0BB6BC3D}" type="pres">
      <dgm:prSet presAssocID="{7F90465C-CCD3-40E0-9BBF-3D05E5B18DA7}" presName="spaceRect" presStyleCnt="0"/>
      <dgm:spPr/>
    </dgm:pt>
    <dgm:pt modelId="{EAA1A554-25D1-4D1D-8C66-4B464F358F46}" type="pres">
      <dgm:prSet presAssocID="{7F90465C-CCD3-40E0-9BBF-3D05E5B18DA7}" presName="textRect" presStyleLbl="revTx" presStyleIdx="1" presStyleCnt="4">
        <dgm:presLayoutVars>
          <dgm:chMax val="1"/>
          <dgm:chPref val="1"/>
        </dgm:presLayoutVars>
      </dgm:prSet>
      <dgm:spPr/>
    </dgm:pt>
    <dgm:pt modelId="{D1DF1F2A-1976-4030-97C5-429602A78089}" type="pres">
      <dgm:prSet presAssocID="{BDA9441F-420F-4B29-89D3-5BD4C4C1F6BF}" presName="sibTrans" presStyleCnt="0"/>
      <dgm:spPr/>
    </dgm:pt>
    <dgm:pt modelId="{1F567E99-697D-409E-B46C-DAC12BACECD7}" type="pres">
      <dgm:prSet presAssocID="{8D732131-51B9-45EE-9356-159CE25B6373}" presName="compNode" presStyleCnt="0"/>
      <dgm:spPr/>
    </dgm:pt>
    <dgm:pt modelId="{1A33EA7C-A0E2-4055-958B-686DF75DA3D3}" type="pres">
      <dgm:prSet presAssocID="{8D732131-51B9-45EE-9356-159CE25B637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3588CAF0-FDB1-4069-B1FB-4CE6F815E608}" type="pres">
      <dgm:prSet presAssocID="{8D732131-51B9-45EE-9356-159CE25B6373}" presName="spaceRect" presStyleCnt="0"/>
      <dgm:spPr/>
    </dgm:pt>
    <dgm:pt modelId="{BA46E5D2-66AC-4A7B-8857-A9D2B81052A9}" type="pres">
      <dgm:prSet presAssocID="{8D732131-51B9-45EE-9356-159CE25B6373}" presName="textRect" presStyleLbl="revTx" presStyleIdx="2" presStyleCnt="4">
        <dgm:presLayoutVars>
          <dgm:chMax val="1"/>
          <dgm:chPref val="1"/>
        </dgm:presLayoutVars>
      </dgm:prSet>
      <dgm:spPr/>
    </dgm:pt>
    <dgm:pt modelId="{847ABD90-7E2F-4B9E-ACF2-24C6B4461AFF}" type="pres">
      <dgm:prSet presAssocID="{C3E7FC0E-F73C-42BD-94AE-7CFC23E0E699}" presName="sibTrans" presStyleCnt="0"/>
      <dgm:spPr/>
    </dgm:pt>
    <dgm:pt modelId="{6C294950-2C7A-4DC4-BAD5-36A87665D11A}" type="pres">
      <dgm:prSet presAssocID="{67607ADA-B16F-4242-8EE6-EEC241510CA2}" presName="compNode" presStyleCnt="0"/>
      <dgm:spPr/>
    </dgm:pt>
    <dgm:pt modelId="{DAC43D1B-24C9-49AA-8FB9-FD55EE20A40D}" type="pres">
      <dgm:prSet presAssocID="{67607ADA-B16F-4242-8EE6-EEC241510CA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DD072DF8-FAAD-4744-ADA2-A7FB2A3699D1}" type="pres">
      <dgm:prSet presAssocID="{67607ADA-B16F-4242-8EE6-EEC241510CA2}" presName="spaceRect" presStyleCnt="0"/>
      <dgm:spPr/>
    </dgm:pt>
    <dgm:pt modelId="{3C8B513E-0E2A-46B2-8DE6-51F43D683A4F}" type="pres">
      <dgm:prSet presAssocID="{67607ADA-B16F-4242-8EE6-EEC241510CA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6EB202-044B-4D46-BFF1-E0DFE0830F8A}" srcId="{FF758AF2-003C-4705-A9C2-18FF38648569}" destId="{457F9101-3EC1-4D7C-893E-407AF2B21893}" srcOrd="0" destOrd="0" parTransId="{8937FDDD-2D8A-4937-99EB-EB0B1B54E605}" sibTransId="{A8C2B059-2324-4F97-9C15-0BADF9BC7E26}"/>
    <dgm:cxn modelId="{68C6C72C-76AB-43C7-85BD-2E7792D88075}" srcId="{FF758AF2-003C-4705-A9C2-18FF38648569}" destId="{8D732131-51B9-45EE-9356-159CE25B6373}" srcOrd="2" destOrd="0" parTransId="{8D161D46-990A-4392-AA2F-9397E7F82F5F}" sibTransId="{C3E7FC0E-F73C-42BD-94AE-7CFC23E0E699}"/>
    <dgm:cxn modelId="{1898146B-AC01-4F4A-950C-8004A07C85B2}" type="presOf" srcId="{67607ADA-B16F-4242-8EE6-EEC241510CA2}" destId="{3C8B513E-0E2A-46B2-8DE6-51F43D683A4F}" srcOrd="0" destOrd="0" presId="urn:microsoft.com/office/officeart/2018/2/layout/IconLabelList"/>
    <dgm:cxn modelId="{B27F9775-0FEE-46FC-BB9D-C20FA2CAF7C7}" type="presOf" srcId="{7F90465C-CCD3-40E0-9BBF-3D05E5B18DA7}" destId="{EAA1A554-25D1-4D1D-8C66-4B464F358F46}" srcOrd="0" destOrd="0" presId="urn:microsoft.com/office/officeart/2018/2/layout/IconLabelList"/>
    <dgm:cxn modelId="{EBCE0B99-373B-4338-A43F-013F7E68F586}" type="presOf" srcId="{457F9101-3EC1-4D7C-893E-407AF2B21893}" destId="{CBA8C590-0C01-4C0B-9417-DE09784A019C}" srcOrd="0" destOrd="0" presId="urn:microsoft.com/office/officeart/2018/2/layout/IconLabelList"/>
    <dgm:cxn modelId="{5B6407C1-7051-47FC-BC94-8BB6FA1086F7}" srcId="{FF758AF2-003C-4705-A9C2-18FF38648569}" destId="{7F90465C-CCD3-40E0-9BBF-3D05E5B18DA7}" srcOrd="1" destOrd="0" parTransId="{0D0410E0-7A60-45C9-A340-B0E9E120D4EA}" sibTransId="{BDA9441F-420F-4B29-89D3-5BD4C4C1F6BF}"/>
    <dgm:cxn modelId="{F91981EC-388B-494E-9915-73D52FF623A6}" type="presOf" srcId="{FF758AF2-003C-4705-A9C2-18FF38648569}" destId="{3AE613DE-98B5-48E2-9C8B-E37B4648AF0D}" srcOrd="0" destOrd="0" presId="urn:microsoft.com/office/officeart/2018/2/layout/IconLabelList"/>
    <dgm:cxn modelId="{3612EAF0-C8DC-4C87-A555-B4E8A5B44AF9}" type="presOf" srcId="{8D732131-51B9-45EE-9356-159CE25B6373}" destId="{BA46E5D2-66AC-4A7B-8857-A9D2B81052A9}" srcOrd="0" destOrd="0" presId="urn:microsoft.com/office/officeart/2018/2/layout/IconLabelList"/>
    <dgm:cxn modelId="{761AD9F3-AB61-41AD-9815-8985B82DCF03}" srcId="{FF758AF2-003C-4705-A9C2-18FF38648569}" destId="{67607ADA-B16F-4242-8EE6-EEC241510CA2}" srcOrd="3" destOrd="0" parTransId="{AE4C3B86-F28B-4FB1-95A2-2747E1F9AD83}" sibTransId="{B080720B-FBC3-43D1-8673-06D7B171D9FF}"/>
    <dgm:cxn modelId="{022D1CA5-D5BB-420D-A6A2-FEA9198BA3BF}" type="presParOf" srcId="{3AE613DE-98B5-48E2-9C8B-E37B4648AF0D}" destId="{5DD1F06B-D759-4A79-91BF-39F0823E6FFD}" srcOrd="0" destOrd="0" presId="urn:microsoft.com/office/officeart/2018/2/layout/IconLabelList"/>
    <dgm:cxn modelId="{00A20DDE-1FD0-409C-BE5F-7360E5BFE0ED}" type="presParOf" srcId="{5DD1F06B-D759-4A79-91BF-39F0823E6FFD}" destId="{7C0D4C36-8315-439B-935D-D79CB14CFF72}" srcOrd="0" destOrd="0" presId="urn:microsoft.com/office/officeart/2018/2/layout/IconLabelList"/>
    <dgm:cxn modelId="{474A1D84-FCED-4F51-BD7B-9802962515D8}" type="presParOf" srcId="{5DD1F06B-D759-4A79-91BF-39F0823E6FFD}" destId="{731F2485-1B42-42D0-B2A2-2A179FEFEFD6}" srcOrd="1" destOrd="0" presId="urn:microsoft.com/office/officeart/2018/2/layout/IconLabelList"/>
    <dgm:cxn modelId="{967A6081-4518-43C1-A89C-1E1BA4621EE9}" type="presParOf" srcId="{5DD1F06B-D759-4A79-91BF-39F0823E6FFD}" destId="{CBA8C590-0C01-4C0B-9417-DE09784A019C}" srcOrd="2" destOrd="0" presId="urn:microsoft.com/office/officeart/2018/2/layout/IconLabelList"/>
    <dgm:cxn modelId="{657852E0-3287-4826-A6E6-90B67700EF85}" type="presParOf" srcId="{3AE613DE-98B5-48E2-9C8B-E37B4648AF0D}" destId="{B37F1589-B73F-4C6A-8F83-4718625EFE98}" srcOrd="1" destOrd="0" presId="urn:microsoft.com/office/officeart/2018/2/layout/IconLabelList"/>
    <dgm:cxn modelId="{86BEF872-9909-4510-9A03-59D4651BB2FA}" type="presParOf" srcId="{3AE613DE-98B5-48E2-9C8B-E37B4648AF0D}" destId="{A6A4B039-D5A3-489F-BD81-C2663457B5D6}" srcOrd="2" destOrd="0" presId="urn:microsoft.com/office/officeart/2018/2/layout/IconLabelList"/>
    <dgm:cxn modelId="{F5D7D27D-2F79-42AE-9DBB-920B2148F75A}" type="presParOf" srcId="{A6A4B039-D5A3-489F-BD81-C2663457B5D6}" destId="{BEEE6334-DCB8-4C8A-87A4-9DB2E91D7B47}" srcOrd="0" destOrd="0" presId="urn:microsoft.com/office/officeart/2018/2/layout/IconLabelList"/>
    <dgm:cxn modelId="{6DF3E135-E55C-4813-AFD2-7292D8C20FE6}" type="presParOf" srcId="{A6A4B039-D5A3-489F-BD81-C2663457B5D6}" destId="{EC9E8F31-F8EA-4EEC-9FB0-074A0BB6BC3D}" srcOrd="1" destOrd="0" presId="urn:microsoft.com/office/officeart/2018/2/layout/IconLabelList"/>
    <dgm:cxn modelId="{28825C6D-4735-475B-B691-A07C3508EE09}" type="presParOf" srcId="{A6A4B039-D5A3-489F-BD81-C2663457B5D6}" destId="{EAA1A554-25D1-4D1D-8C66-4B464F358F46}" srcOrd="2" destOrd="0" presId="urn:microsoft.com/office/officeart/2018/2/layout/IconLabelList"/>
    <dgm:cxn modelId="{8E7F6514-B86E-41C4-B7AA-9BD876C65C4D}" type="presParOf" srcId="{3AE613DE-98B5-48E2-9C8B-E37B4648AF0D}" destId="{D1DF1F2A-1976-4030-97C5-429602A78089}" srcOrd="3" destOrd="0" presId="urn:microsoft.com/office/officeart/2018/2/layout/IconLabelList"/>
    <dgm:cxn modelId="{BC1DF303-9FF5-4942-8496-8D834AE207B1}" type="presParOf" srcId="{3AE613DE-98B5-48E2-9C8B-E37B4648AF0D}" destId="{1F567E99-697D-409E-B46C-DAC12BACECD7}" srcOrd="4" destOrd="0" presId="urn:microsoft.com/office/officeart/2018/2/layout/IconLabelList"/>
    <dgm:cxn modelId="{AEA75D85-3B0A-475E-A02D-028CEC4E9D53}" type="presParOf" srcId="{1F567E99-697D-409E-B46C-DAC12BACECD7}" destId="{1A33EA7C-A0E2-4055-958B-686DF75DA3D3}" srcOrd="0" destOrd="0" presId="urn:microsoft.com/office/officeart/2018/2/layout/IconLabelList"/>
    <dgm:cxn modelId="{C40E8961-0FC3-47E8-B5DD-9BB91AD439C0}" type="presParOf" srcId="{1F567E99-697D-409E-B46C-DAC12BACECD7}" destId="{3588CAF0-FDB1-4069-B1FB-4CE6F815E608}" srcOrd="1" destOrd="0" presId="urn:microsoft.com/office/officeart/2018/2/layout/IconLabelList"/>
    <dgm:cxn modelId="{5EFD5A8A-C3C1-49DE-A1E6-28AEDB8C0142}" type="presParOf" srcId="{1F567E99-697D-409E-B46C-DAC12BACECD7}" destId="{BA46E5D2-66AC-4A7B-8857-A9D2B81052A9}" srcOrd="2" destOrd="0" presId="urn:microsoft.com/office/officeart/2018/2/layout/IconLabelList"/>
    <dgm:cxn modelId="{63141BFE-90CD-4E02-B8B5-71A8DC28CFE4}" type="presParOf" srcId="{3AE613DE-98B5-48E2-9C8B-E37B4648AF0D}" destId="{847ABD90-7E2F-4B9E-ACF2-24C6B4461AFF}" srcOrd="5" destOrd="0" presId="urn:microsoft.com/office/officeart/2018/2/layout/IconLabelList"/>
    <dgm:cxn modelId="{BB1CF463-1659-4485-A253-EB8B6672C8E7}" type="presParOf" srcId="{3AE613DE-98B5-48E2-9C8B-E37B4648AF0D}" destId="{6C294950-2C7A-4DC4-BAD5-36A87665D11A}" srcOrd="6" destOrd="0" presId="urn:microsoft.com/office/officeart/2018/2/layout/IconLabelList"/>
    <dgm:cxn modelId="{5575DB63-0A69-454A-AB94-246066CF35C8}" type="presParOf" srcId="{6C294950-2C7A-4DC4-BAD5-36A87665D11A}" destId="{DAC43D1B-24C9-49AA-8FB9-FD55EE20A40D}" srcOrd="0" destOrd="0" presId="urn:microsoft.com/office/officeart/2018/2/layout/IconLabelList"/>
    <dgm:cxn modelId="{A378D296-729D-4C99-84E3-EAE606B69343}" type="presParOf" srcId="{6C294950-2C7A-4DC4-BAD5-36A87665D11A}" destId="{DD072DF8-FAAD-4744-ADA2-A7FB2A3699D1}" srcOrd="1" destOrd="0" presId="urn:microsoft.com/office/officeart/2018/2/layout/IconLabelList"/>
    <dgm:cxn modelId="{C40682A5-D2D9-4C83-95B6-F8C91A1B73A8}" type="presParOf" srcId="{6C294950-2C7A-4DC4-BAD5-36A87665D11A}" destId="{3C8B513E-0E2A-46B2-8DE6-51F43D683A4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81410-A79E-423A-9737-2E6CE9F05A34}">
      <dsp:nvSpPr>
        <dsp:cNvPr id="0" name=""/>
        <dsp:cNvSpPr/>
      </dsp:nvSpPr>
      <dsp:spPr>
        <a:xfrm>
          <a:off x="0" y="94639"/>
          <a:ext cx="4956175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Food insecurity:2.3 billion people faced food security in 2024.</a:t>
          </a:r>
          <a:endParaRPr lang="en-US" sz="1600" kern="1200" dirty="0"/>
        </a:p>
      </dsp:txBody>
      <dsp:txXfrm>
        <a:off x="31070" y="125709"/>
        <a:ext cx="4894035" cy="574340"/>
      </dsp:txXfrm>
    </dsp:sp>
    <dsp:sp modelId="{25260705-A816-4841-8C87-13C96397894E}">
      <dsp:nvSpPr>
        <dsp:cNvPr id="0" name=""/>
        <dsp:cNvSpPr/>
      </dsp:nvSpPr>
      <dsp:spPr>
        <a:xfrm>
          <a:off x="0" y="777199"/>
          <a:ext cx="4956175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Food loss: 13.3% of food was lost before retail in 2023.</a:t>
          </a:r>
          <a:endParaRPr lang="en-US" sz="1600" kern="1200"/>
        </a:p>
      </dsp:txBody>
      <dsp:txXfrm>
        <a:off x="31070" y="808269"/>
        <a:ext cx="4894035" cy="574340"/>
      </dsp:txXfrm>
    </dsp:sp>
    <dsp:sp modelId="{3590D457-DD53-4474-B2C3-8217978C89B4}">
      <dsp:nvSpPr>
        <dsp:cNvPr id="0" name=""/>
        <dsp:cNvSpPr/>
      </dsp:nvSpPr>
      <dsp:spPr>
        <a:xfrm>
          <a:off x="0" y="1459759"/>
          <a:ext cx="4956175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Food waste: 1.05 billion tonnes wasted in 2022.</a:t>
          </a:r>
          <a:endParaRPr lang="en-US" sz="1600" kern="1200"/>
        </a:p>
      </dsp:txBody>
      <dsp:txXfrm>
        <a:off x="31070" y="1490829"/>
        <a:ext cx="4894035" cy="574340"/>
      </dsp:txXfrm>
    </dsp:sp>
    <dsp:sp modelId="{B6EBD9E4-7BDD-4687-867E-6BB60768E832}">
      <dsp:nvSpPr>
        <dsp:cNvPr id="0" name=""/>
        <dsp:cNvSpPr/>
      </dsp:nvSpPr>
      <dsp:spPr>
        <a:xfrm>
          <a:off x="0" y="2142319"/>
          <a:ext cx="4956175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Poor distribution- inadequate storage and transport limit food access.</a:t>
          </a:r>
          <a:endParaRPr lang="en-US" sz="1600" kern="1200"/>
        </a:p>
      </dsp:txBody>
      <dsp:txXfrm>
        <a:off x="31070" y="2173389"/>
        <a:ext cx="4894035" cy="574340"/>
      </dsp:txXfrm>
    </dsp:sp>
    <dsp:sp modelId="{8B585EB0-3CB4-4C2B-AB26-DB91FFD0099E}">
      <dsp:nvSpPr>
        <dsp:cNvPr id="0" name=""/>
        <dsp:cNvSpPr/>
      </dsp:nvSpPr>
      <dsp:spPr>
        <a:xfrm>
          <a:off x="0" y="2824880"/>
          <a:ext cx="4956175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Unsustainable consumption- wastes food and valuable resources.</a:t>
          </a:r>
          <a:endParaRPr lang="en-US" sz="1600" kern="1200" dirty="0"/>
        </a:p>
      </dsp:txBody>
      <dsp:txXfrm>
        <a:off x="31070" y="2855950"/>
        <a:ext cx="4894035" cy="57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8C9AB-F928-441C-976F-C2E813C37C2B}">
      <dsp:nvSpPr>
        <dsp:cNvPr id="0" name=""/>
        <dsp:cNvSpPr/>
      </dsp:nvSpPr>
      <dsp:spPr>
        <a:xfrm>
          <a:off x="0" y="625333"/>
          <a:ext cx="6046132" cy="79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Sub- Saharan African- around 23% of food chain is lost along the supply chain.</a:t>
          </a:r>
          <a:endParaRPr lang="en-US" sz="2000" kern="1200" dirty="0"/>
        </a:p>
      </dsp:txBody>
      <dsp:txXfrm>
        <a:off x="38838" y="664171"/>
        <a:ext cx="5968456" cy="717924"/>
      </dsp:txXfrm>
    </dsp:sp>
    <dsp:sp modelId="{6A94737C-383B-43F1-B5CD-F5382373C823}">
      <dsp:nvSpPr>
        <dsp:cNvPr id="0" name=""/>
        <dsp:cNvSpPr/>
      </dsp:nvSpPr>
      <dsp:spPr>
        <a:xfrm>
          <a:off x="0" y="1478533"/>
          <a:ext cx="6046132" cy="795600"/>
        </a:xfrm>
        <a:prstGeom prst="roundRect">
          <a:avLst/>
        </a:prstGeom>
        <a:gradFill rotWithShape="0">
          <a:gsLst>
            <a:gs pos="0">
              <a:schemeClr val="accent2">
                <a:hueOff val="-163625"/>
                <a:satOff val="12937"/>
                <a:lumOff val="-261"/>
                <a:alphaOff val="0"/>
                <a:tint val="96000"/>
                <a:lumMod val="104000"/>
              </a:schemeClr>
            </a:gs>
            <a:gs pos="100000">
              <a:schemeClr val="accent2">
                <a:hueOff val="-163625"/>
                <a:satOff val="12937"/>
                <a:lumOff val="-261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Conflict-affected countries- war disrupts farming and food distribution.</a:t>
          </a:r>
          <a:endParaRPr lang="en-US" sz="2000" kern="1200" dirty="0"/>
        </a:p>
      </dsp:txBody>
      <dsp:txXfrm>
        <a:off x="38838" y="1517371"/>
        <a:ext cx="5968456" cy="717924"/>
      </dsp:txXfrm>
    </dsp:sp>
    <dsp:sp modelId="{418DA5BE-11EF-4974-BD9F-A025B29FC634}">
      <dsp:nvSpPr>
        <dsp:cNvPr id="0" name=""/>
        <dsp:cNvSpPr/>
      </dsp:nvSpPr>
      <dsp:spPr>
        <a:xfrm>
          <a:off x="0" y="2331733"/>
          <a:ext cx="6046132" cy="795600"/>
        </a:xfrm>
        <a:prstGeom prst="roundRect">
          <a:avLst/>
        </a:prstGeom>
        <a:gradFill rotWithShape="0">
          <a:gsLst>
            <a:gs pos="0">
              <a:schemeClr val="accent2">
                <a:hueOff val="-327250"/>
                <a:satOff val="25875"/>
                <a:lumOff val="-523"/>
                <a:alphaOff val="0"/>
                <a:tint val="96000"/>
                <a:lumMod val="104000"/>
              </a:schemeClr>
            </a:gs>
            <a:gs pos="100000">
              <a:schemeClr val="accent2">
                <a:hueOff val="-327250"/>
                <a:satOff val="25875"/>
                <a:lumOff val="-523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Countries facing economic hardship- high food prices make food harder to afford.</a:t>
          </a:r>
          <a:endParaRPr lang="en-US" sz="2000" kern="1200"/>
        </a:p>
      </dsp:txBody>
      <dsp:txXfrm>
        <a:off x="38838" y="2370571"/>
        <a:ext cx="5968456" cy="717924"/>
      </dsp:txXfrm>
    </dsp:sp>
    <dsp:sp modelId="{BBBA86BD-013C-486C-AB74-2E9B3DD68255}">
      <dsp:nvSpPr>
        <dsp:cNvPr id="0" name=""/>
        <dsp:cNvSpPr/>
      </dsp:nvSpPr>
      <dsp:spPr>
        <a:xfrm>
          <a:off x="0" y="3184933"/>
          <a:ext cx="6046132" cy="795600"/>
        </a:xfrm>
        <a:prstGeom prst="roundRect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Areas with poor infrastructure: limited storage and transportation cause food losses.</a:t>
          </a:r>
          <a:endParaRPr lang="en-US" sz="2000" kern="1200"/>
        </a:p>
      </dsp:txBody>
      <dsp:txXfrm>
        <a:off x="38838" y="3223771"/>
        <a:ext cx="5968456" cy="7179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774AD-96FB-496C-9F2C-7B6FCAC92224}">
      <dsp:nvSpPr>
        <dsp:cNvPr id="0" name=""/>
        <dsp:cNvSpPr/>
      </dsp:nvSpPr>
      <dsp:spPr>
        <a:xfrm>
          <a:off x="548712" y="186515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96912-E1C5-4DC5-9FEB-D405E1C0A925}">
      <dsp:nvSpPr>
        <dsp:cNvPr id="0" name=""/>
        <dsp:cNvSpPr/>
      </dsp:nvSpPr>
      <dsp:spPr>
        <a:xfrm>
          <a:off x="169728" y="1020031"/>
          <a:ext cx="1378124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poor transport: delays can cause food to spoil before reaching markets</a:t>
          </a:r>
          <a:endParaRPr lang="en-US" sz="1200" kern="1200" dirty="0"/>
        </a:p>
      </dsp:txBody>
      <dsp:txXfrm>
        <a:off x="169728" y="1020031"/>
        <a:ext cx="1378124" cy="585703"/>
      </dsp:txXfrm>
    </dsp:sp>
    <dsp:sp modelId="{3D940E06-82F3-4B50-B71E-9E0AA2662233}">
      <dsp:nvSpPr>
        <dsp:cNvPr id="0" name=""/>
        <dsp:cNvSpPr/>
      </dsp:nvSpPr>
      <dsp:spPr>
        <a:xfrm>
          <a:off x="2168009" y="186515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4F2BF-93C5-4B07-9040-F95FD8FB15F1}">
      <dsp:nvSpPr>
        <dsp:cNvPr id="0" name=""/>
        <dsp:cNvSpPr/>
      </dsp:nvSpPr>
      <dsp:spPr>
        <a:xfrm>
          <a:off x="1789025" y="1020031"/>
          <a:ext cx="1378124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inadequate storage: lack of refrigeration increases food loss</a:t>
          </a:r>
          <a:r>
            <a:rPr lang="en-GB" sz="1100" kern="1200" dirty="0"/>
            <a:t>.</a:t>
          </a:r>
          <a:endParaRPr lang="en-US" sz="1100" kern="1200" dirty="0"/>
        </a:p>
      </dsp:txBody>
      <dsp:txXfrm>
        <a:off x="1789025" y="1020031"/>
        <a:ext cx="1378124" cy="585703"/>
      </dsp:txXfrm>
    </dsp:sp>
    <dsp:sp modelId="{2EF3578F-0B59-4B75-B6E8-FBCE40AA7FF3}">
      <dsp:nvSpPr>
        <dsp:cNvPr id="0" name=""/>
        <dsp:cNvSpPr/>
      </dsp:nvSpPr>
      <dsp:spPr>
        <a:xfrm>
          <a:off x="3787306" y="186515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5122D-7DEC-4999-A6FC-7E1D0B06847D}">
      <dsp:nvSpPr>
        <dsp:cNvPr id="0" name=""/>
        <dsp:cNvSpPr/>
      </dsp:nvSpPr>
      <dsp:spPr>
        <a:xfrm>
          <a:off x="3408321" y="1020031"/>
          <a:ext cx="1378124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inefficient supply chains: food may not reach areas where there is demand</a:t>
          </a:r>
          <a:endParaRPr lang="en-US" sz="1200" kern="1200" dirty="0"/>
        </a:p>
      </dsp:txBody>
      <dsp:txXfrm>
        <a:off x="3408321" y="1020031"/>
        <a:ext cx="1378124" cy="585703"/>
      </dsp:txXfrm>
    </dsp:sp>
    <dsp:sp modelId="{82E8D0AD-661A-43D8-A790-D4ECAABEDC81}">
      <dsp:nvSpPr>
        <dsp:cNvPr id="0" name=""/>
        <dsp:cNvSpPr/>
      </dsp:nvSpPr>
      <dsp:spPr>
        <a:xfrm>
          <a:off x="2168009" y="1950265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02F22-1848-44AF-A359-C836CE5CCE30}">
      <dsp:nvSpPr>
        <dsp:cNvPr id="0" name=""/>
        <dsp:cNvSpPr/>
      </dsp:nvSpPr>
      <dsp:spPr>
        <a:xfrm>
          <a:off x="1789025" y="2783781"/>
          <a:ext cx="1378124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High distribution costs: transport expenses can increase food prices.</a:t>
          </a:r>
          <a:endParaRPr lang="en-US" sz="1200" kern="1200" dirty="0"/>
        </a:p>
      </dsp:txBody>
      <dsp:txXfrm>
        <a:off x="1789025" y="2783781"/>
        <a:ext cx="1378124" cy="5857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D4C36-8315-439B-935D-D79CB14CFF72}">
      <dsp:nvSpPr>
        <dsp:cNvPr id="0" name=""/>
        <dsp:cNvSpPr/>
      </dsp:nvSpPr>
      <dsp:spPr>
        <a:xfrm>
          <a:off x="511798" y="195260"/>
          <a:ext cx="632021" cy="632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8C590-0C01-4C0B-9417-DE09784A019C}">
      <dsp:nvSpPr>
        <dsp:cNvPr id="0" name=""/>
        <dsp:cNvSpPr/>
      </dsp:nvSpPr>
      <dsp:spPr>
        <a:xfrm>
          <a:off x="125563" y="1040641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household waste: people throw away food that could have been eaten by others</a:t>
          </a:r>
          <a:endParaRPr lang="en-US" sz="1100" kern="1200"/>
        </a:p>
      </dsp:txBody>
      <dsp:txXfrm>
        <a:off x="125563" y="1040641"/>
        <a:ext cx="1404492" cy="561796"/>
      </dsp:txXfrm>
    </dsp:sp>
    <dsp:sp modelId="{BEEE6334-DCB8-4C8A-87A4-9DB2E91D7B47}">
      <dsp:nvSpPr>
        <dsp:cNvPr id="0" name=""/>
        <dsp:cNvSpPr/>
      </dsp:nvSpPr>
      <dsp:spPr>
        <a:xfrm>
          <a:off x="2162076" y="195260"/>
          <a:ext cx="632021" cy="632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1A554-25D1-4D1D-8C66-4B464F358F46}">
      <dsp:nvSpPr>
        <dsp:cNvPr id="0" name=""/>
        <dsp:cNvSpPr/>
      </dsp:nvSpPr>
      <dsp:spPr>
        <a:xfrm>
          <a:off x="1775841" y="1040641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retail waste: shops discard unpurchased food.</a:t>
          </a:r>
          <a:endParaRPr lang="en-US" sz="1100" kern="1200"/>
        </a:p>
      </dsp:txBody>
      <dsp:txXfrm>
        <a:off x="1775841" y="1040641"/>
        <a:ext cx="1404492" cy="561796"/>
      </dsp:txXfrm>
    </dsp:sp>
    <dsp:sp modelId="{1A33EA7C-A0E2-4055-958B-686DF75DA3D3}">
      <dsp:nvSpPr>
        <dsp:cNvPr id="0" name=""/>
        <dsp:cNvSpPr/>
      </dsp:nvSpPr>
      <dsp:spPr>
        <a:xfrm>
          <a:off x="3812355" y="195260"/>
          <a:ext cx="632021" cy="632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6E5D2-66AC-4A7B-8857-A9D2B81052A9}">
      <dsp:nvSpPr>
        <dsp:cNvPr id="0" name=""/>
        <dsp:cNvSpPr/>
      </dsp:nvSpPr>
      <dsp:spPr>
        <a:xfrm>
          <a:off x="3426119" y="1040641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restaurant waste: uneaten meals and excess food are thrown away</a:t>
          </a:r>
          <a:endParaRPr lang="en-US" sz="1100" kern="1200"/>
        </a:p>
      </dsp:txBody>
      <dsp:txXfrm>
        <a:off x="3426119" y="1040641"/>
        <a:ext cx="1404492" cy="561796"/>
      </dsp:txXfrm>
    </dsp:sp>
    <dsp:sp modelId="{DAC43D1B-24C9-49AA-8FB9-FD55EE20A40D}">
      <dsp:nvSpPr>
        <dsp:cNvPr id="0" name=""/>
        <dsp:cNvSpPr/>
      </dsp:nvSpPr>
      <dsp:spPr>
        <a:xfrm>
          <a:off x="2162076" y="1953561"/>
          <a:ext cx="632021" cy="6320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B513E-0E2A-46B2-8DE6-51F43D683A4F}">
      <dsp:nvSpPr>
        <dsp:cNvPr id="0" name=""/>
        <dsp:cNvSpPr/>
      </dsp:nvSpPr>
      <dsp:spPr>
        <a:xfrm>
          <a:off x="1775841" y="2798943"/>
          <a:ext cx="1404492" cy="56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resource waste: wasted food also wastes water, energy and land </a:t>
          </a:r>
          <a:endParaRPr lang="en-US" sz="1100" kern="1200"/>
        </a:p>
      </dsp:txBody>
      <dsp:txXfrm>
        <a:off x="1775841" y="2798943"/>
        <a:ext cx="1404492" cy="561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84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36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95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65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85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19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901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71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15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642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05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921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23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54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106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131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702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22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F38A4B7-C0B3-4199-8239-F6B9B40D465D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0384CF5-5A39-4CA1-921F-0A306449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44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sinplatform.org/report/global-report-food-crises-2025/" TargetMode="External"/><Relationship Id="rId2" Type="http://schemas.openxmlformats.org/officeDocument/2006/relationships/hyperlink" Target="https://www.fao.org/sustainable-development-goals-data-portal/data/indicators/1231-global-food-losses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www.unep.org/resources/publication/food-waste-index-report-2024" TargetMode="External"/><Relationship Id="rId5" Type="http://schemas.openxmlformats.org/officeDocument/2006/relationships/hyperlink" Target="https://sdgs.un.org/goals/goal12" TargetMode="External"/><Relationship Id="rId4" Type="http://schemas.openxmlformats.org/officeDocument/2006/relationships/hyperlink" Target="https://unstats.un.org/sdgs/report/2025/goal-02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ww.pexels.com/photo/thank-you-signage-207216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7239-BCF4-4298-33F3-7E0CC3E8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90" y="828675"/>
            <a:ext cx="6150510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Sdg 12- Responsible consumption and production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03938-1C69-044F-CC9B-0EF71438DC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14424" y="4124325"/>
            <a:ext cx="6150510" cy="1905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1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By Rishiraj, Liam, Melvin, Mohmed Osman, Owen</a:t>
            </a:r>
          </a:p>
        </p:txBody>
      </p:sp>
      <p:pic>
        <p:nvPicPr>
          <p:cNvPr id="7" name="Graphic 6" descr="Angel Face Outline">
            <a:extLst>
              <a:ext uri="{FF2B5EF4-FFF2-40B4-BE49-F238E27FC236}">
                <a16:creationId xmlns:a16="http://schemas.microsoft.com/office/drawing/2014/main" id="{8EFD1D00-32C1-A5F0-7414-841F0267BC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806" y="1173784"/>
            <a:ext cx="3416888" cy="341688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72389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1E11833-C2B4-B193-BA81-3C69CBA8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43" y="609600"/>
            <a:ext cx="6743767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u="sng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</a:rPr>
              <a:t>Food management and consumption: Challenges, Solutions and sustainable food systems.</a:t>
            </a:r>
          </a:p>
        </p:txBody>
      </p:sp>
      <p:pic>
        <p:nvPicPr>
          <p:cNvPr id="27" name="Picture 26" descr="Vegetables and fruits in a row">
            <a:extLst>
              <a:ext uri="{FF2B5EF4-FFF2-40B4-BE49-F238E27FC236}">
                <a16:creationId xmlns:a16="http://schemas.microsoft.com/office/drawing/2014/main" id="{AF0EB151-1620-BEB3-2644-E10B4E5AC1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24" r="44909" b="-1"/>
          <a:stretch>
            <a:fillRect/>
          </a:stretch>
        </p:blipFill>
        <p:spPr>
          <a:xfrm>
            <a:off x="257590" y="10"/>
            <a:ext cx="3479523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2CB93E1-4CC5-571F-D71F-583C3339CA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03643" y="2666999"/>
            <a:ext cx="7046844" cy="34157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How can countries improve food production, distribution and consumption to reduce food waste and ensure resources are used sustainably?</a:t>
            </a:r>
          </a:p>
        </p:txBody>
      </p:sp>
    </p:spTree>
    <p:extLst>
      <p:ext uri="{BB962C8B-B14F-4D97-AF65-F5344CB8AC3E}">
        <p14:creationId xmlns:p14="http://schemas.microsoft.com/office/powerpoint/2010/main" val="178438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CDAC-F1CC-3C80-0551-71BEA2EB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u="sng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</a:rPr>
              <a:t>What is food management and responsible consumption and management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0A866FB-9998-06E7-6BED-D08BD6B44C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192" y="2666999"/>
            <a:ext cx="657368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  <a:latin typeface="Aptos Slab" panose="020F0502020204030204" pitchFamily="34" charset="0"/>
              </a:rPr>
              <a:t>Food management is the planning and control of food production, storage, distribution and consumption to reduce waste and ensure food is used effectively and sustainably.</a:t>
            </a:r>
          </a:p>
        </p:txBody>
      </p:sp>
      <p:pic>
        <p:nvPicPr>
          <p:cNvPr id="21" name="Graphic 20" descr="Fork and knife">
            <a:extLst>
              <a:ext uri="{FF2B5EF4-FFF2-40B4-BE49-F238E27FC236}">
                <a16:creationId xmlns:a16="http://schemas.microsoft.com/office/drawing/2014/main" id="{98732B15-D6A2-F08A-F576-C4C0DE178F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0839" y="1280585"/>
            <a:ext cx="3976788" cy="397678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88370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EC38-2B85-07AF-E1EA-14EAB6EFD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99" y="841248"/>
            <a:ext cx="3813048" cy="3557016"/>
          </a:xfrm>
        </p:spPr>
        <p:txBody>
          <a:bodyPr/>
          <a:lstStyle/>
          <a:p>
            <a:r>
              <a:rPr lang="en-GB" dirty="0"/>
              <a:t>The global food management problem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402F5AEB-112A-D0BB-3CD7-48E55A1411F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61721542"/>
              </p:ext>
            </p:extLst>
          </p:nvPr>
        </p:nvGraphicFramePr>
        <p:xfrm>
          <a:off x="5519738" y="841248"/>
          <a:ext cx="4956175" cy="355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F8A2BD-CC0A-ADF6-46E1-BFB3B1C2728E}"/>
              </a:ext>
            </a:extLst>
          </p:cNvPr>
          <p:cNvSpPr txBox="1"/>
          <p:nvPr/>
        </p:nvSpPr>
        <p:spPr>
          <a:xfrm>
            <a:off x="5519738" y="4531614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Key message: </a:t>
            </a:r>
            <a:r>
              <a:rPr lang="en-GB" b="1" dirty="0"/>
              <a:t>Better food management reduces waste and supports SDG12.</a:t>
            </a:r>
          </a:p>
        </p:txBody>
      </p:sp>
    </p:spTree>
    <p:extLst>
      <p:ext uri="{BB962C8B-B14F-4D97-AF65-F5344CB8AC3E}">
        <p14:creationId xmlns:p14="http://schemas.microsoft.com/office/powerpoint/2010/main" val="85034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F318-1D3F-A920-4697-4FEA9B0D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Countries facing food management challenges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83D329-6B99-E7FE-8150-E9E86C0BB323}"/>
              </a:ext>
            </a:extLst>
          </p:cNvPr>
          <p:cNvSpPr txBox="1"/>
          <p:nvPr/>
        </p:nvSpPr>
        <p:spPr>
          <a:xfrm>
            <a:off x="4669535" y="5699379"/>
            <a:ext cx="6912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solidFill>
                  <a:srgbClr val="92D050"/>
                </a:solidFill>
              </a:rPr>
              <a:t>Key message:</a:t>
            </a:r>
            <a:r>
              <a:rPr lang="en-GB" b="1" dirty="0"/>
              <a:t> better storage, transport and investment can reduce food loss and improve access to food.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CEFEE26C-DD1C-3997-4720-DE033C805D5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23887674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965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7242-6A78-4F85-2032-C68C644E6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46" y="1280160"/>
            <a:ext cx="5162314" cy="3557016"/>
          </a:xfrm>
        </p:spPr>
        <p:txBody>
          <a:bodyPr>
            <a:normAutofit/>
          </a:bodyPr>
          <a:lstStyle/>
          <a:p>
            <a:r>
              <a:rPr lang="en-GB" dirty="0">
                <a:latin typeface="Arial Black" panose="020B0A040201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Food distribution AND SUPPLY CHAINS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1541A5E-95FD-8748-0A83-78E8C90825D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9165680"/>
              </p:ext>
            </p:extLst>
          </p:nvPr>
        </p:nvGraphicFramePr>
        <p:xfrm>
          <a:off x="5519738" y="841248"/>
          <a:ext cx="4956175" cy="355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C73A18F-EF9F-17A7-C78F-738FCF3EF55C}"/>
              </a:ext>
            </a:extLst>
          </p:cNvPr>
          <p:cNvSpPr txBox="1"/>
          <p:nvPr/>
        </p:nvSpPr>
        <p:spPr>
          <a:xfrm>
            <a:off x="6490335" y="5311648"/>
            <a:ext cx="4398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Key message: </a:t>
            </a:r>
            <a:r>
              <a:rPr lang="en-GB" dirty="0"/>
              <a:t>better transport, storage and distribution help food reach people more secure and affordably.</a:t>
            </a:r>
          </a:p>
        </p:txBody>
      </p:sp>
    </p:spTree>
    <p:extLst>
      <p:ext uri="{BB962C8B-B14F-4D97-AF65-F5344CB8AC3E}">
        <p14:creationId xmlns:p14="http://schemas.microsoft.com/office/powerpoint/2010/main" val="216345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7756-C7F4-376A-FE84-F3D3B1115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0" y="1296689"/>
            <a:ext cx="5888736" cy="3557016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Food consumption and waste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1862845-97FA-47FB-C5DB-47E7AF0617B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90018015"/>
              </p:ext>
            </p:extLst>
          </p:nvPr>
        </p:nvGraphicFramePr>
        <p:xfrm>
          <a:off x="5891446" y="980639"/>
          <a:ext cx="4956175" cy="355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CE1A19-CE45-46C1-D114-14D0B04D6D78}"/>
              </a:ext>
            </a:extLst>
          </p:cNvPr>
          <p:cNvSpPr txBox="1"/>
          <p:nvPr/>
        </p:nvSpPr>
        <p:spPr>
          <a:xfrm>
            <a:off x="5596128" y="4690872"/>
            <a:ext cx="5175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Key statistics: </a:t>
            </a:r>
            <a:r>
              <a:rPr lang="en-GB" dirty="0"/>
              <a:t>around 1.05 billion tonnes of food were wasted in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3125C-3B50-E81C-97EA-C2BF4F2D4F61}"/>
              </a:ext>
            </a:extLst>
          </p:cNvPr>
          <p:cNvSpPr txBox="1"/>
          <p:nvPr/>
        </p:nvSpPr>
        <p:spPr>
          <a:xfrm>
            <a:off x="5611368" y="5440680"/>
            <a:ext cx="5248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Key message: </a:t>
            </a:r>
            <a:r>
              <a:rPr lang="en-GB" dirty="0"/>
              <a:t>planning meals, managing portions and donating surplus food can reduce </a:t>
            </a:r>
          </a:p>
        </p:txBody>
      </p:sp>
    </p:spTree>
    <p:extLst>
      <p:ext uri="{BB962C8B-B14F-4D97-AF65-F5344CB8AC3E}">
        <p14:creationId xmlns:p14="http://schemas.microsoft.com/office/powerpoint/2010/main" val="237448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0C49-673C-B7EB-F83B-07F8731C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13" y="840282"/>
            <a:ext cx="3813048" cy="3557016"/>
          </a:xfrm>
        </p:spPr>
        <p:txBody>
          <a:bodyPr/>
          <a:lstStyle/>
          <a:p>
            <a:r>
              <a:rPr lang="en-GB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Expected outcomes and conclusion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5F99-1C4C-B878-59DE-002837A520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>
                <a:solidFill>
                  <a:srgbClr val="92D05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less food waste:</a:t>
            </a:r>
            <a:r>
              <a:rPr lang="en-GB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more food is saved instead of thrown away.</a:t>
            </a:r>
          </a:p>
          <a:p>
            <a:pPr>
              <a:buClr>
                <a:srgbClr val="FFFFFF"/>
              </a:buClr>
            </a:pPr>
            <a:r>
              <a:rPr lang="en-GB">
                <a:solidFill>
                  <a:srgbClr val="92D05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improved food access:</a:t>
            </a:r>
            <a:r>
              <a:rPr lang="en-GB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efficient distribution helps food reach more people </a:t>
            </a:r>
          </a:p>
          <a:p>
            <a:pPr>
              <a:buClr>
                <a:srgbClr val="FFFFFF"/>
              </a:buClr>
            </a:pPr>
            <a:r>
              <a:rPr lang="en-GB">
                <a:solidFill>
                  <a:srgbClr val="92D05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lower costs:</a:t>
            </a:r>
            <a:r>
              <a:rPr lang="en-GB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reducing losses can save money for businesses and consumers </a:t>
            </a:r>
          </a:p>
          <a:p>
            <a:pPr>
              <a:buClr>
                <a:srgbClr val="FFFFFF"/>
              </a:buClr>
            </a:pPr>
            <a:r>
              <a:rPr lang="en-GB">
                <a:solidFill>
                  <a:srgbClr val="92D05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environment benefits:</a:t>
            </a:r>
            <a:r>
              <a:rPr lang="en-GB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less wasted food means fewer wasted resources </a:t>
            </a:r>
          </a:p>
          <a:p>
            <a:pPr>
              <a:buClr>
                <a:srgbClr val="FFFFFF"/>
              </a:buClr>
            </a:pPr>
            <a:r>
              <a:rPr lang="en-GB">
                <a:solidFill>
                  <a:srgbClr val="92D050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sustainable future:</a:t>
            </a:r>
            <a:r>
              <a:rPr lang="en-GB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responsible consumption supports SDG 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2C3DC-1AC4-9625-3329-ACCC001E8617}"/>
              </a:ext>
            </a:extLst>
          </p:cNvPr>
          <p:cNvSpPr txBox="1"/>
          <p:nvPr/>
        </p:nvSpPr>
        <p:spPr>
          <a:xfrm>
            <a:off x="5496560" y="4754880"/>
            <a:ext cx="53848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Conclusion:</a:t>
            </a:r>
            <a:r>
              <a:rPr lang="en-GB" dirty="0"/>
              <a:t> better food </a:t>
            </a:r>
            <a:r>
              <a:rPr lang="en-GB"/>
              <a:t>manageme</a:t>
            </a:r>
            <a:r>
              <a:rPr lang="en-GB" dirty="0"/>
              <a:t>nt requires cooperation between governments, businesses and consumers to reduce waste and use resources </a:t>
            </a:r>
            <a:r>
              <a:rPr lang="en-GB"/>
              <a:t>responsibly.</a:t>
            </a:r>
          </a:p>
        </p:txBody>
      </p:sp>
    </p:spTree>
    <p:extLst>
      <p:ext uri="{BB962C8B-B14F-4D97-AF65-F5344CB8AC3E}">
        <p14:creationId xmlns:p14="http://schemas.microsoft.com/office/powerpoint/2010/main" val="320278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DF71-D549-57EA-9EDF-DD8C58A3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51" y="734626"/>
            <a:ext cx="4179614" cy="2353631"/>
          </a:xfrm>
        </p:spPr>
        <p:txBody>
          <a:bodyPr/>
          <a:lstStyle/>
          <a:p>
            <a:r>
              <a:rPr lang="en-GB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References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803D1-E72E-A31A-181A-9C9EB5F2ED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7"/>
            <a:ext cx="5568081" cy="5151235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Food and Agriculture Organization of the United Nations (FAO) (n.d.) </a:t>
            </a:r>
            <a:r>
              <a:rPr lang="en-GB" i="1" dirty="0"/>
              <a:t>12.3.1 Global food losses</a:t>
            </a:r>
            <a:r>
              <a:rPr lang="en-GB" dirty="0"/>
              <a:t>. Available at: </a:t>
            </a:r>
            <a:r>
              <a:rPr lang="en-GB" dirty="0">
                <a:hlinkClick r:id="rId2"/>
              </a:rPr>
              <a:t>https://www.fao.org/sustainable-development-goals-data-portal/data/indicators/1231-global-food-losses</a:t>
            </a:r>
            <a:r>
              <a:rPr lang="en-GB" dirty="0"/>
              <a:t> (Accessed: 14 October 2026).</a:t>
            </a:r>
          </a:p>
          <a:p>
            <a:r>
              <a:rPr lang="en-GB" dirty="0"/>
              <a:t>Food Security Information Network (FSIN) and Global Network Against Food Crises (GNAFC) (2025) </a:t>
            </a:r>
            <a:r>
              <a:rPr lang="en-GB" i="1" dirty="0"/>
              <a:t>Global Report on Food Crises 2025</a:t>
            </a:r>
            <a:r>
              <a:rPr lang="en-GB" dirty="0"/>
              <a:t>. Available at: </a:t>
            </a:r>
            <a:r>
              <a:rPr lang="en-GB" dirty="0">
                <a:hlinkClick r:id="rId3"/>
              </a:rPr>
              <a:t>https://www.fsinplatform.org/report/global-report-food-crises-2025/</a:t>
            </a:r>
            <a:r>
              <a:rPr lang="en-GB" dirty="0"/>
              <a:t> (Accessed: 14 October 2026).</a:t>
            </a:r>
          </a:p>
          <a:p>
            <a:r>
              <a:rPr lang="en-GB" dirty="0"/>
              <a:t>United Nations (2025) </a:t>
            </a:r>
            <a:r>
              <a:rPr lang="en-GB" i="1" dirty="0"/>
              <a:t>The Sustainable Development Goals Report 2025: Goal 2 – Zero Hunger</a:t>
            </a:r>
            <a:r>
              <a:rPr lang="en-GB" dirty="0"/>
              <a:t>. Available at: </a:t>
            </a:r>
            <a:r>
              <a:rPr lang="en-GB" dirty="0">
                <a:hlinkClick r:id="rId4"/>
              </a:rPr>
              <a:t>https://unstats.un.org/sdgs/report/2025/goal-02/</a:t>
            </a:r>
            <a:r>
              <a:rPr lang="en-GB" dirty="0"/>
              <a:t> (Accessed: 14 October 2026).</a:t>
            </a:r>
          </a:p>
          <a:p>
            <a:r>
              <a:rPr lang="en-GB" dirty="0"/>
              <a:t>United Nations (n.d.) </a:t>
            </a:r>
            <a:r>
              <a:rPr lang="en-GB" i="1" dirty="0"/>
              <a:t>Goal 12: Ensure sustainable consumption and production patterns</a:t>
            </a:r>
            <a:r>
              <a:rPr lang="en-GB" dirty="0"/>
              <a:t>. Available at: </a:t>
            </a:r>
            <a:r>
              <a:rPr lang="en-GB" dirty="0">
                <a:hlinkClick r:id="rId5"/>
              </a:rPr>
              <a:t>https://sdgs.un.org/goals/goal12</a:t>
            </a:r>
            <a:r>
              <a:rPr lang="en-GB" dirty="0"/>
              <a:t> (Accessed: 14 October 2026).</a:t>
            </a:r>
          </a:p>
          <a:p>
            <a:r>
              <a:rPr lang="en-GB" dirty="0"/>
              <a:t>United Nations Environment Programme (UNEP) (2024) </a:t>
            </a:r>
            <a:r>
              <a:rPr lang="en-GB" i="1" dirty="0"/>
              <a:t>Food Waste Index Report 2024</a:t>
            </a:r>
            <a:r>
              <a:rPr lang="en-GB" dirty="0"/>
              <a:t>. Available at: </a:t>
            </a:r>
            <a:r>
              <a:rPr lang="en-GB" dirty="0">
                <a:hlinkClick r:id="rId6"/>
              </a:rPr>
              <a:t>https://www.unep.org/resources/publication/food-waste-index-report-2024</a:t>
            </a:r>
            <a:r>
              <a:rPr lang="en-GB" dirty="0"/>
              <a:t> (Accessed: 14 October 2026).</a:t>
            </a:r>
          </a:p>
          <a:p>
            <a:endParaRPr lang="en-GB" i="1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0226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430A7B2-4B53-E1F6-129F-2EF3338C72D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246223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</TotalTime>
  <Words>674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ADLaM Display</vt:lpstr>
      <vt:lpstr>Aptos Slab</vt:lpstr>
      <vt:lpstr>Arial</vt:lpstr>
      <vt:lpstr>Arial Black</vt:lpstr>
      <vt:lpstr>Century Gothic</vt:lpstr>
      <vt:lpstr>Mesh</vt:lpstr>
      <vt:lpstr>Sdg 12- Responsible consumption and production</vt:lpstr>
      <vt:lpstr>Food management and consumption: Challenges, Solutions and sustainable food systems.</vt:lpstr>
      <vt:lpstr>What is food management and responsible consumption and management</vt:lpstr>
      <vt:lpstr>The global food management problem</vt:lpstr>
      <vt:lpstr>Countries facing food management challenges</vt:lpstr>
      <vt:lpstr>Food distribution AND SUPPLY CHAINS</vt:lpstr>
      <vt:lpstr>Food consumption and waste</vt:lpstr>
      <vt:lpstr>Expected outcomes and conclusion</vt:lpstr>
      <vt:lpstr>References </vt:lpstr>
      <vt:lpstr>PowerPoint Presentation</vt:lpstr>
    </vt:vector>
  </TitlesOfParts>
  <Company>Nottingham Trent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Rishiraj Singh 2026 (N1467932)</dc:creator>
  <cp:lastModifiedBy>Liam Banda</cp:lastModifiedBy>
  <cp:revision>809</cp:revision>
  <dcterms:created xsi:type="dcterms:W3CDTF">2026-10-12T15:40:30Z</dcterms:created>
  <dcterms:modified xsi:type="dcterms:W3CDTF">2026-10-19T22:39:00Z</dcterms:modified>
</cp:coreProperties>
</file>